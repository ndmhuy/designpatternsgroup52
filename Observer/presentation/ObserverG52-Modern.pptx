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50608" y="795528"/>
            <a:ext cx="4901184" cy="4901184"/>
          </a:xfrm>
          <a:prstGeom prst="ellipse">
            <a:avLst/>
          </a:prstGeom>
          <a:ln w="15875">
            <a:solidFill>
              <a:srgbClr val="1C3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54112" y="1399032"/>
            <a:ext cx="3694176" cy="3694176"/>
          </a:xfrm>
          <a:prstGeom prst="ellipse">
            <a:avLst/>
          </a:prstGeom>
          <a:ln w="15875">
            <a:solidFill>
              <a:srgbClr val="2350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02752" y="1947672"/>
            <a:ext cx="2596896" cy="2596896"/>
          </a:xfrm>
          <a:prstGeom prst="ellipse">
            <a:avLst/>
          </a:prstGeom>
          <a:ln w="15875">
            <a:solidFill>
              <a:srgbClr val="2A6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2743200"/>
            <a:ext cx="1005840" cy="1005840"/>
          </a:xfrm>
          <a:prstGeom prst="ellipse">
            <a:avLst/>
          </a:prstGeom>
          <a:solidFill>
            <a:srgbClr val="133A36"/>
          </a:solidFill>
          <a:ln/>
        </p:spPr>
      </p:sp>
      <p:sp>
        <p:nvSpPr>
          <p:cNvPr id="6" name="Shape 4"/>
          <p:cNvSpPr/>
          <p:nvPr/>
        </p:nvSpPr>
        <p:spPr>
          <a:xfrm>
            <a:off x="9427464" y="3072384"/>
            <a:ext cx="347472" cy="347472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481328"/>
            <a:ext cx="2187245" cy="274320"/>
          </a:xfrm>
          <a:prstGeom prst="roundRect">
            <a:avLst>
              <a:gd name="adj" fmla="val 50000"/>
            </a:avLst>
          </a:prstGeom>
          <a:solidFill>
            <a:srgbClr val="2A334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81328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CS202 · DESIGN PATTERNS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21792" y="276148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4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1792" y="37673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many objects — without letting the source know who they are.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1792" y="4407408"/>
            <a:ext cx="4023360" cy="0"/>
          </a:xfrm>
          <a:prstGeom prst="line">
            <a:avLst/>
          </a:prstGeom>
          <a:noFill/>
          <a:ln w="19050">
            <a:solidFill>
              <a:srgbClr val="2C36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902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Minh Huy — 25125083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Gia Huy — 25125084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" y="55046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60" kern="0" dirty="0">
                <a:solidFill>
                  <a:srgbClr val="3ED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APCS 2025 · Group 52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803197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8031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2602" y="173736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9" name="Text 7"/>
          <p:cNvSpPr/>
          <p:nvPr/>
        </p:nvSpPr>
        <p:spPr>
          <a:xfrm>
            <a:off x="4655210" y="1975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5210" y="234086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solution &amp; drawbacks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03413" y="173736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8396021" y="1975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6021" y="234086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pattern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" y="324612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83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84962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62602" y="324612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18" name="Text 16"/>
          <p:cNvSpPr/>
          <p:nvPr/>
        </p:nvSpPr>
        <p:spPr>
          <a:xfrm>
            <a:off x="4655210" y="3483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55210" y="384962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&amp; demo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103413" y="324612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21" name="Text 19"/>
          <p:cNvSpPr/>
          <p:nvPr/>
        </p:nvSpPr>
        <p:spPr>
          <a:xfrm>
            <a:off x="8396021" y="3483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96021" y="384962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with Mediator &amp; Interpreter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" y="475488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9926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35838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362602" y="475488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4655210" y="49926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55210" y="535838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103413" y="4754880"/>
            <a:ext cx="3466490" cy="123444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/>
        </p:spPr>
      </p:sp>
      <p:sp>
        <p:nvSpPr>
          <p:cNvPr id="30" name="Text 28"/>
          <p:cNvSpPr/>
          <p:nvPr/>
        </p:nvSpPr>
        <p:spPr>
          <a:xfrm>
            <a:off x="8396021" y="49926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96021" y="5358384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26553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265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bank management system: it stores users’ accounts and lets them deposit money into those accounts.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2880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when deposit is called, aside from adding money we are required to run other procedures — logging, notifying, emailing, fraud checks. These belong to other services that we do not fully control.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69480" y="1783080"/>
            <a:ext cx="4297680" cy="822960"/>
          </a:xfrm>
          <a:prstGeom prst="roundRect">
            <a:avLst>
              <a:gd name="adj" fmla="val 11111"/>
            </a:avLst>
          </a:prstGeom>
          <a:solidFill>
            <a:srgbClr val="10141C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1783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BankAccount::deposit()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2606040"/>
            <a:ext cx="0" cy="2596896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3008376"/>
            <a:ext cx="24688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82128" y="2788920"/>
            <a:ext cx="3685032" cy="438912"/>
          </a:xfrm>
          <a:prstGeom prst="roundRect">
            <a:avLst>
              <a:gd name="adj" fmla="val 18750"/>
            </a:avLst>
          </a:prstGeom>
          <a:solidFill>
            <a:srgbClr val="FCEAE6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7889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service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3557016"/>
            <a:ext cx="24688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3337560"/>
            <a:ext cx="3685032" cy="438912"/>
          </a:xfrm>
          <a:prstGeom prst="roundRect">
            <a:avLst>
              <a:gd name="adj" fmla="val 18750"/>
            </a:avLst>
          </a:prstGeom>
          <a:solidFill>
            <a:srgbClr val="FCEAE6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33375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4105656"/>
            <a:ext cx="24688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82128" y="3886200"/>
            <a:ext cx="3685032" cy="438912"/>
          </a:xfrm>
          <a:prstGeom prst="roundRect">
            <a:avLst>
              <a:gd name="adj" fmla="val 18750"/>
            </a:avLst>
          </a:prstGeom>
          <a:solidFill>
            <a:srgbClr val="FCEAE6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3886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4654296"/>
            <a:ext cx="24688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82128" y="4434840"/>
            <a:ext cx="3685032" cy="438912"/>
          </a:xfrm>
          <a:prstGeom prst="roundRect">
            <a:avLst>
              <a:gd name="adj" fmla="val 18750"/>
            </a:avLst>
          </a:prstGeom>
          <a:solidFill>
            <a:srgbClr val="FCEAE6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434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35240" y="5202936"/>
            <a:ext cx="246888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82128" y="4983480"/>
            <a:ext cx="3685032" cy="438912"/>
          </a:xfrm>
          <a:prstGeom prst="roundRect">
            <a:avLst>
              <a:gd name="adj" fmla="val 18750"/>
            </a:avLst>
          </a:prstGeom>
          <a:solidFill>
            <a:srgbClr val="FCEAE6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4983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69480" y="5623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extra services — five hard-wired calls.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THE OBVIOUS 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BankAccount::deposit is called, it invokes every required service directly — each one is stored as a pointer inside the account.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" y="2743200"/>
            <a:ext cx="5806440" cy="2148840"/>
          </a:xfrm>
          <a:prstGeom prst="roundRect">
            <a:avLst>
              <a:gd name="adj" fmla="val 4255"/>
            </a:avLst>
          </a:prstGeom>
          <a:solidFill>
            <a:srgbClr val="10141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962656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ui.update(balance);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email.sendEmail(amount);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logger.log(amount, balance);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fraudDetector.scan(amount);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mobileApp.pushNotification(amount);</a:t>
            </a:r>
            <a:endParaRPr lang="en-US" sz="1150" dirty="0"/>
          </a:p>
          <a:p>
            <a:pPr algn="l" indent="0" marL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9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analytics.trackActivity("Deposit", amount);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512064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must know all six concrete types and the exact name of every method it calls.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19770" y="1691640"/>
            <a:ext cx="3848460" cy="3977640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10" name="Image 0" descr="/private/tmp/claude-501/-Users-huynguyen-Documents-CS202-Cpp-DesignPatternsGroup52/b5ac6f16-84e2-408f-840d-d3e0202779f3/scratchpad/unpacked/ppt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786" y="1819656"/>
            <a:ext cx="3592428" cy="3721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5760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BankAccount UML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95681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WHAT BREAKS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solution — drawbacks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10948111" cy="1243584"/>
          </a:xfrm>
          <a:prstGeom prst="roundRect">
            <a:avLst>
              <a:gd name="adj" fmla="val 6618"/>
            </a:avLst>
          </a:prstGeom>
          <a:solidFill>
            <a:srgbClr val="FCEAE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12848"/>
            <a:ext cx="475488" cy="475488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2048256"/>
            <a:ext cx="93936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55648" y="2450592"/>
            <a:ext cx="93936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must know the exact concrete types of the services and their specific update methods.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3310128"/>
            <a:ext cx="10948111" cy="1243584"/>
          </a:xfrm>
          <a:prstGeom prst="roundRect">
            <a:avLst>
              <a:gd name="adj" fmla="val 6618"/>
            </a:avLst>
          </a:prstGeom>
          <a:solidFill>
            <a:srgbClr val="FCEAE6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694176"/>
            <a:ext cx="475488" cy="475488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55648" y="3529584"/>
            <a:ext cx="93936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the Open–Closed Principle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755648" y="3931920"/>
            <a:ext cx="93936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or adding a service forces us to reopen and modify BankAccount itself.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" y="4791456"/>
            <a:ext cx="10948111" cy="1243584"/>
          </a:xfrm>
          <a:prstGeom prst="roundRect">
            <a:avLst>
              <a:gd name="adj" fmla="val 6618"/>
            </a:avLst>
          </a:prstGeom>
          <a:solidFill>
            <a:srgbClr val="FCEAE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5175504"/>
            <a:ext cx="475488" cy="475488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75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55648" y="5010912"/>
            <a:ext cx="93936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and hard to scale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55648" y="5413248"/>
            <a:ext cx="93936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a service — or to the account — ripples through the other side.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26553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265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observations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5291176" cy="2286000"/>
          </a:xfrm>
          <a:prstGeom prst="roundRect">
            <a:avLst>
              <a:gd name="adj" fmla="val 3600"/>
            </a:avLst>
          </a:prstGeom>
          <a:solidFill>
            <a:srgbClr val="F2F5F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2606040"/>
            <a:ext cx="455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services take similar — but not identical — parameters. With one general structure, BankAccount no longer needs to know what each service requires.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291176" cy="2286000"/>
          </a:xfrm>
          <a:prstGeom prst="roundRect">
            <a:avLst>
              <a:gd name="adj" fmla="val 3600"/>
            </a:avLst>
          </a:prstGeom>
          <a:solidFill>
            <a:srgbClr val="F2F5F8"/>
          </a:solidFill>
          <a:ln/>
        </p:spPr>
      </p:sp>
      <p:sp>
        <p:nvSpPr>
          <p:cNvPr id="9" name="Text 7"/>
          <p:cNvSpPr/>
          <p:nvPr/>
        </p:nvSpPr>
        <p:spPr>
          <a:xfrm>
            <a:off x="6644488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44488" y="2606040"/>
            <a:ext cx="4559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never uses the results of those calls. It does not care who runs; it only needs a list of things to call when depositing.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1792" y="4434840"/>
            <a:ext cx="10948111" cy="1417320"/>
          </a:xfrm>
          <a:prstGeom prst="roundRect">
            <a:avLst>
              <a:gd name="adj" fmla="val 6452"/>
            </a:avLst>
          </a:prstGeom>
          <a:solidFill>
            <a:srgbClr val="10141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46177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 Observer pattern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70432" y="52303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of subscribers. One shared interface. One call to notify them all.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26553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265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— the intuition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popular YouTube channel, or a digital newsletter.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should not have to keep asking “is there a new video?” or “is there a new edition?”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 maintains the list of subscribers. When new content appears, it pushes a notification to everyone on that list.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state changes moves from the consumers to the source — instant updates, no wasteful polling.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" y="4709160"/>
            <a:ext cx="5943600" cy="1051560"/>
          </a:xfrm>
          <a:prstGeom prst="roundRect">
            <a:avLst>
              <a:gd name="adj" fmla="val 7826"/>
            </a:avLst>
          </a:prstGeom>
          <a:solidFill>
            <a:srgbClr val="E2F5F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486460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Observer pattern: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= Publisher   ·   Observer = Subscriber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45552" y="18288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10141C"/>
          </a:solidFill>
          <a:ln/>
        </p:spPr>
      </p:sp>
      <p:sp>
        <p:nvSpPr>
          <p:cNvPr id="9" name="Text 7"/>
          <p:cNvSpPr/>
          <p:nvPr/>
        </p:nvSpPr>
        <p:spPr>
          <a:xfrm>
            <a:off x="7845552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00032" y="2560320"/>
            <a:ext cx="0" cy="384048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1272" y="2944368"/>
            <a:ext cx="3017520" cy="0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1272" y="2944368"/>
            <a:ext cx="0" cy="329184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8332" y="3273552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F2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7228332" y="327355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00032" y="2944368"/>
            <a:ext cx="0" cy="329184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7092" y="3273552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F2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8737092" y="327355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908792" y="2944368"/>
            <a:ext cx="0" cy="329184"/>
          </a:xfrm>
          <a:prstGeom prst="line">
            <a:avLst/>
          </a:prstGeom>
          <a:noFill/>
          <a:ln w="19050">
            <a:solidFill>
              <a:srgbClr val="D8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5852" y="3273552"/>
            <a:ext cx="1325880" cy="868680"/>
          </a:xfrm>
          <a:prstGeom prst="roundRect">
            <a:avLst>
              <a:gd name="adj" fmla="val 9474"/>
            </a:avLst>
          </a:prstGeom>
          <a:solidFill>
            <a:srgbClr val="F2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5852" y="327355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69480" y="4343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notify() → every subscriber updated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class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879483"/>
            <a:ext cx="6766560" cy="3739114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07499"/>
            <a:ext cx="6510528" cy="3483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7607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Gang-of-Four structure: ISubject and IObserver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1828800"/>
            <a:ext cx="397764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7882128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ISubject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82128" y="254203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list of observers. Implements attach() and detach(), and broadcasts notify() whenever its state changes.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3886200"/>
            <a:ext cx="397764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7882128" y="4142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IObserver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82128" y="459943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single update() method that the subject calls during a notification.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notification flows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2110435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83080"/>
            <a:ext cx="2110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SUBJECT · 1 OBSERVER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2194560"/>
            <a:ext cx="5394960" cy="1251645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8" name="Image 0" descr="/private/tmp/claude-501/-Users-huynguyen-Documents-CS202-Cpp-DesignPatternsGroup52/b5ac6f16-84e2-408f-840d-d3e0202779f3/scratchpad/unpacked/ppt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22576"/>
            <a:ext cx="5138928" cy="99561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1783080"/>
            <a:ext cx="241767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783080"/>
            <a:ext cx="2417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SUBJECT · MANY OBSERVERS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76412" y="2194560"/>
            <a:ext cx="50990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12" name="Image 1" descr="/private/tmp/claude-501/-Users-huynguyen-Documents-CS202-Cpp-DesignPatternsGroup52/b5ac6f16-84e2-408f-840d-d3e0202779f3/scratchpad/unpacked/ppt/media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28" y="2322576"/>
            <a:ext cx="4842976" cy="2212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" y="48463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E2F5F1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047488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MODEL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14400" y="5394960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only announces that something changed; each observer then retrieves the data it needs through a getter.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notification flows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2110435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83080"/>
            <a:ext cx="2110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SUBJECT · 1 OBSERVER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2194560"/>
            <a:ext cx="5394960" cy="1251645"/>
          </a:xfrm>
          <a:prstGeom prst="roundRect">
            <a:avLst>
              <a:gd name="adj" fmla="val 584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8" name="Image 0" descr="/private/tmp/claude-501/-Users-huynguyen-Documents-CS202-Cpp-DesignPatternsGroup52/b5ac6f16-84e2-408f-840d-d3e0202779f3/scratchpad/unpacked/ppt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22576"/>
            <a:ext cx="5138928" cy="99561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1783080"/>
            <a:ext cx="241767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783080"/>
            <a:ext cx="24176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SUBJECT · MANY OBSERVERS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76412" y="2194560"/>
            <a:ext cx="50990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12" name="Image 1" descr="/private/tmp/claude-501/-Users-huynguyen-Documents-CS202-Cpp-DesignPatternsGroup52/b5ac6f16-84e2-408f-840d-d3e0202779f3/scratchpad/unpacked/ppt/media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28" y="2322576"/>
            <a:ext cx="4842976" cy="2212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" y="48463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E2F5F1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047488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MODEL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14400" y="5394960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only announces that something changed; each observer then retrieves the data it needs through a getter.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09360" y="4846320"/>
            <a:ext cx="5233111" cy="1325880"/>
          </a:xfrm>
          <a:prstGeom prst="roundRect">
            <a:avLst>
              <a:gd name="adj" fmla="val 6207"/>
            </a:avLst>
          </a:prstGeom>
          <a:solidFill>
            <a:srgbClr val="FBF1DC"/>
          </a:solidFill>
          <a:ln/>
        </p:spPr>
      </p:sp>
      <p:sp>
        <p:nvSpPr>
          <p:cNvPr id="17" name="Text 13"/>
          <p:cNvSpPr/>
          <p:nvPr/>
        </p:nvSpPr>
        <p:spPr>
          <a:xfrm>
            <a:off x="6601968" y="5047488"/>
            <a:ext cx="4647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D99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MODEL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601968" y="5394960"/>
            <a:ext cx="4647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alternative: the subject sends the changed data directly along with the notification.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 — class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49533" y="1783080"/>
            <a:ext cx="6151158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9" y="1911096"/>
            <a:ext cx="5895126" cy="3721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806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is the subject; every service becomes an AccountObserver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observers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183880" y="228600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2860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UIObserver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278892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27889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EmailObserver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83880" y="329184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3291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LoggerObserver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379476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7947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FraudAIObserver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83880" y="429768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18" name="Text 15"/>
          <p:cNvSpPr/>
          <p:nvPr/>
        </p:nvSpPr>
        <p:spPr>
          <a:xfrm>
            <a:off x="8366760" y="4297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MobileAppObserver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83880" y="4800600"/>
            <a:ext cx="3383280" cy="402336"/>
          </a:xfrm>
          <a:prstGeom prst="roundRect">
            <a:avLst>
              <a:gd name="adj" fmla="val 20455"/>
            </a:avLst>
          </a:prstGeom>
          <a:solidFill>
            <a:srgbClr val="F2F5F8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8006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AnalyticsObserver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83880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implement one interface: onTransaction(type, amount, balance).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pattern buys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5897880" cy="91440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57400"/>
            <a:ext cx="365760" cy="365760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9032" y="19293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isolation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99032" y="2240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is completely ignorant of the concrete services — it only knows the observer interface.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862072"/>
            <a:ext cx="5897880" cy="91440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136392"/>
            <a:ext cx="365760" cy="365760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99032" y="3008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99032" y="33192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services can be added without modifying the BankAccount class.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941064"/>
            <a:ext cx="5897880" cy="91440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4215384"/>
            <a:ext cx="365760" cy="365760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9032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9032" y="43982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 logic stays clean; logging, fraud checks and UI live in dedicated components.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5020056"/>
            <a:ext cx="5897880" cy="914400"/>
          </a:xfrm>
          <a:prstGeom prst="roundRect">
            <a:avLst>
              <a:gd name="adj" fmla="val 9000"/>
            </a:avLst>
          </a:prstGeom>
          <a:solidFill>
            <a:srgbClr val="F2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5294376"/>
            <a:ext cx="365760" cy="365760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99032" y="5166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flexibility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99032" y="54772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can be attached or detached on the fly, based on user settings or system state.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1874520"/>
            <a:ext cx="2187245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874520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CALL, SIX REACTIONS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335328"/>
            <a:ext cx="4800600" cy="2370224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28" name="Image 0" descr="/private/tmp/claude-501/-Users-huynguyen-Documents-CS202-Cpp-DesignPatternsGroup52/b5ac6f16-84e2-408f-840d-d3e0202779f3/scratchpad/unpacked/ppt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2463344"/>
            <a:ext cx="4544568" cy="211419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766560" y="4846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transaction event travels through BankAccount::notify() and reaches every subscribed observer — the account never names one of them.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approach — implementation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09473" y="1783080"/>
            <a:ext cx="4899759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489" y="1911096"/>
            <a:ext cx="4643727" cy="3858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943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Observer/src/naive.cpp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178308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FCEAE6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DD4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HARD-WIRED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09560" y="2395728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owns a member for every service: UI, EmailSystem, Logger, FraudDetector, MobileApp, Analytics — and deposit() calls each of them by name.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4069080"/>
            <a:ext cx="393192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68172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cannot be detached at runtime, and a new one cannot be added without editing this file.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approach —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21705" y="1920240"/>
            <a:ext cx="6749614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721" y="2048256"/>
            <a:ext cx="6493582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440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bank_naive_demo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63840" y="1965960"/>
            <a:ext cx="402336" cy="402336"/>
          </a:xfrm>
          <a:prstGeom prst="ellipse">
            <a:avLst/>
          </a:prstGeom>
          <a:solidFill>
            <a:srgbClr val="2A3346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30768" y="194767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the account with $1000.00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2743200"/>
            <a:ext cx="402336" cy="402336"/>
          </a:xfrm>
          <a:prstGeom prst="ellipse">
            <a:avLst/>
          </a:prstGeom>
          <a:solidFill>
            <a:srgbClr val="2A3346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30768" y="272491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$250.00 — all six systems fire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0" y="3520440"/>
            <a:ext cx="402336" cy="402336"/>
          </a:xfrm>
          <a:prstGeom prst="ellipse">
            <a:avLst/>
          </a:prstGeom>
          <a:solidFill>
            <a:srgbClr val="2A3346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30768" y="350215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detach Email and Mobile App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863840" y="4389120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FCEAE6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4617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cannot detach components. The naïve account is tightly coupled to concrete notification systems.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pattern — interface header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95324" y="1783080"/>
            <a:ext cx="5036617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40" y="1911096"/>
            <a:ext cx="4780585" cy="3858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943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Observer/src/pattern.cpp — pattern.hpp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43800" y="1783080"/>
            <a:ext cx="4023360" cy="1874520"/>
          </a:xfrm>
          <a:prstGeom prst="roundRect">
            <a:avLst>
              <a:gd name="adj" fmla="val 4390"/>
            </a:avLst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020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AccountObserver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18120" y="244144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pure-virtual onTransaction(type, amount, currentBalance) — the only thing the account knows about.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886200"/>
            <a:ext cx="4023360" cy="1874520"/>
          </a:xfrm>
          <a:prstGeom prst="roundRect">
            <a:avLst>
              <a:gd name="adj" fmla="val 4390"/>
            </a:avLst>
          </a:prstGeom>
          <a:solidFill>
            <a:srgbClr val="F2F5F8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4123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4544568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attach(), detach(), notify(), plus deposit() and withdraw() over a vector of shared_ptr observers.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pattern — concrete observers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78553" y="1783080"/>
            <a:ext cx="5850135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6569" y="1911096"/>
            <a:ext cx="5594103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943600"/>
            <a:ext cx="10948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observer overrides onTransaction() and reacts on its own terms — the account is never edited again.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pattern — demo, part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1409" y="1783080"/>
            <a:ext cx="650164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425" y="1911096"/>
            <a:ext cx="6245614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897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bank_observer_pattern_demo (part 1)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09560" y="187452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76488" y="185623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BankAccount with $1000.00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2624328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76488" y="26060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all six observers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3374136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3374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33558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$250.00 — every observer reacts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909560" y="4123944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76488" y="410565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Email and Mobile App at runtime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09560" y="502920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E2F5F1"/>
          </a:solidFill>
          <a:ln/>
        </p:spPr>
      </p:sp>
      <p:sp>
        <p:nvSpPr>
          <p:cNvPr id="21" name="Text 18"/>
          <p:cNvSpPr/>
          <p:nvPr/>
        </p:nvSpPr>
        <p:spPr>
          <a:xfrm>
            <a:off x="8156448" y="51755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deposit() body — the subscriber list changed, not the account.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033626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pattern — demo, part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19626" y="1783080"/>
            <a:ext cx="5845211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642" y="1911096"/>
            <a:ext cx="5589179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897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bank_observer_pattern_demo (part 2)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09560" y="187452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76488" y="183794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$12 000 — remaining observers only, Fraud AI warns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269748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76488" y="266090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re-enables Mobile App in settings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09560" y="352044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348386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$500 — UI, Logger and Fraud AI react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909560" y="434340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76488" y="4306824"/>
            <a:ext cx="3090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$15 000 — rejected, failure broadcast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909560" y="5257800"/>
            <a:ext cx="3657600" cy="640080"/>
          </a:xfrm>
          <a:prstGeom prst="roundRect">
            <a:avLst>
              <a:gd name="adj" fmla="val 12857"/>
            </a:avLst>
          </a:prstGeom>
          <a:solidFill>
            <a:srgbClr val="E2F5F1"/>
          </a:solidFill>
          <a:ln/>
        </p:spPr>
      </p:sp>
      <p:sp>
        <p:nvSpPr>
          <p:cNvPr id="21" name="Text 18"/>
          <p:cNvSpPr/>
          <p:nvPr/>
        </p:nvSpPr>
        <p:spPr>
          <a:xfrm>
            <a:off x="8156448" y="5257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come and go; BankAccount never notices.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huynguyen-Documents-CS202-Cpp-DesignPatternsGroup52/b5ac6f16-84e2-408f-840d-d3e0202779f3/scratchpad/unpacked/ppt/media/image1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0"/>
            <a:ext cx="5105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4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PATTERN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21792" y="9144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Mediator pattern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21792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 pattern that reduces chaotic dependencies between objects.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1792" y="2834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restricts direct communication between objects — the colleagues — and forces them to collaborate exclusively through one centralised mediator object.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1792" y="429768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/>
        </p:spPr>
      </p:sp>
      <p:sp>
        <p:nvSpPr>
          <p:cNvPr id="9" name="Text 6"/>
          <p:cNvSpPr/>
          <p:nvPr/>
        </p:nvSpPr>
        <p:spPr>
          <a:xfrm>
            <a:off x="941832" y="45262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Airplanes communicate solely with the control tower — the mediator — which safely orchestrates all the traffic.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0" y="6382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881482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88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+ Mediator, fused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5314036" cy="777240"/>
          </a:xfrm>
          <a:prstGeom prst="roundRect">
            <a:avLst>
              <a:gd name="adj" fmla="val 10588"/>
            </a:avLst>
          </a:prstGeom>
          <a:solidFill>
            <a:srgbClr val="E2F5F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737360"/>
            <a:ext cx="5314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Colleagues act as Subjects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55868" y="1737360"/>
            <a:ext cx="5314036" cy="777240"/>
          </a:xfrm>
          <a:prstGeom prst="roundRect">
            <a:avLst>
              <a:gd name="adj" fmla="val 10588"/>
            </a:avLst>
          </a:prstGeom>
          <a:solidFill>
            <a:srgbClr val="FBF1DC"/>
          </a:solidFill>
          <a:ln/>
        </p:spPr>
      </p:sp>
      <p:sp>
        <p:nvSpPr>
          <p:cNvPr id="8" name="Text 6"/>
          <p:cNvSpPr/>
          <p:nvPr/>
        </p:nvSpPr>
        <p:spPr>
          <a:xfrm>
            <a:off x="6255868" y="1737360"/>
            <a:ext cx="5314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D99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Mediator acts as the Observer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1094811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colleague’s state changes it raises an event. The mediator — subscribed to those events — catches the notification, evaluates the global context, and updates the other relevant colleagues.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46850" y="3611880"/>
            <a:ext cx="669799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11" name="Image 0" descr="/private/tmp/claude-501/-Users-huynguyen-Documents-CS202-Cpp-DesignPatternsGroup52/b5ac6f16-84e2-408f-840d-d3e0202779f3/scratchpad/unpacked/ppt/media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866" y="3739896"/>
            <a:ext cx="6441963" cy="1892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5852160"/>
            <a:ext cx="10948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A changes → Subject::notify() → Mediator evaluates → Colleague B updated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881482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88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Observer–Mediator class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43726" y="1737360"/>
            <a:ext cx="8104243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6" name="Image 0" descr="/private/tmp/claude-501/-Users-huynguyen-Documents-CS202-Cpp-DesignPatternsGroup52/b5ac6f16-84e2-408f-840d-d3e0202779f3/scratchpad/unpacked/ppt/media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42" y="1865376"/>
            <a:ext cx="7848211" cy="3858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943600"/>
            <a:ext cx="10948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ConcreteMediator implements IObserver and is notified by every colleague it coordinates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26553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265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WILD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EventBus in game development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character takes damage and dies — it is the event publisher.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does not call AchievementManager or StatisticsTracker. It simply publishes a PlayerDied event to the central EventBus.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that subscribed to that event type is notified immediately and runs its own logic.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" y="4572000"/>
            <a:ext cx="6400800" cy="1234440"/>
          </a:xfrm>
          <a:prstGeom prst="roundRect">
            <a:avLst>
              <a:gd name="adj" fmla="val 6667"/>
            </a:avLst>
          </a:prstGeom>
          <a:solidFill>
            <a:srgbClr val="E2F5F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47548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system — quests, analytics, telemetry — by subscribing to PlayerDied. The player code never changes.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64753" y="1783080"/>
            <a:ext cx="3998575" cy="402336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9" name="Image 0" descr="/private/tmp/claude-501/-Users-huynguyen-Documents-CS202-Cpp-DesignPatternsGroup52/b5ac6f16-84e2-408f-840d-d3e0202779f3/scratchpad/unpacked/ppt/media/imag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2769" y="1911096"/>
            <a:ext cx="3742543" cy="3767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Interpreter pattern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language, we need a hierarchical representation for its expressions.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expression node knows how to solve itself and delegates to its children, so a sentence in the language becomes a tree of objects.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3794760"/>
            <a:ext cx="6035040" cy="1280160"/>
          </a:xfrm>
          <a:prstGeom prst="roundRect">
            <a:avLst>
              <a:gd name="adj" fmla="val 7143"/>
            </a:avLst>
          </a:prstGeom>
          <a:solidFill>
            <a:srgbClr val="10141C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40050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1832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 + 1) × 10 + 41 − x   as an operation tree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2098812"/>
            <a:ext cx="4617720" cy="3117577"/>
          </a:xfrm>
          <a:prstGeom prst="roundRect">
            <a:avLst>
              <a:gd name="adj" fmla="val 2346"/>
            </a:avLst>
          </a:prstGeom>
          <a:solidFill>
            <a:srgbClr val="10141C"/>
          </a:solidFill>
          <a:ln w="12700">
            <a:solidFill>
              <a:srgbClr val="2A3346"/>
            </a:solidFill>
            <a:prstDash val="solid"/>
          </a:ln>
          <a:effectLst>
            <a:outerShdw sx="100000" sy="100000" kx="0" ky="0" algn="bl" rotWithShape="0" blurRad="177800" dist="38100" dir="5400000">
              <a:srgbClr val="8A98AA">
                <a:alpha val="22000"/>
              </a:srgbClr>
            </a:outerShdw>
          </a:effectLst>
        </p:spPr>
      </p:sp>
      <p:pic>
        <p:nvPicPr>
          <p:cNvPr id="11" name="Image 0" descr="/private/tmp/claude-501/-Users-huynguyen-Documents-CS202-Cpp-DesignPatternsGroup52/b5ac6f16-84e2-408f-840d-d3e0202779f3/scratchpad/unpacked/ppt/media/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56" y="2226828"/>
            <a:ext cx="4361688" cy="28615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49440" y="5623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sourcemaking.com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110435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110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WITH INTERPRETER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leaf can change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109481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terminal expression is a variable — something another process or service can change — instead of a constant, the results computed above it are no longer valid.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292608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changes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50208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other service writes a new value into the terminal node.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67912" y="292608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0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16552" y="292608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54787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is notified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950208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node subscribed to that variable receives update().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62672" y="292608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0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11312" y="292608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547872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re-evaluates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3950208"/>
            <a:ext cx="2660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affected branch recomputes — the rest of the tree is untouched.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" y="5074920"/>
            <a:ext cx="10948111" cy="868680"/>
          </a:xfrm>
          <a:prstGeom prst="roundRect">
            <a:avLst>
              <a:gd name="adj" fmla="val 10526"/>
            </a:avLst>
          </a:prstGeom>
          <a:solidFill>
            <a:srgbClr val="10141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" y="5074920"/>
            <a:ext cx="101251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 Observer watches the variable; the Interpreter tree keeps its results in sync.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110435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1104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WITH INTERPRETER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spreadsheet, concretely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spreadsheet, cell A3 holds the formula “= A1 + A2”. Its result depends on A1 and A2, which can be rewritten by another formula or by the user at any moment.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3429000"/>
            <a:ext cx="5852160" cy="1143000"/>
          </a:xfrm>
          <a:prstGeom prst="roundRect">
            <a:avLst>
              <a:gd name="adj" fmla="val 7200"/>
            </a:avLst>
          </a:prstGeom>
          <a:solidFill>
            <a:srgbClr val="E2F5F1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3611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3977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formula in A3 into an expression tree.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4754880"/>
            <a:ext cx="5852160" cy="1143000"/>
          </a:xfrm>
          <a:prstGeom prst="roundRect">
            <a:avLst>
              <a:gd name="adj" fmla="val 7200"/>
            </a:avLst>
          </a:prstGeom>
          <a:solidFill>
            <a:srgbClr val="FBF1DC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4937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D99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" y="53035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D99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A1 and A2 and re-evaluates on change.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828800"/>
            <a:ext cx="640080" cy="420624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828800"/>
            <a:ext cx="3566160" cy="420624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2249424"/>
            <a:ext cx="640080" cy="713232"/>
          </a:xfrm>
          <a:prstGeom prst="rect">
            <a:avLst/>
          </a:prstGeom>
          <a:solidFill>
            <a:srgbClr val="E7EC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24942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2249424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24942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1200.00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2962656"/>
            <a:ext cx="640080" cy="713232"/>
          </a:xfrm>
          <a:prstGeom prst="rect">
            <a:avLst/>
          </a:prstGeom>
          <a:solidFill>
            <a:srgbClr val="E7EC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96265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0" y="2962656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96265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41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450.00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3675888"/>
            <a:ext cx="640080" cy="713232"/>
          </a:xfrm>
          <a:prstGeom prst="rect">
            <a:avLst/>
          </a:prstGeom>
          <a:solidFill>
            <a:srgbClr val="E7ECF2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67588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3675888"/>
            <a:ext cx="3566160" cy="713232"/>
          </a:xfrm>
          <a:prstGeom prst="rect">
            <a:avLst/>
          </a:prstGeom>
          <a:solidFill>
            <a:srgbClr val="E2F5F1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3675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A1 + A2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0" y="36758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A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1650.00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8006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subscribes to A1 and A2. Change either one and A3 re-interprets its formula immediately — no polling, and no recalculation of the whole sheet.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E2F5F1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86000"/>
            <a:ext cx="585216" cy="58521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observer classes can be introduced without modifying the subject’s code at 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2602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E2F5F1"/>
          </a:solidFill>
          <a:ln/>
        </p:spPr>
      </p:sp>
      <p:sp>
        <p:nvSpPr>
          <p:cNvPr id="11" name="Shape 9"/>
          <p:cNvSpPr/>
          <p:nvPr/>
        </p:nvSpPr>
        <p:spPr>
          <a:xfrm>
            <a:off x="4746650" y="2286000"/>
            <a:ext cx="585216" cy="58521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2" name="Text 10"/>
          <p:cNvSpPr/>
          <p:nvPr/>
        </p:nvSpPr>
        <p:spPr>
          <a:xfrm>
            <a:off x="4746650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46650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46650" y="40233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interacts only with a generic interface, staying ignorant of every concrete observer implementation.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3413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E2F5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7461" y="2286000"/>
            <a:ext cx="585216" cy="58521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7" name="Text 15"/>
          <p:cNvSpPr/>
          <p:nvPr/>
        </p:nvSpPr>
        <p:spPr>
          <a:xfrm>
            <a:off x="8487461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7461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relationships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87461" y="40233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between publishers and subscribers can be established or terminated at runtime.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5623560"/>
            <a:ext cx="109481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only ever talks to an interface — that single decision buys all three.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FCEAE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86000"/>
            <a:ext cx="585216" cy="585216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lapsed listener problem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6983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observer is never detached, the subject keeps a reference to it — a dangling pointer and a fatal crash when it notifies deleted memory.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2602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FCEAE6"/>
          </a:solidFill>
          <a:ln/>
        </p:spPr>
      </p:sp>
      <p:sp>
        <p:nvSpPr>
          <p:cNvPr id="11" name="Shape 9"/>
          <p:cNvSpPr/>
          <p:nvPr/>
        </p:nvSpPr>
        <p:spPr>
          <a:xfrm>
            <a:off x="4746650" y="2286000"/>
            <a:ext cx="585216" cy="585216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12" name="Text 10"/>
          <p:cNvSpPr/>
          <p:nvPr/>
        </p:nvSpPr>
        <p:spPr>
          <a:xfrm>
            <a:off x="4746650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46650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order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46650" y="4023360"/>
            <a:ext cx="26983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subscribers are notified is arbitrary and cannot be relied on for sequential logic.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3413" y="1874520"/>
            <a:ext cx="3466490" cy="3520440"/>
          </a:xfrm>
          <a:prstGeom prst="roundRect">
            <a:avLst>
              <a:gd name="adj" fmla="val 2374"/>
            </a:avLst>
          </a:prstGeom>
          <a:solidFill>
            <a:srgbClr val="FCEAE6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7461" y="2286000"/>
            <a:ext cx="585216" cy="585216"/>
          </a:xfrm>
          <a:prstGeom prst="ellipse">
            <a:avLst/>
          </a:prstGeom>
          <a:solidFill>
            <a:srgbClr val="DD4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487461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87461" y="3154680"/>
            <a:ext cx="2698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DD4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debugging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87461" y="4023360"/>
            <a:ext cx="269839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execution through a long chain of dynamic, event-driven updates is difficult to step through in a debugger.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5623560"/>
            <a:ext cx="109481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fatal — but they are the price of decoupling, and they must be designed for.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1965960"/>
            <a:ext cx="1495958" cy="274320"/>
          </a:xfrm>
          <a:prstGeom prst="roundRect">
            <a:avLst>
              <a:gd name="adj" fmla="val 50000"/>
            </a:avLst>
          </a:prstGeom>
          <a:solidFill>
            <a:srgbClr val="2A3346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1965960"/>
            <a:ext cx="1495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2423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21792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on the Observer pattern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35024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48256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61488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87952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01184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14416" y="4617720"/>
            <a:ext cx="512064" cy="512064"/>
          </a:xfrm>
          <a:prstGeom prst="ellipse">
            <a:avLst/>
          </a:prstGeom>
          <a:ln w="19050">
            <a:solidFill>
              <a:srgbClr val="2C6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4617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1417320"/>
            <a:ext cx="3383280" cy="3383280"/>
          </a:xfrm>
          <a:prstGeom prst="ellipse">
            <a:avLst/>
          </a:prstGeom>
          <a:ln w="15875">
            <a:solidFill>
              <a:srgbClr val="1C3D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965960"/>
            <a:ext cx="2286000" cy="2286000"/>
          </a:xfrm>
          <a:prstGeom prst="ellipse">
            <a:avLst/>
          </a:prstGeom>
          <a:ln w="15875">
            <a:solidFill>
              <a:srgbClr val="2350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40112" y="2953512"/>
            <a:ext cx="310896" cy="31089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Observer pattern were a real-world subscription service, which of the following scenarios best describes 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polling a server every 5 seconds to check if there are new emails.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newspaper publisher automatically delivering the daily issue to all registered home addresses.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walking into a physical store every day to check if a shoe is back in stock.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mediator forwarding calls between two people who don’t know each other.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1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Observer pattern were a real-world subscription service, which of the following scenarios best describes 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polling a server every 5 seconds to check if there are new emails.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newspaper publisher automatically delivering the daily issue to all registered home addresses.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92663" y="30175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walking into a physical store every day to check if a shoe is back in stock.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mediator forwarding calls between two people who don’t know each other.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naïve Bank Account implementation, why did we violate the Open–Closed Principle (OCP)?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BankAccount class was too small to hold the logic.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adding a new service required modifying the existing code of BankAccount.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used C++ smart pointers instead of raw pointers.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deposit() function was private.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2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naïve Bank Account implementation, why did we violate the Open–Closed Principle (OCP)?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BankAccount class was too small to hold the logic.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adding a new service required modifying the existing code of BankAccount.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92663" y="30175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used C++ smart pointers instead of raw pointers.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deposit() function was private.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UI window (observer) is deleted in C++ but forgets to call detach() on the BankAccount. What is the likely runtime result of the next deposit?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will fail with a syntax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will run faster because there’s one less service.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will crash or experience undefined behaviour (dangling pointer).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account will automatically recreate the UI window.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3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UI window (observer) is deleted in C++ but forgets to call detach() on the BankAccount. What is the likely runtime result of the next deposit?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will fail with a syntax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will run faster because there’s one less service.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will crash or experience undefined behaviour (dangling pointer).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792663" y="39776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account will automatically recreate the UI window.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observers must be notified in a strict order (e.g. Security Logger before UI updates), is the standard Observer pattern a good choice?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because the standard Observer pattern guarantees alphabetical notification order.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because observers are always notified in the exact order they subscribed.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because the Observer pattern is only meant for web browsers.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because the standard pattern makes no assumptions about notification order, and enforcing it violates loose coupling.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4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observers must be notified in a strict order (e.g. Security Logger before UI updates), is the standard Observer pattern a good choice?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because the standard Observer pattern guarantees alphabetical notification order.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because observers are always notified in the exact order they subscribed.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because the Observer pattern is only meant for web browsers.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because the standard pattern makes no assumptions about notification order, and enforcing it violates loose coupling.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92663" y="49377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modern C++, if a Subject holds strong std::shared_ptr&lt;Observer&gt; references to its observers, and those observers hold std::shared_ptr&lt;Subject&gt; back, what issue arises?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throws a syntax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reference occurs, preventing objects from ever being destroyed (memory leak).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automatically converts them into raw pointers.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are executed in reverse order.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5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modern C++, if a Subject holds strong std::shared_ptr&lt;Observer&gt; references to its observers, and those observers hold std::shared_ptr&lt;Subject&gt; back, what issue arises?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throws a syntax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reference occurs, preventing objects from ever being destroyed (memory leak).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92663" y="30175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automatically converts them into raw pointers.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are executed in reverse order.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dangerous side effect occurs if an observer’s update() mutates the subject’s state and triggers another deposit() without guard conditions?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recursive notification loop leading to a stack overflow crash.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increases process priority.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doubles on each iteration automatically.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is automatically removed from the subscriber list.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6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dangerous side effect occurs if an observer’s update() mutates the subject’s state and triggers another deposit() without guard conditions?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recursive notification loop leading to a stack overflow crash.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792663" y="205740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increases process priority.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doubles on each iteration automatically.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is automatically removed from the subscriber list.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Interpreter pattern and the Observer pattern work together in an automated financial trading system?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parses custom trading rules (e.g. price &gt; 100 AND volume &gt; 500), and Observer broadcasts price updates that trigger the rule evaluation.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be used in the same project.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compiles C++ code, while Interpreter runs the executable.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deletes the Observer’s memory pointers.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7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Interpreter pattern and the Observer pattern work together in an automated financial trading system?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parses custom trading rules (e.g. price &gt; 100 AND volume &gt; 500), and Observer broadcasts price updates that trigger the rule evaluation.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792663" y="205740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be used in the same project.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compiles C++ code, while Interpreter runs the executable.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deletes the Observer’s memory pointers.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E7ECF2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a concrete observer calls subject-&gt;detach(this) inside its own update() callback while notify() is running a simple range-for loop?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safely skips the detached observer.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compiler creates a vector copy automatically.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prompts the user for manual confirmation.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invalidation / undefined behaviour — modifying a std::vector during range-based iteration corrupts the loop.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2264054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2264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· QUESTION 8 OF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1094811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a concrete observer calls subject-&gt;detach(this) inside its own update() callback while notify() is running a simple range-for loop?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3113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912" y="205740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safely skips the detached observer.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" y="301752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81912" y="301752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compiler creates a vector copy automatically.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" y="397764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F2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51376"/>
            <a:ext cx="457200" cy="457200"/>
          </a:xfrm>
          <a:prstGeom prst="ellipse">
            <a:avLst/>
          </a:prstGeom>
          <a:solidFill>
            <a:srgbClr val="E7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81912" y="397764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prompts the user for manual confirmation.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" y="4937760"/>
            <a:ext cx="10948111" cy="804672"/>
          </a:xfrm>
          <a:prstGeom prst="roundRect">
            <a:avLst>
              <a:gd name="adj" fmla="val 10227"/>
            </a:avLst>
          </a:prstGeom>
          <a:solidFill>
            <a:srgbClr val="00A88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111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81912" y="4937760"/>
            <a:ext cx="893643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invalidation / undefined behaviour — modifying a std::vector during range-based iteration corrupts the loop.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92663" y="49377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" y="5870448"/>
            <a:ext cx="10948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0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1111910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problem: Moodle notifications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management system (LMS) Moodle needs a notification system to deliver announcements and updates to its students.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21792" y="3154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students, dozens of courses, and a growing list of things worth telling them about.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783080"/>
            <a:ext cx="4617720" cy="2377440"/>
          </a:xfrm>
          <a:prstGeom prst="roundRect">
            <a:avLst>
              <a:gd name="adj" fmla="val 3846"/>
            </a:avLst>
          </a:prstGeom>
          <a:solidFill>
            <a:srgbClr val="10141C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69480" y="246888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notification system for Moodle so that it supports a wide variety of notifications — and so that adding the next kind costs nothing.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4526280"/>
            <a:ext cx="2545004" cy="1280160"/>
          </a:xfrm>
          <a:prstGeom prst="roundRect">
            <a:avLst>
              <a:gd name="adj" fmla="val 6429"/>
            </a:avLst>
          </a:prstGeom>
          <a:solidFill>
            <a:srgbClr val="F2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941832" y="475488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5285232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2828" y="4526280"/>
            <a:ext cx="2545004" cy="1280160"/>
          </a:xfrm>
          <a:prstGeom prst="roundRect">
            <a:avLst>
              <a:gd name="adj" fmla="val 6429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2868" y="475488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16" name="Text 14"/>
          <p:cNvSpPr/>
          <p:nvPr/>
        </p:nvSpPr>
        <p:spPr>
          <a:xfrm>
            <a:off x="3742868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2868" y="5285232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23864" y="4526280"/>
            <a:ext cx="2545004" cy="1280160"/>
          </a:xfrm>
          <a:prstGeom prst="roundRect">
            <a:avLst>
              <a:gd name="adj" fmla="val 6429"/>
            </a:avLst>
          </a:prstGeom>
          <a:solidFill>
            <a:srgbClr val="F2F5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43904" y="475488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20" name="Text 18"/>
          <p:cNvSpPr/>
          <p:nvPr/>
        </p:nvSpPr>
        <p:spPr>
          <a:xfrm>
            <a:off x="6543904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43904" y="5285232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24899" y="4526280"/>
            <a:ext cx="2545004" cy="1280160"/>
          </a:xfrm>
          <a:prstGeom prst="roundRect">
            <a:avLst>
              <a:gd name="adj" fmla="val 6429"/>
            </a:avLst>
          </a:prstGeom>
          <a:solidFill>
            <a:srgbClr val="F2F5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44939" y="4754880"/>
            <a:ext cx="402336" cy="402336"/>
          </a:xfrm>
          <a:prstGeom prst="ellipse">
            <a:avLst/>
          </a:prstGeom>
          <a:solidFill>
            <a:srgbClr val="00A88F"/>
          </a:solidFill>
          <a:ln/>
        </p:spPr>
      </p:sp>
      <p:sp>
        <p:nvSpPr>
          <p:cNvPr id="24" name="Text 22"/>
          <p:cNvSpPr/>
          <p:nvPr/>
        </p:nvSpPr>
        <p:spPr>
          <a:xfrm>
            <a:off x="9344939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939" y="5285232"/>
            <a:ext cx="19049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75488"/>
            <a:ext cx="958291" cy="274320"/>
          </a:xfrm>
          <a:prstGeom prst="roundRect">
            <a:avLst>
              <a:gd name="adj" fmla="val 50000"/>
            </a:avLst>
          </a:prstGeom>
          <a:solidFill>
            <a:srgbClr val="E2F5F1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475488"/>
            <a:ext cx="958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007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9481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41A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10948111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2A33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19072" y="1965960"/>
            <a:ext cx="930219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Gamma, R. Helm, R. Johnson, and J. Vlissides, </a:t>
            </a:r>
            <a:pPr algn="l"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 Elements of Reusable Object-Oriented Software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Reading, MA, USA: Addison-Wesley, 1994.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" y="3383280"/>
            <a:ext cx="10948111" cy="1188720"/>
          </a:xfrm>
          <a:prstGeom prst="roundRect">
            <a:avLst>
              <a:gd name="adj" fmla="val 6923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749040"/>
            <a:ext cx="457200" cy="457200"/>
          </a:xfrm>
          <a:prstGeom prst="ellipse">
            <a:avLst/>
          </a:prstGeom>
          <a:solidFill>
            <a:srgbClr val="2A334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19072" y="3383280"/>
            <a:ext cx="930219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Shvets, “Observer Design Pattern,” </a:t>
            </a:r>
            <a:pPr algn="l"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</a:t>
            </a:r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[Online]. Available: https://refactoring.guru/design-patterns/observer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" y="4800600"/>
            <a:ext cx="10948111" cy="1005840"/>
          </a:xfrm>
          <a:prstGeom prst="roundRect">
            <a:avLst>
              <a:gd name="adj" fmla="val 8182"/>
            </a:avLst>
          </a:prstGeom>
          <a:solidFill>
            <a:srgbClr val="E2F5F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00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7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LaTeX report and this deck: DesignPatternsGroup52 · Observer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B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1920240"/>
            <a:ext cx="1956816" cy="274320"/>
          </a:xfrm>
          <a:prstGeom prst="roundRect">
            <a:avLst>
              <a:gd name="adj" fmla="val 50000"/>
            </a:avLst>
          </a:prstGeom>
          <a:solidFill>
            <a:srgbClr val="2A3346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1920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spc="80" kern="0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52 · APCS 2025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2395728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watching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21792" y="3520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3E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21792" y="4343400"/>
            <a:ext cx="4023360" cy="0"/>
          </a:xfrm>
          <a:prstGeom prst="line">
            <a:avLst/>
          </a:prstGeom>
          <a:noFill/>
          <a:ln w="19050">
            <a:solidFill>
              <a:srgbClr val="2C3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4526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Minh Huy — 25125083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Gia Huy — 25125084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82128" y="1700784"/>
            <a:ext cx="3438144" cy="3438144"/>
          </a:xfrm>
          <a:prstGeom prst="roundRect">
            <a:avLst>
              <a:gd name="adj" fmla="val 3191"/>
            </a:avLst>
          </a:prstGeom>
          <a:solidFill>
            <a:srgbClr val="1B2231"/>
          </a:solidFill>
          <a:ln/>
        </p:spPr>
      </p:sp>
      <p:pic>
        <p:nvPicPr>
          <p:cNvPr id="9" name="Image 0" descr="/private/tmp/claude-501/-Users-huynguyen-Documents-CS202-Cpp-DesignPatternsGroup52/b5ac6f16-84e2-408f-840d-d3e0202779f3/scratchpad/unpacked/ppt/media/image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819656"/>
            <a:ext cx="320040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52 · Observer Pattern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00623" y="6382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University of Science, VNUHCM - APCS 2023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University of Science, VNUHCM — APCS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 Design Pattern — CS202, Group 52</dc:title>
  <dc:subject>Observer design pattern</dc:subject>
  <dc:creator>Nguyễn Đình Minh Huy · Trần Gia Huy</dc:creator>
  <cp:lastModifiedBy>Nguyễn Đình Minh Huy · Trần Gia Huy</cp:lastModifiedBy>
  <cp:revision>1</cp:revision>
  <dcterms:created xsi:type="dcterms:W3CDTF">2026-08-19T14:50:50Z</dcterms:created>
  <dcterms:modified xsi:type="dcterms:W3CDTF">2026-08-19T14:50:50Z</dcterms:modified>
</cp:coreProperties>
</file>