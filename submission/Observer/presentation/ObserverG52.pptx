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52"/>
  </p:notesMasterIdLst>
  <p:handoutMasterIdLst>
    <p:handoutMasterId r:id="rId53"/>
  </p:handoutMasterIdLst>
  <p:sldIdLst>
    <p:sldId id="417" r:id="rId5"/>
    <p:sldId id="418" r:id="rId6"/>
    <p:sldId id="419" r:id="rId7"/>
    <p:sldId id="420" r:id="rId8"/>
    <p:sldId id="421" r:id="rId9"/>
    <p:sldId id="422" r:id="rId10"/>
    <p:sldId id="423" r:id="rId11"/>
    <p:sldId id="424" r:id="rId12"/>
    <p:sldId id="426" r:id="rId13"/>
    <p:sldId id="459" r:id="rId14"/>
    <p:sldId id="425" r:id="rId15"/>
    <p:sldId id="427" r:id="rId16"/>
    <p:sldId id="432" r:id="rId17"/>
    <p:sldId id="461" r:id="rId18"/>
    <p:sldId id="462" r:id="rId19"/>
    <p:sldId id="463" r:id="rId20"/>
    <p:sldId id="433" r:id="rId21"/>
    <p:sldId id="434" r:id="rId22"/>
    <p:sldId id="447" r:id="rId23"/>
    <p:sldId id="428" r:id="rId24"/>
    <p:sldId id="429" r:id="rId25"/>
    <p:sldId id="430" r:id="rId26"/>
    <p:sldId id="438" r:id="rId27"/>
    <p:sldId id="439" r:id="rId28"/>
    <p:sldId id="440" r:id="rId29"/>
    <p:sldId id="431" r:id="rId30"/>
    <p:sldId id="456" r:id="rId31"/>
    <p:sldId id="435" r:id="rId32"/>
    <p:sldId id="436" r:id="rId33"/>
    <p:sldId id="437" r:id="rId34"/>
    <p:sldId id="441" r:id="rId35"/>
    <p:sldId id="442" r:id="rId36"/>
    <p:sldId id="443" r:id="rId37"/>
    <p:sldId id="444" r:id="rId38"/>
    <p:sldId id="445" r:id="rId39"/>
    <p:sldId id="446" r:id="rId40"/>
    <p:sldId id="448" r:id="rId41"/>
    <p:sldId id="449" r:id="rId42"/>
    <p:sldId id="450" r:id="rId43"/>
    <p:sldId id="451" r:id="rId44"/>
    <p:sldId id="452" r:id="rId45"/>
    <p:sldId id="453" r:id="rId46"/>
    <p:sldId id="454" r:id="rId47"/>
    <p:sldId id="455" r:id="rId48"/>
    <p:sldId id="457" r:id="rId49"/>
    <p:sldId id="458" r:id="rId50"/>
    <p:sldId id="460" r:id="rId51"/>
  </p:sldIdLst>
  <p:sldSz cx="9906000" cy="6858000" type="A4"/>
  <p:notesSz cx="6718300" cy="9867900"/>
  <p:defaultTextStyle>
    <a:defPPr>
      <a:defRPr lang="en-US"/>
    </a:defPPr>
    <a:lvl1pPr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1pPr>
    <a:lvl2pPr marL="4572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2pPr>
    <a:lvl3pPr marL="9144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3pPr>
    <a:lvl4pPr marL="13716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4pPr>
    <a:lvl5pPr marL="18288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5pPr>
    <a:lvl6pPr marL="2286000" algn="l" defTabSz="457200" rtl="0" eaLnBrk="1" latinLnBrk="0" hangingPunct="1">
      <a:defRPr sz="1200" kern="1200">
        <a:solidFill>
          <a:schemeClr val="bg1"/>
        </a:solidFill>
        <a:latin typeface="Arial" charset="0"/>
        <a:ea typeface="ＭＳ Ｐゴシック" charset="-128"/>
        <a:cs typeface="ＭＳ Ｐゴシック" charset="-128"/>
      </a:defRPr>
    </a:lvl6pPr>
    <a:lvl7pPr marL="2743200" algn="l" defTabSz="457200" rtl="0" eaLnBrk="1" latinLnBrk="0" hangingPunct="1">
      <a:defRPr sz="1200" kern="1200">
        <a:solidFill>
          <a:schemeClr val="bg1"/>
        </a:solidFill>
        <a:latin typeface="Arial" charset="0"/>
        <a:ea typeface="ＭＳ Ｐゴシック" charset="-128"/>
        <a:cs typeface="ＭＳ Ｐゴシック" charset="-128"/>
      </a:defRPr>
    </a:lvl7pPr>
    <a:lvl8pPr marL="3200400" algn="l" defTabSz="457200" rtl="0" eaLnBrk="1" latinLnBrk="0" hangingPunct="1">
      <a:defRPr sz="1200" kern="1200">
        <a:solidFill>
          <a:schemeClr val="bg1"/>
        </a:solidFill>
        <a:latin typeface="Arial" charset="0"/>
        <a:ea typeface="ＭＳ Ｐゴシック" charset="-128"/>
        <a:cs typeface="ＭＳ Ｐゴシック" charset="-128"/>
      </a:defRPr>
    </a:lvl8pPr>
    <a:lvl9pPr marL="3657600" algn="l" defTabSz="457200" rtl="0" eaLnBrk="1" latinLnBrk="0" hangingPunct="1">
      <a:defRPr sz="1200" kern="1200">
        <a:solidFill>
          <a:schemeClr val="bg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646">
          <p15:clr>
            <a:srgbClr val="A4A3A4"/>
          </p15:clr>
        </p15:guide>
        <p15:guide id="2" pos="407">
          <p15:clr>
            <a:srgbClr val="A4A3A4"/>
          </p15:clr>
        </p15:guide>
      </p15:sldGuideLst>
    </p:ext>
    <p:ext uri="{2D200454-40CA-4A62-9FC3-DE9A4176ACB9}">
      <p15:notesGuideLst xmlns:p15="http://schemas.microsoft.com/office/powerpoint/2012/main">
        <p15:guide id="1" orient="horz" pos="6043">
          <p15:clr>
            <a:srgbClr val="A4A3A4"/>
          </p15:clr>
        </p15:guide>
        <p15:guide id="2" pos="211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267FB5-7580-E143-0B74-089C49A2450E}" name="TRẦN GIA HUY" initials="TH" userId="S::2512508415@student.hcmus.edu.vn::2afa8d98-0824-47de-b27b-39e5cae4f87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3399CC"/>
    <a:srgbClr val="A50021"/>
    <a:srgbClr val="6600CC"/>
    <a:srgbClr val="003366"/>
    <a:srgbClr val="B4BA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DC5D6-5C21-7383-E3E8-2D2D6014A1AD}" v="215" dt="2026-07-21T14:51:47.207"/>
    <p1510:client id="{685FC7C4-6F37-58D8-E1A5-B2DA6883C6C4}" v="318" dt="2026-07-22T15:06:02.582"/>
    <p1510:client id="{6D741EB3-2B37-9296-C1D6-8EF7F3114E66}" v="17" dt="2026-07-22T02:13:47.302"/>
    <p1510:client id="{EF6C2015-9B71-B589-7B24-B26854B9AF83}" v="2407" dt="2026-07-21T15:17:00.8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4"/>
  </p:normalViewPr>
  <p:slideViewPr>
    <p:cSldViewPr snapToGrid="0">
      <p:cViewPr varScale="1">
        <p:scale>
          <a:sx n="100" d="100"/>
          <a:sy n="100" d="100"/>
        </p:scale>
        <p:origin x="1624" y="168"/>
      </p:cViewPr>
      <p:guideLst>
        <p:guide orient="horz" pos="646"/>
        <p:guide pos="407"/>
      </p:guideLst>
    </p:cSldViewPr>
  </p:slideViewPr>
  <p:notesTextViewPr>
    <p:cViewPr>
      <p:scale>
        <a:sx n="1" d="1"/>
        <a:sy n="1" d="1"/>
      </p:scale>
      <p:origin x="0" y="0"/>
    </p:cViewPr>
  </p:notesTextViewPr>
  <p:notesViewPr>
    <p:cSldViewPr snapToGrid="0">
      <p:cViewPr>
        <p:scale>
          <a:sx n="1" d="2"/>
          <a:sy n="1" d="2"/>
        </p:scale>
        <p:origin x="0" y="0"/>
      </p:cViewPr>
      <p:guideLst>
        <p:guide orient="horz" pos="6043"/>
        <p:guide pos="211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endParaRPr lang="en-GB"/>
          </a:p>
        </p:txBody>
      </p:sp>
      <p:sp>
        <p:nvSpPr>
          <p:cNvPr id="15363" name="Rectangle 3"/>
          <p:cNvSpPr>
            <a:spLocks noGrp="1" noChangeArrowheads="1"/>
          </p:cNvSpPr>
          <p:nvPr>
            <p:ph type="dt" sz="quarter" idx="1"/>
          </p:nvPr>
        </p:nvSpPr>
        <p:spPr bwMode="auto">
          <a:xfrm>
            <a:off x="3805238"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A94140A0-9A56-5344-A45C-C6AEC62A4163}" type="datetime1">
              <a:rPr lang="en-SG" smtClean="0"/>
              <a:t>23/7/26</a:t>
            </a:fld>
            <a:endParaRPr lang="en-GB"/>
          </a:p>
        </p:txBody>
      </p:sp>
      <p:sp>
        <p:nvSpPr>
          <p:cNvPr id="15364" name="Rectangle 4"/>
          <p:cNvSpPr>
            <a:spLocks noGrp="1" noChangeArrowheads="1"/>
          </p:cNvSpPr>
          <p:nvPr>
            <p:ph type="ftr" sz="quarter" idx="2"/>
          </p:nvPr>
        </p:nvSpPr>
        <p:spPr bwMode="auto">
          <a:xfrm>
            <a:off x="0"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r>
              <a:rPr lang="en-GB"/>
              <a:t>Enter here your Presentation Title</a:t>
            </a:r>
          </a:p>
        </p:txBody>
      </p:sp>
      <p:sp>
        <p:nvSpPr>
          <p:cNvPr id="15365" name="Rectangle 5"/>
          <p:cNvSpPr>
            <a:spLocks noGrp="1" noChangeArrowheads="1"/>
          </p:cNvSpPr>
          <p:nvPr>
            <p:ph type="sldNum" sz="quarter" idx="3"/>
          </p:nvPr>
        </p:nvSpPr>
        <p:spPr bwMode="auto">
          <a:xfrm>
            <a:off x="3805238"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088753F1-0FA1-9242-BAE1-2B62A927FD2E}" type="slidenum">
              <a:rPr lang="en-GB"/>
              <a:pPr>
                <a:defRPr/>
              </a:pPr>
              <a:t>‹#›</a:t>
            </a:fld>
            <a:endParaRPr lang="en-GB"/>
          </a:p>
        </p:txBody>
      </p:sp>
      <p:pic>
        <p:nvPicPr>
          <p:cNvPr id="16390" name="Picture 6" descr="LOGO_ECTL2009-rgb"/>
          <p:cNvPicPr>
            <a:picLocks noChangeAspect="1" noChangeArrowheads="1"/>
          </p:cNvPicPr>
          <p:nvPr/>
        </p:nvPicPr>
        <p:blipFill>
          <a:blip r:embed="rId2"/>
          <a:srcRect/>
          <a:stretch>
            <a:fillRect/>
          </a:stretch>
        </p:blipFill>
        <p:spPr bwMode="auto">
          <a:xfrm>
            <a:off x="5899150" y="8975725"/>
            <a:ext cx="619125" cy="692150"/>
          </a:xfrm>
          <a:prstGeom prst="rect">
            <a:avLst/>
          </a:prstGeom>
          <a:noFill/>
          <a:ln w="9525">
            <a:noFill/>
            <a:miter lim="800000"/>
            <a:headEnd/>
            <a:tailEnd/>
          </a:ln>
        </p:spPr>
      </p:pic>
    </p:spTree>
    <p:extLst>
      <p:ext uri="{BB962C8B-B14F-4D97-AF65-F5344CB8AC3E}">
        <p14:creationId xmlns:p14="http://schemas.microsoft.com/office/powerpoint/2010/main" val="277837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endParaRPr lang="en-US"/>
          </a:p>
        </p:txBody>
      </p:sp>
      <p:sp>
        <p:nvSpPr>
          <p:cNvPr id="6147" name="Rectangle 3"/>
          <p:cNvSpPr>
            <a:spLocks noGrp="1" noChangeArrowheads="1"/>
          </p:cNvSpPr>
          <p:nvPr>
            <p:ph type="dt" idx="1"/>
          </p:nvPr>
        </p:nvSpPr>
        <p:spPr bwMode="auto">
          <a:xfrm>
            <a:off x="3806825"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000">
                <a:solidFill>
                  <a:schemeClr val="tx1"/>
                </a:solidFill>
              </a:defRPr>
            </a:lvl1pPr>
          </a:lstStyle>
          <a:p>
            <a:pPr>
              <a:defRPr/>
            </a:pPr>
            <a:fld id="{4E637528-6EEA-2D41-869C-D32687B0D5B4}" type="datetime1">
              <a:rPr lang="en-SG" smtClean="0"/>
              <a:t>23/7/26</a:t>
            </a:fld>
            <a:endParaRPr lang="en-US"/>
          </a:p>
        </p:txBody>
      </p:sp>
      <p:sp>
        <p:nvSpPr>
          <p:cNvPr id="17412" name="Rectangle 4"/>
          <p:cNvSpPr>
            <a:spLocks noGrp="1" noRot="1" noChangeAspect="1" noChangeArrowheads="1" noTextEdit="1"/>
          </p:cNvSpPr>
          <p:nvPr>
            <p:ph type="sldImg" idx="2"/>
          </p:nvPr>
        </p:nvSpPr>
        <p:spPr bwMode="auto">
          <a:xfrm>
            <a:off x="687388" y="739775"/>
            <a:ext cx="5343525" cy="3700463"/>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895350" y="4687888"/>
            <a:ext cx="4927600" cy="4440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3" name="Rectangle 9"/>
          <p:cNvSpPr>
            <a:spLocks noGrp="1" noChangeArrowheads="1"/>
          </p:cNvSpPr>
          <p:nvPr>
            <p:ph type="ftr" sz="quarter" idx="4"/>
          </p:nvPr>
        </p:nvSpPr>
        <p:spPr bwMode="auto">
          <a:xfrm>
            <a:off x="187325" y="9167813"/>
            <a:ext cx="290988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r>
              <a:rPr lang="en-GB"/>
              <a:t>Enter here your Presentation Title</a:t>
            </a:r>
          </a:p>
        </p:txBody>
      </p:sp>
      <p:sp>
        <p:nvSpPr>
          <p:cNvPr id="6154" name="Rectangle 10"/>
          <p:cNvSpPr>
            <a:spLocks noGrp="1" noChangeArrowheads="1"/>
          </p:cNvSpPr>
          <p:nvPr>
            <p:ph type="sldNum" sz="quarter" idx="5"/>
          </p:nvPr>
        </p:nvSpPr>
        <p:spPr bwMode="auto">
          <a:xfrm>
            <a:off x="3116263" y="9167813"/>
            <a:ext cx="463550"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0" hangingPunct="0">
              <a:lnSpc>
                <a:spcPct val="100000"/>
              </a:lnSpc>
              <a:spcBef>
                <a:spcPct val="0"/>
              </a:spcBef>
              <a:defRPr sz="1000">
                <a:solidFill>
                  <a:schemeClr val="tx1"/>
                </a:solidFill>
              </a:defRPr>
            </a:lvl1pPr>
          </a:lstStyle>
          <a:p>
            <a:pPr>
              <a:defRPr/>
            </a:pPr>
            <a:fld id="{228B0FEB-B7F4-4E46-BA8F-257F2077EC9C}" type="slidenum">
              <a:rPr lang="en-GB"/>
              <a:pPr>
                <a:defRPr/>
              </a:pPr>
              <a:t>‹#›</a:t>
            </a:fld>
            <a:endParaRPr lang="en-GB"/>
          </a:p>
        </p:txBody>
      </p:sp>
      <p:pic>
        <p:nvPicPr>
          <p:cNvPr id="17416" name="Picture 11" descr="ec-color-msoffice"/>
          <p:cNvPicPr>
            <a:picLocks noChangeAspect="1" noChangeArrowheads="1"/>
          </p:cNvPicPr>
          <p:nvPr/>
        </p:nvPicPr>
        <p:blipFill>
          <a:blip r:embed="rId2"/>
          <a:srcRect/>
          <a:stretch>
            <a:fillRect/>
          </a:stretch>
        </p:blipFill>
        <p:spPr bwMode="auto">
          <a:xfrm>
            <a:off x="6089650" y="9148763"/>
            <a:ext cx="528638" cy="582612"/>
          </a:xfrm>
          <a:prstGeom prst="rect">
            <a:avLst/>
          </a:prstGeom>
          <a:noFill/>
          <a:ln w="9525">
            <a:noFill/>
            <a:miter lim="800000"/>
            <a:headEnd/>
            <a:tailEnd/>
          </a:ln>
        </p:spPr>
      </p:pic>
    </p:spTree>
    <p:extLst>
      <p:ext uri="{BB962C8B-B14F-4D97-AF65-F5344CB8AC3E}">
        <p14:creationId xmlns:p14="http://schemas.microsoft.com/office/powerpoint/2010/main" val="447076191"/>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7388" y="752475"/>
            <a:ext cx="5343525" cy="3700463"/>
          </a:xfrm>
        </p:spPr>
      </p:sp>
      <p:sp>
        <p:nvSpPr>
          <p:cNvPr id="3" name="Espace réservé des commentaires 2"/>
          <p:cNvSpPr>
            <a:spLocks noGrp="1"/>
          </p:cNvSpPr>
          <p:nvPr>
            <p:ph type="body" idx="1"/>
          </p:nvPr>
        </p:nvSpPr>
        <p:spPr>
          <a:xfrm>
            <a:off x="907925" y="4687888"/>
            <a:ext cx="4927600" cy="4440237"/>
          </a:xfrm>
        </p:spPr>
        <p:txBody>
          <a:bodyPr/>
          <a:lstStyle/>
          <a:p>
            <a:endParaRPr lang="en-US"/>
          </a:p>
        </p:txBody>
      </p:sp>
      <p:sp>
        <p:nvSpPr>
          <p:cNvPr id="4" name="Espace réservé de la date 3"/>
          <p:cNvSpPr>
            <a:spLocks noGrp="1"/>
          </p:cNvSpPr>
          <p:nvPr>
            <p:ph type="dt" idx="10"/>
          </p:nvPr>
        </p:nvSpPr>
        <p:spPr/>
        <p:txBody>
          <a:bodyPr/>
          <a:lstStyle/>
          <a:p>
            <a:pPr>
              <a:defRPr/>
            </a:pPr>
            <a:fld id="{E97A3520-1F26-804C-B4BE-87967715ADF3}" type="datetime1">
              <a:rPr lang="en-SG" smtClean="0"/>
              <a:t>23/7/26</a:t>
            </a:fld>
            <a:endParaRPr lang="en-US"/>
          </a:p>
        </p:txBody>
      </p:sp>
      <p:sp>
        <p:nvSpPr>
          <p:cNvPr id="5" name="Espace réservé du pied de page 4"/>
          <p:cNvSpPr>
            <a:spLocks noGrp="1"/>
          </p:cNvSpPr>
          <p:nvPr>
            <p:ph type="ftr" sz="quarter" idx="11"/>
          </p:nvPr>
        </p:nvSpPr>
        <p:spPr/>
        <p:txBody>
          <a:bodyPr/>
          <a:lstStyle/>
          <a:p>
            <a:pPr>
              <a:defRPr/>
            </a:pPr>
            <a:r>
              <a:rPr lang="en-GB"/>
              <a:t>Enter here your Presentation Title</a:t>
            </a:r>
          </a:p>
        </p:txBody>
      </p:sp>
      <p:sp>
        <p:nvSpPr>
          <p:cNvPr id="6" name="Espace réservé du numéro de diapositive 5"/>
          <p:cNvSpPr>
            <a:spLocks noGrp="1"/>
          </p:cNvSpPr>
          <p:nvPr>
            <p:ph type="sldNum" sz="quarter" idx="12"/>
          </p:nvPr>
        </p:nvSpPr>
        <p:spPr/>
        <p:txBody>
          <a:bodyPr/>
          <a:lstStyle/>
          <a:p>
            <a:pPr>
              <a:defRPr/>
            </a:pPr>
            <a:fld id="{228B0FEB-B7F4-4E46-BA8F-257F2077EC9C}" type="slidenum">
              <a:rPr lang="en-GB" smtClean="0"/>
              <a:pPr>
                <a:defRPr/>
              </a:pPr>
              <a:t>1</a:t>
            </a:fld>
            <a:endParaRPr lang="en-GB"/>
          </a:p>
        </p:txBody>
      </p:sp>
    </p:spTree>
    <p:extLst>
      <p:ext uri="{BB962C8B-B14F-4D97-AF65-F5344CB8AC3E}">
        <p14:creationId xmlns:p14="http://schemas.microsoft.com/office/powerpoint/2010/main" val="3278984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1" descr="titel - bg - ecl logo_low"/>
          <p:cNvPicPr>
            <a:picLocks noChangeAspect="1" noChangeArrowheads="1"/>
          </p:cNvPicPr>
          <p:nvPr userDrawn="1"/>
        </p:nvPicPr>
        <p:blipFill>
          <a:blip r:embed="rId2"/>
          <a:srcRect/>
          <a:stretch>
            <a:fillRect/>
          </a:stretch>
        </p:blipFill>
        <p:spPr bwMode="auto">
          <a:xfrm>
            <a:off x="0" y="0"/>
            <a:ext cx="9906000" cy="6858000"/>
          </a:xfrm>
          <a:prstGeom prst="rect">
            <a:avLst/>
          </a:prstGeom>
          <a:noFill/>
          <a:ln w="9525">
            <a:noFill/>
            <a:miter lim="800000"/>
            <a:headEnd/>
            <a:tailEnd/>
          </a:ln>
        </p:spPr>
      </p:pic>
      <p:sp>
        <p:nvSpPr>
          <p:cNvPr id="11266" name="Rectangle 2"/>
          <p:cNvSpPr>
            <a:spLocks noGrp="1" noChangeArrowheads="1"/>
          </p:cNvSpPr>
          <p:nvPr>
            <p:ph type="ctrTitle"/>
          </p:nvPr>
        </p:nvSpPr>
        <p:spPr>
          <a:xfrm>
            <a:off x="271727" y="2014539"/>
            <a:ext cx="8420100" cy="936625"/>
          </a:xfrm>
        </p:spPr>
        <p:txBody>
          <a:bodyPr anchor="b"/>
          <a:lstStyle>
            <a:lvl1pPr>
              <a:defRPr>
                <a:solidFill>
                  <a:schemeClr val="bg1"/>
                </a:solidFill>
              </a:defRPr>
            </a:lvl1pPr>
          </a:lstStyle>
          <a:p>
            <a:r>
              <a:rPr lang="en-GB"/>
              <a:t>Powerpoint presentation title</a:t>
            </a:r>
          </a:p>
        </p:txBody>
      </p:sp>
      <p:sp>
        <p:nvSpPr>
          <p:cNvPr id="11267" name="Rectangle 3"/>
          <p:cNvSpPr>
            <a:spLocks noGrp="1" noChangeArrowheads="1"/>
          </p:cNvSpPr>
          <p:nvPr>
            <p:ph type="subTitle" idx="1"/>
          </p:nvPr>
        </p:nvSpPr>
        <p:spPr>
          <a:xfrm>
            <a:off x="271728" y="2951163"/>
            <a:ext cx="8425260" cy="622300"/>
          </a:xfrm>
        </p:spPr>
        <p:txBody>
          <a:bodyPr/>
          <a:lstStyle>
            <a:lvl1pPr marL="0" indent="0">
              <a:buFontTx/>
              <a:buNone/>
              <a:defRPr>
                <a:solidFill>
                  <a:schemeClr val="bg1"/>
                </a:solidFill>
              </a:defRPr>
            </a:lvl1pPr>
          </a:lstStyle>
          <a:p>
            <a:r>
              <a:rPr lang="en-GB"/>
              <a:t>Susbtitle powerpoint presentation</a:t>
            </a:r>
          </a:p>
        </p:txBody>
      </p:sp>
      <p:pic>
        <p:nvPicPr>
          <p:cNvPr id="8" name="Image 1" descr="logo2.png">
            <a:extLst>
              <a:ext uri="{FF2B5EF4-FFF2-40B4-BE49-F238E27FC236}">
                <a16:creationId xmlns:a16="http://schemas.microsoft.com/office/drawing/2014/main" id="{FA27FED5-CE64-A047-8A8E-9002A6B264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8966" y="6046382"/>
            <a:ext cx="1282700" cy="395547"/>
          </a:xfrm>
          <a:prstGeom prst="rect">
            <a:avLst/>
          </a:prstGeom>
        </p:spPr>
      </p:pic>
      <p:sp>
        <p:nvSpPr>
          <p:cNvPr id="9" name="Text Box 15">
            <a:extLst>
              <a:ext uri="{FF2B5EF4-FFF2-40B4-BE49-F238E27FC236}">
                <a16:creationId xmlns:a16="http://schemas.microsoft.com/office/drawing/2014/main" id="{714D1C40-B271-9F4C-9F1B-F29A7AFEB19F}"/>
              </a:ext>
            </a:extLst>
          </p:cNvPr>
          <p:cNvSpPr txBox="1">
            <a:spLocks noChangeArrowheads="1"/>
          </p:cNvSpPr>
          <p:nvPr userDrawn="1"/>
        </p:nvSpPr>
        <p:spPr bwMode="auto">
          <a:xfrm>
            <a:off x="4526561" y="6493225"/>
            <a:ext cx="5001690" cy="246221"/>
          </a:xfrm>
          <a:prstGeom prst="rect">
            <a:avLst/>
          </a:prstGeom>
          <a:noFill/>
          <a:ln w="9525">
            <a:noFill/>
            <a:miter lim="800000"/>
            <a:headEnd/>
            <a:tailEnd/>
          </a:ln>
          <a:effectLst/>
        </p:spPr>
        <p:txBody>
          <a:bodyPr wrap="none" anchor="b">
            <a:prstTxWarp prst="textNoShape">
              <a:avLst/>
            </a:prstTxWarp>
            <a:spAutoFit/>
          </a:bodyPr>
          <a:lstStyle/>
          <a:p>
            <a:pPr algn="r" eaLnBrk="0" hangingPunct="0">
              <a:lnSpc>
                <a:spcPct val="100000"/>
              </a:lnSpc>
              <a:spcBef>
                <a:spcPct val="0"/>
              </a:spcBef>
              <a:defRPr/>
            </a:pPr>
            <a:r>
              <a:rPr lang="en-US" sz="1000" b="1" baseline="0">
                <a:solidFill>
                  <a:srgbClr val="B4BAC0"/>
                </a:solidFill>
              </a:rPr>
              <a:t>@2023, University of Science HCMC - Advanced Program in Computer Science </a:t>
            </a:r>
            <a:endParaRPr lang="en-GB" sz="1000" b="1">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FED15F87-54EF-814C-94F1-42DCB8CC6E0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8BD2EE48-D8F1-6047-AD25-7837A8B6C8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7429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03760140-3DF2-0941-96B7-7C41D7BDA68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8" name="Rectangle 6"/>
          <p:cNvSpPr>
            <a:spLocks noGrp="1" noChangeArrowheads="1"/>
          </p:cNvSpPr>
          <p:nvPr>
            <p:ph type="sldNum" sz="quarter" idx="11"/>
          </p:nvPr>
        </p:nvSpPr>
        <p:spPr>
          <a:ln/>
        </p:spPr>
        <p:txBody>
          <a:bodyPr/>
          <a:lstStyle>
            <a:lvl1pPr>
              <a:defRPr/>
            </a:lvl1pPr>
          </a:lstStyle>
          <a:p>
            <a:pPr>
              <a:defRPr/>
            </a:pPr>
            <a:fld id="{4EEF47FB-8FE8-5E4E-95FE-722242043DB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4" name="Rectangle 6"/>
          <p:cNvSpPr>
            <a:spLocks noGrp="1" noChangeArrowheads="1"/>
          </p:cNvSpPr>
          <p:nvPr>
            <p:ph type="sldNum" sz="quarter" idx="11"/>
          </p:nvPr>
        </p:nvSpPr>
        <p:spPr>
          <a:ln/>
        </p:spPr>
        <p:txBody>
          <a:bodyPr/>
          <a:lstStyle>
            <a:lvl1pPr>
              <a:defRPr/>
            </a:lvl1pPr>
          </a:lstStyle>
          <a:p>
            <a:pPr>
              <a:defRPr/>
            </a:pPr>
            <a:fld id="{AB30D146-8D31-7C4D-9135-1281BCEE6F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3" name="Rectangle 6"/>
          <p:cNvSpPr>
            <a:spLocks noGrp="1" noChangeArrowheads="1"/>
          </p:cNvSpPr>
          <p:nvPr>
            <p:ph type="sldNum" sz="quarter" idx="11"/>
          </p:nvPr>
        </p:nvSpPr>
        <p:spPr>
          <a:ln/>
        </p:spPr>
        <p:txBody>
          <a:bodyPr/>
          <a:lstStyle>
            <a:lvl1pPr>
              <a:defRPr/>
            </a:lvl1pPr>
          </a:lstStyle>
          <a:p>
            <a:pPr>
              <a:defRPr/>
            </a:pPr>
            <a:fld id="{D8629D21-5361-BD45-86FA-69031AF732B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D4BE9212-EA1F-7542-BCE8-6A497083E3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7C85C02F-7189-7543-A3A8-072BD80A087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B3E3FA81-94C8-414B-82A9-6F10781D611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58025" y="609600"/>
            <a:ext cx="2105025"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42950" y="609600"/>
            <a:ext cx="6149975"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047301C2-1B4A-8A46-A21B-67DA1CAB9D5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SmartArt Placeholder 2"/>
          <p:cNvSpPr>
            <a:spLocks noGrp="1"/>
          </p:cNvSpPr>
          <p:nvPr>
            <p:ph type="dgm" idx="1"/>
          </p:nvPr>
        </p:nvSpPr>
        <p:spPr>
          <a:xfrm>
            <a:off x="742950" y="1981200"/>
            <a:ext cx="8420100" cy="4114800"/>
          </a:xfrm>
        </p:spPr>
        <p:txBody>
          <a:bodyPr/>
          <a:lstStyle/>
          <a:p>
            <a:pPr lvl="0"/>
            <a:endParaRPr lang="en-GB" noProof="0"/>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38C9BFEB-93EA-C349-818D-1C0517FC11A0}"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035550" y="19812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035550" y="41148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7" name="Rectangle 6"/>
          <p:cNvSpPr>
            <a:spLocks noGrp="1" noChangeArrowheads="1"/>
          </p:cNvSpPr>
          <p:nvPr>
            <p:ph type="sldNum" sz="quarter" idx="11"/>
          </p:nvPr>
        </p:nvSpPr>
        <p:spPr>
          <a:ln/>
        </p:spPr>
        <p:txBody>
          <a:bodyPr/>
          <a:lstStyle>
            <a:lvl1pPr>
              <a:defRPr/>
            </a:lvl1pPr>
          </a:lstStyle>
          <a:p>
            <a:pPr>
              <a:defRPr/>
            </a:pPr>
            <a:fld id="{C786EC03-218D-B241-8A03-0B248972888D}"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CE69ECC5-32E6-7C4D-B58D-B184929ED24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76798" y="609600"/>
            <a:ext cx="7486253" cy="114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42950" y="1981200"/>
            <a:ext cx="84201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1" y="6294438"/>
            <a:ext cx="4445661" cy="457200"/>
          </a:xfrm>
          <a:prstGeom prst="rect">
            <a:avLst/>
          </a:prstGeom>
          <a:noFill/>
          <a:ln w="9525">
            <a:noFill/>
            <a:miter lim="800000"/>
            <a:headEnd/>
            <a:tailEnd/>
          </a:ln>
        </p:spPr>
        <p:txBody>
          <a:bodyPr vert="horz" wrap="square" lIns="0" tIns="45720" rIns="91440" bIns="45720" numCol="1" anchor="b" anchorCtr="0" compatLnSpc="1">
            <a:prstTxWarp prst="textNoShape">
              <a:avLst/>
            </a:prstTxWarp>
          </a:bodyPr>
          <a:lstStyle>
            <a:lvl1pPr algn="ctr" eaLnBrk="0" hangingPunct="0">
              <a:lnSpc>
                <a:spcPct val="100000"/>
              </a:lnSpc>
              <a:spcBef>
                <a:spcPct val="0"/>
              </a:spcBef>
              <a:defRPr sz="1000" b="1">
                <a:solidFill>
                  <a:srgbClr val="B4BAC0"/>
                </a:solidFill>
              </a:defRPr>
            </a:lvl1pPr>
          </a:lstStyle>
          <a:p>
            <a:pPr>
              <a:defRPr/>
            </a:pPr>
            <a:r>
              <a:rPr lang="en-GB"/>
              <a:t>Copyright © University of Science, VNUHCM - APCS 2023</a:t>
            </a:r>
          </a:p>
        </p:txBody>
      </p:sp>
      <p:sp>
        <p:nvSpPr>
          <p:cNvPr id="1030" name="Rectangle 6"/>
          <p:cNvSpPr>
            <a:spLocks noGrp="1" noChangeArrowheads="1"/>
          </p:cNvSpPr>
          <p:nvPr>
            <p:ph type="sldNum" sz="quarter" idx="4"/>
          </p:nvPr>
        </p:nvSpPr>
        <p:spPr bwMode="auto">
          <a:xfrm>
            <a:off x="7099300" y="6343650"/>
            <a:ext cx="2063750" cy="457200"/>
          </a:xfrm>
          <a:prstGeom prst="rect">
            <a:avLst/>
          </a:prstGeom>
          <a:noFill/>
          <a:ln w="9525">
            <a:noFill/>
            <a:miter lim="800000"/>
            <a:headEnd/>
            <a:tailEnd/>
          </a:ln>
        </p:spPr>
        <p:txBody>
          <a:bodyPr vert="horz" wrap="square" lIns="91440" tIns="45720" rIns="0" bIns="45720" numCol="1" anchor="b" anchorCtr="0" compatLnSpc="1">
            <a:prstTxWarp prst="textNoShape">
              <a:avLst/>
            </a:prstTxWarp>
          </a:bodyPr>
          <a:lstStyle>
            <a:lvl1pPr algn="r" eaLnBrk="0" hangingPunct="0">
              <a:lnSpc>
                <a:spcPct val="100000"/>
              </a:lnSpc>
              <a:spcBef>
                <a:spcPct val="0"/>
              </a:spcBef>
              <a:defRPr sz="1000" b="1">
                <a:solidFill>
                  <a:srgbClr val="B4BAC0"/>
                </a:solidFill>
              </a:defRPr>
            </a:lvl1pPr>
          </a:lstStyle>
          <a:p>
            <a:pPr>
              <a:defRPr/>
            </a:pPr>
            <a:fld id="{41D5AED7-D311-9D4C-8662-BB2116F4D162}" type="slidenum">
              <a:rPr lang="en-US"/>
              <a:pPr>
                <a:defRPr/>
              </a:pPr>
              <a:t>‹#›</a:t>
            </a:fld>
            <a:endParaRPr lang="en-US"/>
          </a:p>
        </p:txBody>
      </p:sp>
      <p:pic>
        <p:nvPicPr>
          <p:cNvPr id="2" name="Picture 12" descr="txt slide - light - ecl logo_low"/>
          <p:cNvPicPr>
            <a:picLocks noChangeAspect="1" noChangeArrowheads="1"/>
          </p:cNvPicPr>
          <p:nvPr/>
        </p:nvPicPr>
        <p:blipFill>
          <a:blip r:embed="rId16"/>
          <a:srcRect/>
          <a:stretch>
            <a:fillRect/>
          </a:stretch>
        </p:blipFill>
        <p:spPr bwMode="auto">
          <a:xfrm>
            <a:off x="0" y="0"/>
            <a:ext cx="9906000" cy="355600"/>
          </a:xfrm>
          <a:prstGeom prst="rect">
            <a:avLst/>
          </a:prstGeom>
          <a:noFill/>
          <a:ln w="9525">
            <a:noFill/>
            <a:miter lim="800000"/>
            <a:headEnd/>
            <a:tailEnd/>
          </a:ln>
        </p:spPr>
      </p:pic>
      <p:pic>
        <p:nvPicPr>
          <p:cNvPr id="10" name="Image 1" descr="logo2.png">
            <a:extLst>
              <a:ext uri="{FF2B5EF4-FFF2-40B4-BE49-F238E27FC236}">
                <a16:creationId xmlns:a16="http://schemas.microsoft.com/office/drawing/2014/main" id="{0F5E58E2-C9BC-3E44-BF96-7C9F1E607CC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1599" y="366453"/>
            <a:ext cx="1282700" cy="395547"/>
          </a:xfrm>
          <a:prstGeom prst="rect">
            <a:avLst/>
          </a:prstGeom>
        </p:spPr>
      </p:pic>
    </p:spTree>
  </p:cSld>
  <p:clrMap bg1="lt1" tx1="dk1" bg2="lt2" tx2="dk2" accent1="accent1" accent2="accent2" accent3="accent3" accent4="accent4" accent5="accent5" accent6="accent6" hlink="hlink" folHlink="folHlink"/>
  <p:sldLayoutIdLst>
    <p:sldLayoutId id="2147483692"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sldNum="0" hdr="0" dt="0"/>
  <p:txStyles>
    <p:titleStyle>
      <a:lvl1pPr algn="r" rtl="0" eaLnBrk="0" fontAlgn="base" hangingPunct="0">
        <a:spcBef>
          <a:spcPct val="0"/>
        </a:spcBef>
        <a:spcAft>
          <a:spcPct val="0"/>
        </a:spcAft>
        <a:defRPr sz="3000">
          <a:solidFill>
            <a:srgbClr val="003366"/>
          </a:solidFill>
          <a:latin typeface="+mj-lt"/>
          <a:ea typeface="+mj-ea"/>
          <a:cs typeface="+mj-cs"/>
        </a:defRPr>
      </a:lvl1pPr>
      <a:lvl2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2pPr>
      <a:lvl3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3pPr>
      <a:lvl4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4pPr>
      <a:lvl5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5pPr>
      <a:lvl6pPr marL="457200" algn="l" rtl="0" fontAlgn="base">
        <a:spcBef>
          <a:spcPct val="0"/>
        </a:spcBef>
        <a:spcAft>
          <a:spcPct val="0"/>
        </a:spcAft>
        <a:defRPr sz="3000">
          <a:solidFill>
            <a:srgbClr val="003366"/>
          </a:solidFill>
          <a:latin typeface="Arial" charset="0"/>
          <a:ea typeface="ＭＳ Ｐゴシック" charset="-128"/>
          <a:cs typeface="ＭＳ Ｐゴシック" charset="-128"/>
        </a:defRPr>
      </a:lvl6pPr>
      <a:lvl7pPr marL="914400" algn="l" rtl="0" fontAlgn="base">
        <a:spcBef>
          <a:spcPct val="0"/>
        </a:spcBef>
        <a:spcAft>
          <a:spcPct val="0"/>
        </a:spcAft>
        <a:defRPr sz="3000">
          <a:solidFill>
            <a:srgbClr val="003366"/>
          </a:solidFill>
          <a:latin typeface="Arial" charset="0"/>
          <a:ea typeface="ＭＳ Ｐゴシック" charset="-128"/>
          <a:cs typeface="ＭＳ Ｐゴシック" charset="-128"/>
        </a:defRPr>
      </a:lvl7pPr>
      <a:lvl8pPr marL="1371600" algn="l" rtl="0" fontAlgn="base">
        <a:spcBef>
          <a:spcPct val="0"/>
        </a:spcBef>
        <a:spcAft>
          <a:spcPct val="0"/>
        </a:spcAft>
        <a:defRPr sz="3000">
          <a:solidFill>
            <a:srgbClr val="003366"/>
          </a:solidFill>
          <a:latin typeface="Arial" charset="0"/>
          <a:ea typeface="ＭＳ Ｐゴシック" charset="-128"/>
          <a:cs typeface="ＭＳ Ｐゴシック" charset="-128"/>
        </a:defRPr>
      </a:lvl8pPr>
      <a:lvl9pPr marL="1828800" algn="l" rtl="0" fontAlgn="base">
        <a:spcBef>
          <a:spcPct val="0"/>
        </a:spcBef>
        <a:spcAft>
          <a:spcPct val="0"/>
        </a:spcAft>
        <a:defRPr sz="3000">
          <a:solidFill>
            <a:srgbClr val="003366"/>
          </a:solidFill>
          <a:latin typeface="Arial" charset="0"/>
          <a:ea typeface="ＭＳ Ｐゴシック" charset="-128"/>
          <a:cs typeface="ＭＳ Ｐゴシック" charset="-128"/>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hyperlink" Target="https://refactoring.guru/design-patterns/observer" TargetMode="Externa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1666" y="1531358"/>
            <a:ext cx="7772400" cy="936625"/>
          </a:xfrm>
        </p:spPr>
        <p:txBody>
          <a:bodyPr/>
          <a:lstStyle/>
          <a:p>
            <a:pPr algn="ctr"/>
            <a:r>
              <a:rPr lang="en-US" sz="3200" b="1"/>
              <a:t>CS202 – Observer pattern</a:t>
            </a:r>
          </a:p>
        </p:txBody>
      </p:sp>
      <p:sp>
        <p:nvSpPr>
          <p:cNvPr id="3" name="Subtitle 2"/>
          <p:cNvSpPr>
            <a:spLocks noGrp="1"/>
          </p:cNvSpPr>
          <p:nvPr>
            <p:ph type="subTitle" idx="1"/>
          </p:nvPr>
        </p:nvSpPr>
        <p:spPr>
          <a:xfrm>
            <a:off x="1259174" y="2616746"/>
            <a:ext cx="7899614" cy="2194581"/>
          </a:xfrm>
        </p:spPr>
        <p:txBody>
          <a:bodyPr/>
          <a:lstStyle/>
          <a:p>
            <a:pPr algn="r"/>
            <a:r>
              <a:rPr lang="en-US" sz="1600" b="1"/>
              <a:t>APCS 2025</a:t>
            </a:r>
          </a:p>
          <a:p>
            <a:pPr algn="r"/>
            <a:r>
              <a:rPr lang="en-US" sz="1600" b="1"/>
              <a:t>Nguyễn </a:t>
            </a:r>
            <a:r>
              <a:rPr lang="en-US" sz="1600" b="1" err="1"/>
              <a:t>Đình</a:t>
            </a:r>
            <a:r>
              <a:rPr lang="en-US" sz="1600" b="1"/>
              <a:t> Minh Huy - 25125083</a:t>
            </a:r>
          </a:p>
          <a:p>
            <a:pPr algn="r"/>
            <a:r>
              <a:rPr lang="en-US" sz="1600" b="1" err="1"/>
              <a:t>Trần</a:t>
            </a:r>
            <a:r>
              <a:rPr lang="en-US" sz="1600" b="1"/>
              <a:t> Gia Huy - 25125084</a:t>
            </a:r>
            <a:endParaRPr lang="en-US" sz="1600"/>
          </a:p>
          <a:p>
            <a:pPr algn="r"/>
            <a:endParaRPr lang="en-US" sz="1600"/>
          </a:p>
          <a:p>
            <a:pPr algn="r"/>
            <a:endParaRPr lang="en-US" sz="1600" b="1"/>
          </a:p>
          <a:p>
            <a:pPr algn="r"/>
            <a:r>
              <a:rPr lang="en-US" sz="1600"/>
              <a:t> </a:t>
            </a:r>
          </a:p>
        </p:txBody>
      </p:sp>
    </p:spTree>
    <p:extLst>
      <p:ext uri="{BB962C8B-B14F-4D97-AF65-F5344CB8AC3E}">
        <p14:creationId xmlns:p14="http://schemas.microsoft.com/office/powerpoint/2010/main" val="3894497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385D-7C29-B34E-A5EB-424CB3C86638}"/>
              </a:ext>
            </a:extLst>
          </p:cNvPr>
          <p:cNvSpPr>
            <a:spLocks noGrp="1"/>
          </p:cNvSpPr>
          <p:nvPr>
            <p:ph type="title"/>
          </p:nvPr>
        </p:nvSpPr>
        <p:spPr>
          <a:xfrm>
            <a:off x="782506" y="1019175"/>
            <a:ext cx="8420100" cy="909637"/>
          </a:xfrm>
        </p:spPr>
        <p:txBody>
          <a:bodyPr/>
          <a:lstStyle/>
          <a:p>
            <a:r>
              <a:rPr lang="en-US" cap="none"/>
              <a:t>Agenda</a:t>
            </a:r>
          </a:p>
        </p:txBody>
      </p:sp>
      <p:sp>
        <p:nvSpPr>
          <p:cNvPr id="3" name="Text Placeholder 2">
            <a:extLst>
              <a:ext uri="{FF2B5EF4-FFF2-40B4-BE49-F238E27FC236}">
                <a16:creationId xmlns:a16="http://schemas.microsoft.com/office/drawing/2014/main" id="{1DDD2331-C1D4-4642-A432-504787CC7B87}"/>
              </a:ext>
            </a:extLst>
          </p:cNvPr>
          <p:cNvSpPr>
            <a:spLocks noGrp="1"/>
          </p:cNvSpPr>
          <p:nvPr>
            <p:ph type="body" idx="1"/>
          </p:nvPr>
        </p:nvSpPr>
        <p:spPr>
          <a:xfrm>
            <a:off x="782506" y="1928812"/>
            <a:ext cx="8420100" cy="3390440"/>
          </a:xfrm>
        </p:spPr>
        <p:txBody>
          <a:bodyPr anchor="t"/>
          <a:lstStyle/>
          <a:p>
            <a:pPr marL="457200" indent="-457200">
              <a:buAutoNum type="arabicPeriod"/>
            </a:pPr>
            <a:r>
              <a:rPr lang="en-US"/>
              <a:t>Real-world problem</a:t>
            </a:r>
          </a:p>
          <a:p>
            <a:pPr marL="457200" indent="-457200">
              <a:buAutoNum type="arabicPeriod"/>
            </a:pPr>
            <a:r>
              <a:rPr lang="en-US"/>
              <a:t>Naïve solution &amp; Drawback</a:t>
            </a:r>
          </a:p>
          <a:p>
            <a:pPr marL="457200" indent="-457200">
              <a:buAutoNum type="arabicPeriod"/>
            </a:pPr>
            <a:r>
              <a:rPr lang="en-US"/>
              <a:t>Observer pattern</a:t>
            </a:r>
          </a:p>
          <a:p>
            <a:pPr marL="457200" indent="-457200">
              <a:buAutoNum type="arabicPeriod"/>
            </a:pPr>
            <a:r>
              <a:rPr lang="en-US"/>
              <a:t>Class diagram</a:t>
            </a:r>
          </a:p>
          <a:p>
            <a:pPr marL="457200" indent="-457200">
              <a:buAutoNum type="arabicPeriod"/>
            </a:pPr>
            <a:r>
              <a:rPr lang="en-US"/>
              <a:t>Code implementation &amp; Demo</a:t>
            </a:r>
          </a:p>
          <a:p>
            <a:pPr marL="457200" indent="-457200">
              <a:buFontTx/>
              <a:buAutoNum type="arabicPeriod"/>
            </a:pPr>
            <a:r>
              <a:rPr lang="en-US"/>
              <a:t>Usage with Interpreter and Mediator design pattern</a:t>
            </a:r>
          </a:p>
          <a:p>
            <a:pPr marL="457200" indent="-457200">
              <a:buAutoNum type="arabicPeriod"/>
            </a:pPr>
            <a:r>
              <a:rPr lang="en-US"/>
              <a:t>Pros &amp; Cons</a:t>
            </a:r>
          </a:p>
          <a:p>
            <a:pPr marL="457200" indent="-457200">
              <a:buAutoNum type="arabicPeriod"/>
            </a:pPr>
            <a:r>
              <a:rPr lang="en-US"/>
              <a:t>Quiz</a:t>
            </a:r>
          </a:p>
          <a:p>
            <a:pPr marL="457200" indent="-457200">
              <a:buAutoNum type="arabicPeriod"/>
            </a:pPr>
            <a:r>
              <a:rPr lang="en-US"/>
              <a:t>Conclusion</a:t>
            </a:r>
          </a:p>
          <a:p>
            <a:pPr marL="457200" indent="-457200">
              <a:buAutoNum type="arabicPeriod"/>
            </a:pPr>
            <a:endParaRPr lang="en-US"/>
          </a:p>
        </p:txBody>
      </p:sp>
      <p:sp>
        <p:nvSpPr>
          <p:cNvPr id="4" name="Footer Placeholder 3">
            <a:extLst>
              <a:ext uri="{FF2B5EF4-FFF2-40B4-BE49-F238E27FC236}">
                <a16:creationId xmlns:a16="http://schemas.microsoft.com/office/drawing/2014/main" id="{EEA5788F-78C0-E94D-AECC-7E69F7F7F35C}"/>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242684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BF7F2-AD27-CEE1-316E-C4A10454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769B0-1DCE-26BF-B086-3C6B69167FEE}"/>
              </a:ext>
            </a:extLst>
          </p:cNvPr>
          <p:cNvSpPr>
            <a:spLocks noGrp="1"/>
          </p:cNvSpPr>
          <p:nvPr>
            <p:ph type="title"/>
          </p:nvPr>
        </p:nvSpPr>
        <p:spPr>
          <a:xfrm>
            <a:off x="742950" y="802688"/>
            <a:ext cx="8420100" cy="909637"/>
          </a:xfrm>
        </p:spPr>
        <p:txBody>
          <a:bodyPr/>
          <a:lstStyle/>
          <a:p>
            <a:r>
              <a:rPr lang="en-US" cap="none"/>
              <a:t>Real-world problem</a:t>
            </a:r>
          </a:p>
        </p:txBody>
      </p:sp>
      <p:sp>
        <p:nvSpPr>
          <p:cNvPr id="3" name="Text Placeholder 2">
            <a:extLst>
              <a:ext uri="{FF2B5EF4-FFF2-40B4-BE49-F238E27FC236}">
                <a16:creationId xmlns:a16="http://schemas.microsoft.com/office/drawing/2014/main" id="{69FEBC06-E4D0-1AD9-0752-171E7C6541CD}"/>
              </a:ext>
            </a:extLst>
          </p:cNvPr>
          <p:cNvSpPr>
            <a:spLocks noGrp="1"/>
          </p:cNvSpPr>
          <p:nvPr>
            <p:ph type="body" idx="1"/>
          </p:nvPr>
        </p:nvSpPr>
        <p:spPr>
          <a:xfrm>
            <a:off x="742950" y="1753098"/>
            <a:ext cx="8420100" cy="1675901"/>
          </a:xfrm>
        </p:spPr>
        <p:txBody>
          <a:bodyPr anchor="t"/>
          <a:lstStyle/>
          <a:p>
            <a:r>
              <a:rPr lang="en-US"/>
              <a:t>We are building a bank management system. We need to store users’ accounts and let them deposit their money into their accounts. However, when we call the deposit, aside from adding money, we are required to do other procedures such as logging, notifying, emailing,… These are from other services that we don’t have full control.</a:t>
            </a:r>
          </a:p>
        </p:txBody>
      </p:sp>
      <p:sp>
        <p:nvSpPr>
          <p:cNvPr id="4" name="Footer Placeholder 3">
            <a:extLst>
              <a:ext uri="{FF2B5EF4-FFF2-40B4-BE49-F238E27FC236}">
                <a16:creationId xmlns:a16="http://schemas.microsoft.com/office/drawing/2014/main" id="{6523EC1B-4554-E4E6-070D-B707B2989296}"/>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4017797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6F3F-2FE6-7CCC-6314-0E051F3C8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9AFAB-954F-F7AC-3234-16DE0220E84C}"/>
              </a:ext>
            </a:extLst>
          </p:cNvPr>
          <p:cNvSpPr>
            <a:spLocks noGrp="1"/>
          </p:cNvSpPr>
          <p:nvPr>
            <p:ph type="title"/>
          </p:nvPr>
        </p:nvSpPr>
        <p:spPr>
          <a:xfrm>
            <a:off x="742950" y="802688"/>
            <a:ext cx="8420100" cy="909637"/>
          </a:xfrm>
        </p:spPr>
        <p:txBody>
          <a:bodyPr/>
          <a:lstStyle/>
          <a:p>
            <a:r>
              <a:rPr lang="en-US" cap="none"/>
              <a:t>Naïve solution</a:t>
            </a:r>
          </a:p>
        </p:txBody>
      </p:sp>
      <p:sp>
        <p:nvSpPr>
          <p:cNvPr id="4" name="Footer Placeholder 3">
            <a:extLst>
              <a:ext uri="{FF2B5EF4-FFF2-40B4-BE49-F238E27FC236}">
                <a16:creationId xmlns:a16="http://schemas.microsoft.com/office/drawing/2014/main" id="{BB856EA7-FF8B-7A79-FC3D-72A2D9E21E86}"/>
              </a:ext>
            </a:extLst>
          </p:cNvPr>
          <p:cNvSpPr>
            <a:spLocks noGrp="1"/>
          </p:cNvSpPr>
          <p:nvPr>
            <p:ph type="ftr" sz="quarter" idx="10"/>
          </p:nvPr>
        </p:nvSpPr>
        <p:spPr/>
        <p:txBody>
          <a:bodyPr/>
          <a:lstStyle/>
          <a:p>
            <a:pPr>
              <a:defRPr/>
            </a:pPr>
            <a:r>
              <a:rPr lang="en-GB"/>
              <a:t>Copyright © University of Science, VNUHCM - APCS 2023</a:t>
            </a:r>
          </a:p>
        </p:txBody>
      </p:sp>
      <p:pic>
        <p:nvPicPr>
          <p:cNvPr id="8" name="Picture 7">
            <a:extLst>
              <a:ext uri="{FF2B5EF4-FFF2-40B4-BE49-F238E27FC236}">
                <a16:creationId xmlns:a16="http://schemas.microsoft.com/office/drawing/2014/main" id="{7D777766-AEEB-AED9-3168-35DC60158E2D}"/>
              </a:ext>
            </a:extLst>
          </p:cNvPr>
          <p:cNvPicPr>
            <a:picLocks noChangeAspect="1"/>
          </p:cNvPicPr>
          <p:nvPr/>
        </p:nvPicPr>
        <p:blipFill>
          <a:blip r:embed="rId2"/>
          <a:stretch>
            <a:fillRect/>
          </a:stretch>
        </p:blipFill>
        <p:spPr>
          <a:xfrm>
            <a:off x="4560552" y="864650"/>
            <a:ext cx="5094725" cy="5277926"/>
          </a:xfrm>
          <a:prstGeom prst="rect">
            <a:avLst/>
          </a:prstGeom>
        </p:spPr>
      </p:pic>
      <p:sp>
        <p:nvSpPr>
          <p:cNvPr id="11" name="Text Placeholder 2">
            <a:extLst>
              <a:ext uri="{FF2B5EF4-FFF2-40B4-BE49-F238E27FC236}">
                <a16:creationId xmlns:a16="http://schemas.microsoft.com/office/drawing/2014/main" id="{B391496A-ACD0-63A3-A058-7872E16D95C0}"/>
              </a:ext>
            </a:extLst>
          </p:cNvPr>
          <p:cNvSpPr>
            <a:spLocks noGrp="1"/>
          </p:cNvSpPr>
          <p:nvPr>
            <p:ph type="body" idx="1"/>
          </p:nvPr>
        </p:nvSpPr>
        <p:spPr>
          <a:xfrm>
            <a:off x="742950" y="1753098"/>
            <a:ext cx="3702712" cy="1675901"/>
          </a:xfrm>
        </p:spPr>
        <p:txBody>
          <a:bodyPr anchor="t"/>
          <a:lstStyle/>
          <a:p>
            <a:r>
              <a:rPr lang="en-US"/>
              <a:t>When </a:t>
            </a:r>
            <a:r>
              <a:rPr lang="en-US" err="1"/>
              <a:t>BankAccount</a:t>
            </a:r>
            <a:r>
              <a:rPr lang="en-US"/>
              <a:t>::deposit is called, it invokes all the required services, which are saved as pointers.</a:t>
            </a:r>
          </a:p>
        </p:txBody>
      </p:sp>
    </p:spTree>
    <p:extLst>
      <p:ext uri="{BB962C8B-B14F-4D97-AF65-F5344CB8AC3E}">
        <p14:creationId xmlns:p14="http://schemas.microsoft.com/office/powerpoint/2010/main" val="2901257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D5C7-0C64-3277-53CF-DDF78DE9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4ABF-5E91-3E01-ECD7-B3766D21BA06}"/>
              </a:ext>
            </a:extLst>
          </p:cNvPr>
          <p:cNvSpPr>
            <a:spLocks noGrp="1"/>
          </p:cNvSpPr>
          <p:nvPr>
            <p:ph type="title"/>
          </p:nvPr>
        </p:nvSpPr>
        <p:spPr>
          <a:xfrm>
            <a:off x="742950" y="802688"/>
            <a:ext cx="8420100" cy="909637"/>
          </a:xfrm>
        </p:spPr>
        <p:txBody>
          <a:bodyPr/>
          <a:lstStyle/>
          <a:p>
            <a:r>
              <a:rPr lang="en-US" cap="none"/>
              <a:t>Naïve solution - Drawback</a:t>
            </a:r>
          </a:p>
        </p:txBody>
      </p:sp>
      <p:sp>
        <p:nvSpPr>
          <p:cNvPr id="4" name="Footer Placeholder 3">
            <a:extLst>
              <a:ext uri="{FF2B5EF4-FFF2-40B4-BE49-F238E27FC236}">
                <a16:creationId xmlns:a16="http://schemas.microsoft.com/office/drawing/2014/main" id="{B667C5D2-E4D5-3750-FC53-51E4C3EF1D7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EC843E8-4006-A965-3512-E864E0C24662}"/>
              </a:ext>
            </a:extLst>
          </p:cNvPr>
          <p:cNvSpPr>
            <a:spLocks noGrp="1"/>
          </p:cNvSpPr>
          <p:nvPr>
            <p:ph type="body" idx="1"/>
          </p:nvPr>
        </p:nvSpPr>
        <p:spPr>
          <a:xfrm>
            <a:off x="742950" y="1753098"/>
            <a:ext cx="8420100" cy="2455108"/>
          </a:xfrm>
        </p:spPr>
        <p:txBody>
          <a:bodyPr anchor="t"/>
          <a:lstStyle/>
          <a:p>
            <a:r>
              <a:rPr lang="en-US"/>
              <a:t>However, there are some problems with this approach:</a:t>
            </a:r>
          </a:p>
          <a:p>
            <a:pPr marL="342900" indent="-342900">
              <a:buFontTx/>
              <a:buChar char="-"/>
            </a:pPr>
            <a:r>
              <a:rPr lang="en-US"/>
              <a:t>Tight coupling: The </a:t>
            </a:r>
            <a:r>
              <a:rPr lang="en-US" err="1"/>
              <a:t>BankAccount</a:t>
            </a:r>
            <a:r>
              <a:rPr lang="en-US"/>
              <a:t> must know the exact concrete types of services and their specific update methods.</a:t>
            </a:r>
          </a:p>
          <a:p>
            <a:pPr marL="342900" indent="-342900">
              <a:buFontTx/>
              <a:buChar char="-"/>
            </a:pPr>
            <a:r>
              <a:rPr lang="en-US"/>
              <a:t>Violates the Open-Closed Principle (OCP): If we want to change or add a service, we must modify the code in </a:t>
            </a:r>
            <a:r>
              <a:rPr lang="en-US" err="1"/>
              <a:t>BankAccount</a:t>
            </a:r>
            <a:r>
              <a:rPr lang="en-US"/>
              <a:t>.</a:t>
            </a:r>
          </a:p>
          <a:p>
            <a:pPr marL="342900" indent="-342900">
              <a:buFontTx/>
              <a:buChar char="-"/>
            </a:pPr>
            <a:r>
              <a:rPr lang="en-US"/>
              <a:t>Rigid and hard to scale: Changing and modifying either the service or the </a:t>
            </a:r>
            <a:r>
              <a:rPr lang="en-US" err="1"/>
              <a:t>BankAccount</a:t>
            </a:r>
            <a:r>
              <a:rPr lang="en-US"/>
              <a:t> are much more complex.</a:t>
            </a:r>
          </a:p>
        </p:txBody>
      </p:sp>
    </p:spTree>
    <p:extLst>
      <p:ext uri="{BB962C8B-B14F-4D97-AF65-F5344CB8AC3E}">
        <p14:creationId xmlns:p14="http://schemas.microsoft.com/office/powerpoint/2010/main" val="173692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B0B59-A054-7182-8CB2-C720083D240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20C5DA-ED72-38DB-6354-4983E35E7B72}"/>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B3E1CCEF-30AB-5F9F-31EB-A456B327442E}"/>
              </a:ext>
            </a:extLst>
          </p:cNvPr>
          <p:cNvSpPr>
            <a:spLocks noGrp="1"/>
          </p:cNvSpPr>
          <p:nvPr>
            <p:ph type="body" idx="1"/>
          </p:nvPr>
        </p:nvSpPr>
        <p:spPr>
          <a:xfrm>
            <a:off x="742950" y="1753098"/>
            <a:ext cx="8420100" cy="2051986"/>
          </a:xfrm>
        </p:spPr>
        <p:txBody>
          <a:bodyPr anchor="t"/>
          <a:lstStyle/>
          <a:p>
            <a:r>
              <a:rPr lang="en-US"/>
              <a:t>We notice that the services have similar parameters, but not exactly the same. If we have a general structure, we </a:t>
            </a:r>
            <a:r>
              <a:rPr lang="en-US" u="sng"/>
              <a:t>won’t need to know</a:t>
            </a:r>
            <a:r>
              <a:rPr lang="en-US"/>
              <a:t> what each of them need.</a:t>
            </a:r>
          </a:p>
          <a:p>
            <a:r>
              <a:rPr lang="en-US"/>
              <a:t>Another thing is that the </a:t>
            </a:r>
            <a:r>
              <a:rPr lang="en-US" err="1"/>
              <a:t>BankAccount</a:t>
            </a:r>
            <a:r>
              <a:rPr lang="en-US"/>
              <a:t> </a:t>
            </a:r>
            <a:r>
              <a:rPr lang="en-US" u="sng"/>
              <a:t>don’t care what we need to call</a:t>
            </a:r>
            <a:r>
              <a:rPr lang="en-US"/>
              <a:t> as they don’t need the result from invoking the services. =&gt; We only need a list of services to call when depositing.</a:t>
            </a:r>
          </a:p>
        </p:txBody>
      </p:sp>
      <p:sp>
        <p:nvSpPr>
          <p:cNvPr id="6" name="Text Placeholder 2">
            <a:extLst>
              <a:ext uri="{FF2B5EF4-FFF2-40B4-BE49-F238E27FC236}">
                <a16:creationId xmlns:a16="http://schemas.microsoft.com/office/drawing/2014/main" id="{AE67A9EA-8FFE-261C-6A53-F63D9DF0A3BB}"/>
              </a:ext>
            </a:extLst>
          </p:cNvPr>
          <p:cNvSpPr txBox="1">
            <a:spLocks/>
          </p:cNvSpPr>
          <p:nvPr/>
        </p:nvSpPr>
        <p:spPr bwMode="auto">
          <a:xfrm>
            <a:off x="742950" y="4031226"/>
            <a:ext cx="84201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t>=&gt; Observer pattern</a:t>
            </a:r>
          </a:p>
        </p:txBody>
      </p:sp>
    </p:spTree>
    <p:extLst>
      <p:ext uri="{BB962C8B-B14F-4D97-AF65-F5344CB8AC3E}">
        <p14:creationId xmlns:p14="http://schemas.microsoft.com/office/powerpoint/2010/main" val="285378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45163-B786-FFF3-56E2-5966B5CEA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36526-F778-52D6-4D19-4DEC4F4376BB}"/>
              </a:ext>
            </a:extLst>
          </p:cNvPr>
          <p:cNvSpPr>
            <a:spLocks noGrp="1"/>
          </p:cNvSpPr>
          <p:nvPr>
            <p:ph type="title"/>
          </p:nvPr>
        </p:nvSpPr>
        <p:spPr>
          <a:xfrm>
            <a:off x="742950" y="802688"/>
            <a:ext cx="8816686" cy="909637"/>
          </a:xfrm>
        </p:spPr>
        <p:txBody>
          <a:bodyPr/>
          <a:lstStyle/>
          <a:p>
            <a:r>
              <a:rPr lang="en-US" cap="none"/>
              <a:t>Observer Design Pattern - Intuition</a:t>
            </a:r>
          </a:p>
        </p:txBody>
      </p:sp>
      <p:sp>
        <p:nvSpPr>
          <p:cNvPr id="4" name="Footer Placeholder 3">
            <a:extLst>
              <a:ext uri="{FF2B5EF4-FFF2-40B4-BE49-F238E27FC236}">
                <a16:creationId xmlns:a16="http://schemas.microsoft.com/office/drawing/2014/main" id="{C99285D9-1DFB-3B3E-7FF7-832190C7A60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C6BB59D6-48DC-12D6-809C-4089EEDB18C6}"/>
              </a:ext>
            </a:extLst>
          </p:cNvPr>
          <p:cNvSpPr>
            <a:spLocks noGrp="1"/>
          </p:cNvSpPr>
          <p:nvPr>
            <p:ph type="body" idx="1"/>
          </p:nvPr>
        </p:nvSpPr>
        <p:spPr>
          <a:xfrm>
            <a:off x="742950" y="1916438"/>
            <a:ext cx="8420100" cy="2996707"/>
          </a:xfrm>
        </p:spPr>
        <p:txBody>
          <a:bodyPr anchor="t"/>
          <a:lstStyle/>
          <a:p>
            <a:r>
              <a:rPr lang="en-US"/>
              <a:t>Imagine a popular </a:t>
            </a:r>
            <a:r>
              <a:rPr lang="en-US" err="1"/>
              <a:t>Youtube</a:t>
            </a:r>
            <a:r>
              <a:rPr lang="en-US"/>
              <a:t> channel or a digital newsletter.</a:t>
            </a:r>
          </a:p>
          <a:p>
            <a:pPr marL="342900" indent="-342900">
              <a:buFont typeface="Calibri"/>
              <a:buChar char="-"/>
            </a:pPr>
            <a:r>
              <a:rPr lang="en-US"/>
              <a:t>Subscribers should not have to constantly ask, "Is there a new video?" or "Is there a new edition?".</a:t>
            </a:r>
          </a:p>
          <a:p>
            <a:pPr marL="342900" indent="-342900">
              <a:buFont typeface="Calibri"/>
              <a:buChar char="-"/>
            </a:pPr>
            <a:r>
              <a:rPr lang="en-US"/>
              <a:t>The Publisher maintains a list of Subscribers. When new content is published, the Publisher automatically pushes a notification to everyone on that list.</a:t>
            </a:r>
          </a:p>
          <a:p>
            <a:pPr marL="342900" indent="-342900">
              <a:buFont typeface="Calibri"/>
              <a:buChar char="-"/>
            </a:pPr>
            <a:r>
              <a:rPr lang="en-US"/>
              <a:t>The pattern shifts the responsibility of tracking state changes from the data consumers to the data source, ensuring instant updates without wasteful continuous checks.</a:t>
            </a:r>
          </a:p>
        </p:txBody>
      </p:sp>
      <p:sp>
        <p:nvSpPr>
          <p:cNvPr id="9" name="Text Placeholder 2">
            <a:extLst>
              <a:ext uri="{FF2B5EF4-FFF2-40B4-BE49-F238E27FC236}">
                <a16:creationId xmlns:a16="http://schemas.microsoft.com/office/drawing/2014/main" id="{80EDB6E5-6C32-235B-E355-0308459CDD34}"/>
              </a:ext>
            </a:extLst>
          </p:cNvPr>
          <p:cNvSpPr txBox="1">
            <a:spLocks/>
          </p:cNvSpPr>
          <p:nvPr/>
        </p:nvSpPr>
        <p:spPr bwMode="auto">
          <a:xfrm>
            <a:off x="732845" y="5027323"/>
            <a:ext cx="8420100" cy="11078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a:t>In Observer Design Pattern:</a:t>
            </a:r>
          </a:p>
          <a:p>
            <a:pPr algn="ctr">
              <a:lnSpc>
                <a:spcPct val="100000"/>
              </a:lnSpc>
            </a:pPr>
            <a:r>
              <a:rPr lang="en-US" b="1" kern="0"/>
              <a:t>Subject = Publisher  ;  Observer = Subscriber</a:t>
            </a:r>
          </a:p>
          <a:p>
            <a:pPr>
              <a:lnSpc>
                <a:spcPct val="100000"/>
              </a:lnSpc>
            </a:pPr>
            <a:endParaRPr lang="en-US" b="1" kern="0"/>
          </a:p>
        </p:txBody>
      </p:sp>
    </p:spTree>
    <p:extLst>
      <p:ext uri="{BB962C8B-B14F-4D97-AF65-F5344CB8AC3E}">
        <p14:creationId xmlns:p14="http://schemas.microsoft.com/office/powerpoint/2010/main" val="226653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8DE3-E827-6B2A-6C54-5F335E538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EF067-8D38-4158-EF84-F543E6923FD8}"/>
              </a:ext>
            </a:extLst>
          </p:cNvPr>
          <p:cNvSpPr>
            <a:spLocks noGrp="1"/>
          </p:cNvSpPr>
          <p:nvPr>
            <p:ph type="title"/>
          </p:nvPr>
        </p:nvSpPr>
        <p:spPr>
          <a:xfrm>
            <a:off x="742950" y="802688"/>
            <a:ext cx="8816686" cy="909637"/>
          </a:xfrm>
        </p:spPr>
        <p:txBody>
          <a:bodyPr/>
          <a:lstStyle/>
          <a:p>
            <a:r>
              <a:rPr lang="en-US" cap="none"/>
              <a:t>General Class Diagram</a:t>
            </a:r>
          </a:p>
        </p:txBody>
      </p:sp>
      <p:sp>
        <p:nvSpPr>
          <p:cNvPr id="4" name="Footer Placeholder 3">
            <a:extLst>
              <a:ext uri="{FF2B5EF4-FFF2-40B4-BE49-F238E27FC236}">
                <a16:creationId xmlns:a16="http://schemas.microsoft.com/office/drawing/2014/main" id="{5A4B71DF-6B6F-EB2F-33D1-6DDE1CFA043B}"/>
              </a:ext>
            </a:extLst>
          </p:cNvPr>
          <p:cNvSpPr>
            <a:spLocks noGrp="1"/>
          </p:cNvSpPr>
          <p:nvPr>
            <p:ph type="ftr" sz="quarter" idx="10"/>
          </p:nvPr>
        </p:nvSpPr>
        <p:spPr/>
        <p:txBody>
          <a:bodyPr/>
          <a:lstStyle/>
          <a:p>
            <a:pPr>
              <a:defRPr/>
            </a:pPr>
            <a:r>
              <a:rPr lang="en-GB"/>
              <a:t>Copyright © University of Science, VNUHCM - APCS 2023</a:t>
            </a:r>
          </a:p>
        </p:txBody>
      </p:sp>
      <p:pic>
        <p:nvPicPr>
          <p:cNvPr id="6" name="Picture 5">
            <a:extLst>
              <a:ext uri="{FF2B5EF4-FFF2-40B4-BE49-F238E27FC236}">
                <a16:creationId xmlns:a16="http://schemas.microsoft.com/office/drawing/2014/main" id="{41909E9B-8DC4-FD42-DC1B-DAE95C8F7AAE}"/>
              </a:ext>
            </a:extLst>
          </p:cNvPr>
          <p:cNvPicPr>
            <a:picLocks noChangeAspect="1"/>
          </p:cNvPicPr>
          <p:nvPr/>
        </p:nvPicPr>
        <p:blipFill>
          <a:blip r:embed="rId2"/>
          <a:stretch>
            <a:fillRect/>
          </a:stretch>
        </p:blipFill>
        <p:spPr>
          <a:xfrm>
            <a:off x="1958576" y="1614641"/>
            <a:ext cx="5988847" cy="3208977"/>
          </a:xfrm>
          <a:prstGeom prst="rect">
            <a:avLst/>
          </a:prstGeom>
        </p:spPr>
      </p:pic>
      <p:sp>
        <p:nvSpPr>
          <p:cNvPr id="7" name="Text Placeholder 2">
            <a:extLst>
              <a:ext uri="{FF2B5EF4-FFF2-40B4-BE49-F238E27FC236}">
                <a16:creationId xmlns:a16="http://schemas.microsoft.com/office/drawing/2014/main" id="{B38C500A-AF3B-E312-ED70-A9A195E2F0B7}"/>
              </a:ext>
            </a:extLst>
          </p:cNvPr>
          <p:cNvSpPr>
            <a:spLocks noGrp="1"/>
          </p:cNvSpPr>
          <p:nvPr>
            <p:ph type="body" idx="1"/>
          </p:nvPr>
        </p:nvSpPr>
        <p:spPr>
          <a:xfrm>
            <a:off x="742950" y="4993967"/>
            <a:ext cx="8420100" cy="1305064"/>
          </a:xfrm>
        </p:spPr>
        <p:txBody>
          <a:bodyPr anchor="t"/>
          <a:lstStyle/>
          <a:p>
            <a:r>
              <a:rPr lang="en-US" b="1" err="1"/>
              <a:t>ISubject</a:t>
            </a:r>
            <a:r>
              <a:rPr lang="en-US" b="1"/>
              <a:t>:</a:t>
            </a:r>
            <a:r>
              <a:rPr lang="en-US"/>
              <a:t> Maintains a list of observers. Implements </a:t>
            </a:r>
            <a:r>
              <a:rPr lang="en-US" i="1"/>
              <a:t>attach()</a:t>
            </a:r>
            <a:r>
              <a:rPr lang="en-US"/>
              <a:t>, </a:t>
            </a:r>
            <a:r>
              <a:rPr lang="en-US" i="1"/>
              <a:t>detach()</a:t>
            </a:r>
            <a:r>
              <a:rPr lang="en-US"/>
              <a:t>, and broadcasts </a:t>
            </a:r>
            <a:r>
              <a:rPr lang="en-US" i="1"/>
              <a:t>notify()</a:t>
            </a:r>
            <a:r>
              <a:rPr lang="en-US"/>
              <a:t> when its state changes.</a:t>
            </a:r>
          </a:p>
          <a:p>
            <a:r>
              <a:rPr lang="en-US" b="1" err="1"/>
              <a:t>IObserver</a:t>
            </a:r>
            <a:r>
              <a:rPr lang="en-US" b="1"/>
              <a:t>:</a:t>
            </a:r>
            <a:r>
              <a:rPr lang="en-US"/>
              <a:t> Exposes an </a:t>
            </a:r>
            <a:r>
              <a:rPr lang="en-US" i="1"/>
              <a:t>update()</a:t>
            </a:r>
            <a:r>
              <a:rPr lang="en-US"/>
              <a:t> method that the subject calls during a notification.</a:t>
            </a:r>
          </a:p>
        </p:txBody>
      </p:sp>
    </p:spTree>
    <p:extLst>
      <p:ext uri="{BB962C8B-B14F-4D97-AF65-F5344CB8AC3E}">
        <p14:creationId xmlns:p14="http://schemas.microsoft.com/office/powerpoint/2010/main" val="33639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8846-D65E-1BF3-295B-40918BDBDA3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9DDBFE-82D3-C096-5AA1-F47BF9110BF8}"/>
              </a:ext>
            </a:extLst>
          </p:cNvPr>
          <p:cNvSpPr>
            <a:spLocks noGrp="1"/>
          </p:cNvSpPr>
          <p:nvPr>
            <p:ph type="ftr" sz="quarter" idx="10"/>
          </p:nvPr>
        </p:nvSpPr>
        <p:spPr/>
        <p:txBody>
          <a:bodyPr/>
          <a:lstStyle/>
          <a:p>
            <a:pPr>
              <a:defRPr/>
            </a:pPr>
            <a:r>
              <a:rPr lang="en-GB"/>
              <a:t>Copyright © University of Science, VNUHCM - APCS 2023</a:t>
            </a:r>
          </a:p>
        </p:txBody>
      </p:sp>
      <p:pic>
        <p:nvPicPr>
          <p:cNvPr id="9" name="Picture 8">
            <a:extLst>
              <a:ext uri="{FF2B5EF4-FFF2-40B4-BE49-F238E27FC236}">
                <a16:creationId xmlns:a16="http://schemas.microsoft.com/office/drawing/2014/main" id="{30754A85-3BC9-46DB-6F42-2ABD0EBDF19F}"/>
              </a:ext>
            </a:extLst>
          </p:cNvPr>
          <p:cNvPicPr>
            <a:picLocks noChangeAspect="1"/>
          </p:cNvPicPr>
          <p:nvPr/>
        </p:nvPicPr>
        <p:blipFill>
          <a:blip r:embed="rId2"/>
          <a:stretch>
            <a:fillRect/>
          </a:stretch>
        </p:blipFill>
        <p:spPr>
          <a:xfrm>
            <a:off x="1308100" y="1984681"/>
            <a:ext cx="7289800" cy="3327400"/>
          </a:xfrm>
          <a:prstGeom prst="rect">
            <a:avLst/>
          </a:prstGeom>
        </p:spPr>
      </p:pic>
      <p:pic>
        <p:nvPicPr>
          <p:cNvPr id="3" name="Picture 2">
            <a:extLst>
              <a:ext uri="{FF2B5EF4-FFF2-40B4-BE49-F238E27FC236}">
                <a16:creationId xmlns:a16="http://schemas.microsoft.com/office/drawing/2014/main" id="{A13BF405-959D-EC74-06DC-65B75530DA22}"/>
              </a:ext>
            </a:extLst>
          </p:cNvPr>
          <p:cNvPicPr>
            <a:picLocks noChangeAspect="1"/>
          </p:cNvPicPr>
          <p:nvPr/>
        </p:nvPicPr>
        <p:blipFill>
          <a:blip r:embed="rId3"/>
          <a:stretch>
            <a:fillRect/>
          </a:stretch>
        </p:blipFill>
        <p:spPr>
          <a:xfrm>
            <a:off x="1193379" y="909231"/>
            <a:ext cx="7505700" cy="1447800"/>
          </a:xfrm>
          <a:prstGeom prst="rect">
            <a:avLst/>
          </a:prstGeom>
        </p:spPr>
      </p:pic>
      <p:sp>
        <p:nvSpPr>
          <p:cNvPr id="7" name="Text Placeholder 2">
            <a:extLst>
              <a:ext uri="{FF2B5EF4-FFF2-40B4-BE49-F238E27FC236}">
                <a16:creationId xmlns:a16="http://schemas.microsoft.com/office/drawing/2014/main" id="{DE62BE6A-6E8D-0053-FAEE-5580DF6A1F53}"/>
              </a:ext>
            </a:extLst>
          </p:cNvPr>
          <p:cNvSpPr>
            <a:spLocks noGrp="1"/>
          </p:cNvSpPr>
          <p:nvPr>
            <p:ph type="body" idx="1"/>
          </p:nvPr>
        </p:nvSpPr>
        <p:spPr>
          <a:xfrm>
            <a:off x="749408" y="5090922"/>
            <a:ext cx="8426871" cy="743156"/>
          </a:xfrm>
        </p:spPr>
        <p:txBody>
          <a:bodyPr anchor="t"/>
          <a:lstStyle/>
          <a:p>
            <a:r>
              <a:rPr lang="en-US" dirty="0"/>
              <a:t>The </a:t>
            </a:r>
            <a:r>
              <a:rPr lang="en-US" b="1" dirty="0"/>
              <a:t>Subject</a:t>
            </a:r>
            <a:r>
              <a:rPr lang="en-US" dirty="0"/>
              <a:t> notifies that something changed, and the </a:t>
            </a:r>
            <a:r>
              <a:rPr lang="en-US" b="1" dirty="0"/>
              <a:t>Observers</a:t>
            </a:r>
            <a:r>
              <a:rPr lang="en-US" dirty="0"/>
              <a:t> retrieve the specific data they need (through a getter). </a:t>
            </a:r>
            <a:r>
              <a:rPr lang="en-US" b="1" dirty="0"/>
              <a:t>(Pull Model)</a:t>
            </a:r>
          </a:p>
        </p:txBody>
      </p:sp>
      <p:sp>
        <p:nvSpPr>
          <p:cNvPr id="5" name="TextBox 4">
            <a:extLst>
              <a:ext uri="{FF2B5EF4-FFF2-40B4-BE49-F238E27FC236}">
                <a16:creationId xmlns:a16="http://schemas.microsoft.com/office/drawing/2014/main" id="{BD070D48-6ADA-C1CD-6958-B1C9D1716A0B}"/>
              </a:ext>
            </a:extLst>
          </p:cNvPr>
          <p:cNvSpPr txBox="1"/>
          <p:nvPr/>
        </p:nvSpPr>
        <p:spPr>
          <a:xfrm>
            <a:off x="3458158" y="1986993"/>
            <a:ext cx="2183656" cy="449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solidFill>
                  <a:srgbClr val="000000"/>
                </a:solidFill>
                <a:latin typeface="Arial"/>
                <a:ea typeface="ＭＳ Ｐゴシック"/>
              </a:rPr>
              <a:t>1 Subject – 1 Observer</a:t>
            </a:r>
          </a:p>
          <a:p>
            <a:pPr algn="ctr"/>
            <a:endParaRPr lang="en-US"/>
          </a:p>
        </p:txBody>
      </p:sp>
      <p:sp>
        <p:nvSpPr>
          <p:cNvPr id="6" name="TextBox 5">
            <a:extLst>
              <a:ext uri="{FF2B5EF4-FFF2-40B4-BE49-F238E27FC236}">
                <a16:creationId xmlns:a16="http://schemas.microsoft.com/office/drawing/2014/main" id="{216CDFBC-0450-3C7F-7630-8ADC52001E52}"/>
              </a:ext>
            </a:extLst>
          </p:cNvPr>
          <p:cNvSpPr txBox="1"/>
          <p:nvPr/>
        </p:nvSpPr>
        <p:spPr>
          <a:xfrm>
            <a:off x="3112289" y="4397109"/>
            <a:ext cx="2528978" cy="449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solidFill>
                  <a:srgbClr val="000000"/>
                </a:solidFill>
                <a:latin typeface="Arial"/>
                <a:ea typeface="ＭＳ Ｐゴシック"/>
              </a:rPr>
              <a:t>1 Subject – many Observers</a:t>
            </a:r>
          </a:p>
          <a:p>
            <a:pPr algn="ctr"/>
            <a:endParaRPr lang="en-US"/>
          </a:p>
        </p:txBody>
      </p:sp>
    </p:spTree>
    <p:extLst>
      <p:ext uri="{BB962C8B-B14F-4D97-AF65-F5344CB8AC3E}">
        <p14:creationId xmlns:p14="http://schemas.microsoft.com/office/powerpoint/2010/main" val="183899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9345-770B-9094-C358-D51AE1D3BC3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85238D-759A-017D-C78A-E7873D6EDBB8}"/>
              </a:ext>
            </a:extLst>
          </p:cNvPr>
          <p:cNvSpPr>
            <a:spLocks noGrp="1"/>
          </p:cNvSpPr>
          <p:nvPr>
            <p:ph type="ftr" sz="quarter" idx="10"/>
          </p:nvPr>
        </p:nvSpPr>
        <p:spPr/>
        <p:txBody>
          <a:bodyPr/>
          <a:lstStyle/>
          <a:p>
            <a:pPr>
              <a:defRPr/>
            </a:pPr>
            <a:r>
              <a:rPr lang="en-GB"/>
              <a:t>Copyright © University of Science, VNUHCM - APCS 2023</a:t>
            </a:r>
          </a:p>
        </p:txBody>
      </p:sp>
      <p:pic>
        <p:nvPicPr>
          <p:cNvPr id="9" name="Picture 8">
            <a:extLst>
              <a:ext uri="{FF2B5EF4-FFF2-40B4-BE49-F238E27FC236}">
                <a16:creationId xmlns:a16="http://schemas.microsoft.com/office/drawing/2014/main" id="{72B63992-D9AF-E741-474A-227779B304DB}"/>
              </a:ext>
            </a:extLst>
          </p:cNvPr>
          <p:cNvPicPr>
            <a:picLocks noChangeAspect="1"/>
          </p:cNvPicPr>
          <p:nvPr/>
        </p:nvPicPr>
        <p:blipFill>
          <a:blip r:embed="rId2"/>
          <a:stretch>
            <a:fillRect/>
          </a:stretch>
        </p:blipFill>
        <p:spPr>
          <a:xfrm>
            <a:off x="1308100" y="1984681"/>
            <a:ext cx="7289800" cy="3327400"/>
          </a:xfrm>
          <a:prstGeom prst="rect">
            <a:avLst/>
          </a:prstGeom>
        </p:spPr>
      </p:pic>
      <p:pic>
        <p:nvPicPr>
          <p:cNvPr id="3" name="Picture 2">
            <a:extLst>
              <a:ext uri="{FF2B5EF4-FFF2-40B4-BE49-F238E27FC236}">
                <a16:creationId xmlns:a16="http://schemas.microsoft.com/office/drawing/2014/main" id="{006DFD09-CC09-B9DB-CCCB-CF2E8CE88002}"/>
              </a:ext>
            </a:extLst>
          </p:cNvPr>
          <p:cNvPicPr>
            <a:picLocks noChangeAspect="1"/>
          </p:cNvPicPr>
          <p:nvPr/>
        </p:nvPicPr>
        <p:blipFill>
          <a:blip r:embed="rId3"/>
          <a:stretch>
            <a:fillRect/>
          </a:stretch>
        </p:blipFill>
        <p:spPr>
          <a:xfrm>
            <a:off x="1193379" y="909231"/>
            <a:ext cx="7505700" cy="1447800"/>
          </a:xfrm>
          <a:prstGeom prst="rect">
            <a:avLst/>
          </a:prstGeom>
        </p:spPr>
      </p:pic>
      <p:sp>
        <p:nvSpPr>
          <p:cNvPr id="7" name="Text Placeholder 2">
            <a:extLst>
              <a:ext uri="{FF2B5EF4-FFF2-40B4-BE49-F238E27FC236}">
                <a16:creationId xmlns:a16="http://schemas.microsoft.com/office/drawing/2014/main" id="{3D63BA71-DEC3-7414-722C-4A08BA7305A1}"/>
              </a:ext>
            </a:extLst>
          </p:cNvPr>
          <p:cNvSpPr>
            <a:spLocks noGrp="1"/>
          </p:cNvSpPr>
          <p:nvPr>
            <p:ph type="body" idx="1"/>
          </p:nvPr>
        </p:nvSpPr>
        <p:spPr>
          <a:xfrm>
            <a:off x="749408" y="5090922"/>
            <a:ext cx="8426871" cy="743156"/>
          </a:xfrm>
        </p:spPr>
        <p:txBody>
          <a:bodyPr anchor="t"/>
          <a:lstStyle/>
          <a:p>
            <a:r>
              <a:rPr lang="en-US" dirty="0"/>
              <a:t>The </a:t>
            </a:r>
            <a:r>
              <a:rPr lang="en-US" b="1" dirty="0"/>
              <a:t>Subject</a:t>
            </a:r>
            <a:r>
              <a:rPr lang="en-US" dirty="0"/>
              <a:t> notifies that something changed, and the </a:t>
            </a:r>
            <a:r>
              <a:rPr lang="en-US" b="1" dirty="0"/>
              <a:t>Observers</a:t>
            </a:r>
            <a:r>
              <a:rPr lang="en-US" dirty="0"/>
              <a:t> retrieve the specific data they need (through a getter). </a:t>
            </a:r>
            <a:r>
              <a:rPr lang="en-US" b="1" dirty="0"/>
              <a:t>(Pull Model)</a:t>
            </a:r>
          </a:p>
        </p:txBody>
      </p:sp>
      <p:sp>
        <p:nvSpPr>
          <p:cNvPr id="2" name="TextBox 1">
            <a:extLst>
              <a:ext uri="{FF2B5EF4-FFF2-40B4-BE49-F238E27FC236}">
                <a16:creationId xmlns:a16="http://schemas.microsoft.com/office/drawing/2014/main" id="{7DBFAC33-243E-DA8A-FE8F-AF3B11FF6804}"/>
              </a:ext>
            </a:extLst>
          </p:cNvPr>
          <p:cNvSpPr txBox="1"/>
          <p:nvPr/>
        </p:nvSpPr>
        <p:spPr>
          <a:xfrm>
            <a:off x="749890" y="5893275"/>
            <a:ext cx="83114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u="none" strike="noStrike" baseline="0" dirty="0">
                <a:solidFill>
                  <a:srgbClr val="000000"/>
                </a:solidFill>
                <a:latin typeface="Arial"/>
                <a:ea typeface="ＭＳ Ｐゴシック"/>
              </a:rPr>
              <a:t>Alternative: The Subject sends the changed data directly</a:t>
            </a:r>
            <a:r>
              <a:rPr lang="en-US" sz="2000" b="1" dirty="0">
                <a:solidFill>
                  <a:srgbClr val="000000"/>
                </a:solidFill>
                <a:latin typeface="Arial"/>
                <a:ea typeface="ＭＳ Ｐゴシック"/>
              </a:rPr>
              <a:t>. </a:t>
            </a:r>
          </a:p>
          <a:p>
            <a:r>
              <a:rPr lang="en-US" sz="2000" b="1" dirty="0">
                <a:solidFill>
                  <a:srgbClr val="000000"/>
                </a:solidFill>
                <a:latin typeface="Arial"/>
                <a:ea typeface="ＭＳ Ｐゴシック"/>
              </a:rPr>
              <a:t>				(Push Model)</a:t>
            </a:r>
            <a:endParaRPr lang="en-US" dirty="0">
              <a:ea typeface="ＭＳ Ｐゴシック"/>
            </a:endParaRPr>
          </a:p>
          <a:p>
            <a:pPr algn="ctr"/>
            <a:endParaRPr lang="en-US" dirty="0"/>
          </a:p>
        </p:txBody>
      </p:sp>
      <p:sp>
        <p:nvSpPr>
          <p:cNvPr id="5" name="TextBox 4">
            <a:extLst>
              <a:ext uri="{FF2B5EF4-FFF2-40B4-BE49-F238E27FC236}">
                <a16:creationId xmlns:a16="http://schemas.microsoft.com/office/drawing/2014/main" id="{1300AA1D-088D-745B-C8BC-488A6CED7851}"/>
              </a:ext>
            </a:extLst>
          </p:cNvPr>
          <p:cNvSpPr txBox="1"/>
          <p:nvPr/>
        </p:nvSpPr>
        <p:spPr>
          <a:xfrm>
            <a:off x="3458158" y="1986993"/>
            <a:ext cx="2183656" cy="449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solidFill>
                  <a:srgbClr val="000000"/>
                </a:solidFill>
                <a:latin typeface="Arial"/>
                <a:ea typeface="ＭＳ Ｐゴシック"/>
              </a:rPr>
              <a:t>1 Subject – 1 Observer</a:t>
            </a:r>
          </a:p>
          <a:p>
            <a:pPr algn="ctr"/>
            <a:endParaRPr lang="en-US"/>
          </a:p>
        </p:txBody>
      </p:sp>
      <p:sp>
        <p:nvSpPr>
          <p:cNvPr id="6" name="TextBox 5">
            <a:extLst>
              <a:ext uri="{FF2B5EF4-FFF2-40B4-BE49-F238E27FC236}">
                <a16:creationId xmlns:a16="http://schemas.microsoft.com/office/drawing/2014/main" id="{09619AC6-B218-62EA-D8C6-939A15805568}"/>
              </a:ext>
            </a:extLst>
          </p:cNvPr>
          <p:cNvSpPr txBox="1"/>
          <p:nvPr/>
        </p:nvSpPr>
        <p:spPr>
          <a:xfrm>
            <a:off x="3112289" y="4397109"/>
            <a:ext cx="2528978" cy="449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solidFill>
                  <a:srgbClr val="000000"/>
                </a:solidFill>
                <a:latin typeface="Arial"/>
                <a:ea typeface="ＭＳ Ｐゴシック"/>
              </a:rPr>
              <a:t>1 Subject – many Observers</a:t>
            </a:r>
          </a:p>
          <a:p>
            <a:pPr algn="ctr"/>
            <a:endParaRPr lang="en-US"/>
          </a:p>
        </p:txBody>
      </p:sp>
    </p:spTree>
    <p:extLst>
      <p:ext uri="{BB962C8B-B14F-4D97-AF65-F5344CB8AC3E}">
        <p14:creationId xmlns:p14="http://schemas.microsoft.com/office/powerpoint/2010/main" val="3264726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BC8F7-7D44-80C8-0FD4-BFD7B2526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3DC02-FF3B-F073-F65D-4B6A84B333BF}"/>
              </a:ext>
            </a:extLst>
          </p:cNvPr>
          <p:cNvSpPr>
            <a:spLocks noGrp="1"/>
          </p:cNvSpPr>
          <p:nvPr>
            <p:ph type="title"/>
          </p:nvPr>
        </p:nvSpPr>
        <p:spPr>
          <a:xfrm>
            <a:off x="742950" y="802688"/>
            <a:ext cx="8816686" cy="909637"/>
          </a:xfrm>
        </p:spPr>
        <p:txBody>
          <a:bodyPr/>
          <a:lstStyle/>
          <a:p>
            <a:r>
              <a:rPr lang="en-US" cap="none"/>
              <a:t>Bank Account Example</a:t>
            </a:r>
          </a:p>
        </p:txBody>
      </p:sp>
      <p:sp>
        <p:nvSpPr>
          <p:cNvPr id="4" name="Footer Placeholder 3">
            <a:extLst>
              <a:ext uri="{FF2B5EF4-FFF2-40B4-BE49-F238E27FC236}">
                <a16:creationId xmlns:a16="http://schemas.microsoft.com/office/drawing/2014/main" id="{339E199A-85A1-DF88-45C3-B8BABF094122}"/>
              </a:ext>
            </a:extLst>
          </p:cNvPr>
          <p:cNvSpPr>
            <a:spLocks noGrp="1"/>
          </p:cNvSpPr>
          <p:nvPr>
            <p:ph type="ftr" sz="quarter" idx="10"/>
          </p:nvPr>
        </p:nvSpPr>
        <p:spPr/>
        <p:txBody>
          <a:bodyPr/>
          <a:lstStyle/>
          <a:p>
            <a:pPr>
              <a:defRPr/>
            </a:pPr>
            <a:r>
              <a:rPr lang="en-GB"/>
              <a:t>Copyright © University of Science, VNUHCM - APCS 2023</a:t>
            </a:r>
          </a:p>
        </p:txBody>
      </p:sp>
      <p:pic>
        <p:nvPicPr>
          <p:cNvPr id="5" name="Picture 4">
            <a:extLst>
              <a:ext uri="{FF2B5EF4-FFF2-40B4-BE49-F238E27FC236}">
                <a16:creationId xmlns:a16="http://schemas.microsoft.com/office/drawing/2014/main" id="{9751287F-61F3-A7AE-E38E-4D3272644C8E}"/>
              </a:ext>
            </a:extLst>
          </p:cNvPr>
          <p:cNvPicPr>
            <a:picLocks noChangeAspect="1"/>
          </p:cNvPicPr>
          <p:nvPr/>
        </p:nvPicPr>
        <p:blipFill>
          <a:blip r:embed="rId2"/>
          <a:stretch>
            <a:fillRect/>
          </a:stretch>
        </p:blipFill>
        <p:spPr>
          <a:xfrm>
            <a:off x="2128693" y="1712026"/>
            <a:ext cx="6045200" cy="3810000"/>
          </a:xfrm>
          <a:prstGeom prst="rect">
            <a:avLst/>
          </a:prstGeom>
        </p:spPr>
      </p:pic>
      <p:sp>
        <p:nvSpPr>
          <p:cNvPr id="8" name="Text Placeholder 2">
            <a:extLst>
              <a:ext uri="{FF2B5EF4-FFF2-40B4-BE49-F238E27FC236}">
                <a16:creationId xmlns:a16="http://schemas.microsoft.com/office/drawing/2014/main" id="{7A2AB8F1-9F69-11F7-52BF-636883B2F98D}"/>
              </a:ext>
            </a:extLst>
          </p:cNvPr>
          <p:cNvSpPr>
            <a:spLocks noGrp="1"/>
          </p:cNvSpPr>
          <p:nvPr>
            <p:ph type="body" idx="1"/>
          </p:nvPr>
        </p:nvSpPr>
        <p:spPr>
          <a:xfrm>
            <a:off x="2428881" y="5626191"/>
            <a:ext cx="4743438" cy="452047"/>
          </a:xfrm>
        </p:spPr>
        <p:txBody>
          <a:bodyPr anchor="t"/>
          <a:lstStyle/>
          <a:p>
            <a:pPr algn="ctr"/>
            <a:r>
              <a:rPr lang="en-US" sz="1600" i="1" dirty="0"/>
              <a:t>Bank Account UML Diagram</a:t>
            </a:r>
          </a:p>
        </p:txBody>
      </p:sp>
    </p:spTree>
    <p:extLst>
      <p:ext uri="{BB962C8B-B14F-4D97-AF65-F5344CB8AC3E}">
        <p14:creationId xmlns:p14="http://schemas.microsoft.com/office/powerpoint/2010/main" val="4046078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BD414-0607-CBAB-735E-5A3C872ECA1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E97188E-613F-E710-BCC1-9228DB4DD74C}"/>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597400AD-9B2D-78A4-5DB6-79BF44247D15}"/>
              </a:ext>
            </a:extLst>
          </p:cNvPr>
          <p:cNvSpPr>
            <a:spLocks noGrp="1"/>
          </p:cNvSpPr>
          <p:nvPr>
            <p:ph type="body" idx="1"/>
          </p:nvPr>
        </p:nvSpPr>
        <p:spPr>
          <a:xfrm>
            <a:off x="539819" y="3905143"/>
            <a:ext cx="8826361" cy="2462733"/>
          </a:xfrm>
        </p:spPr>
        <p:txBody>
          <a:bodyPr anchor="t"/>
          <a:lstStyle/>
          <a:p>
            <a:pPr marL="342900" indent="-342900">
              <a:buFont typeface="Calibri"/>
              <a:buChar char="-"/>
            </a:pPr>
            <a:r>
              <a:rPr lang="en-US" sz="1800" b="1"/>
              <a:t>True Isolation:</a:t>
            </a:r>
            <a:r>
              <a:rPr lang="en-US" sz="1800"/>
              <a:t> </a:t>
            </a:r>
            <a:r>
              <a:rPr lang="en-US" sz="1800" i="1" err="1"/>
              <a:t>BankAccount</a:t>
            </a:r>
            <a:r>
              <a:rPr lang="en-US" sz="1800"/>
              <a:t> is completely ignorant of the concrete services. It only knows they implement a generic observer interface.</a:t>
            </a:r>
          </a:p>
          <a:p>
            <a:pPr marL="342900" indent="-342900">
              <a:buFont typeface="Calibri"/>
              <a:buChar char="-"/>
            </a:pPr>
            <a:r>
              <a:rPr lang="en-US" sz="1800" b="1"/>
              <a:t>Open/Closed Principle:</a:t>
            </a:r>
            <a:r>
              <a:rPr lang="en-US" sz="1800"/>
              <a:t> New services can be added without modifying a </a:t>
            </a:r>
            <a:r>
              <a:rPr lang="en-US" sz="1800" i="1" err="1"/>
              <a:t>BankAccount</a:t>
            </a:r>
            <a:r>
              <a:rPr lang="en-US" sz="1800" i="1"/>
              <a:t> </a:t>
            </a:r>
            <a:r>
              <a:rPr lang="en-US" sz="1800"/>
              <a:t>class.</a:t>
            </a:r>
          </a:p>
          <a:p>
            <a:pPr marL="342900" indent="-342900">
              <a:buFont typeface="Calibri"/>
              <a:buChar char="-"/>
            </a:pPr>
            <a:r>
              <a:rPr lang="en-US" sz="1800" b="1"/>
              <a:t>Single Responsibility:</a:t>
            </a:r>
            <a:r>
              <a:rPr lang="en-US" sz="1800"/>
              <a:t> Core financial logic remains clean. All secondary reactions (logging, fraud checks, UI) are delegated to dedicated components.</a:t>
            </a:r>
          </a:p>
          <a:p>
            <a:pPr marL="342900" indent="-342900">
              <a:buFont typeface="Calibri"/>
              <a:buChar char="-"/>
            </a:pPr>
            <a:r>
              <a:rPr lang="en-US" sz="1800" b="1"/>
              <a:t>Runtime Flexibility:</a:t>
            </a:r>
            <a:r>
              <a:rPr lang="en-US" sz="1800"/>
              <a:t> Observers can be dynamically attached or detached on the fly based on user settings or system state.</a:t>
            </a:r>
          </a:p>
        </p:txBody>
      </p:sp>
      <p:pic>
        <p:nvPicPr>
          <p:cNvPr id="3" name="Picture 2">
            <a:extLst>
              <a:ext uri="{FF2B5EF4-FFF2-40B4-BE49-F238E27FC236}">
                <a16:creationId xmlns:a16="http://schemas.microsoft.com/office/drawing/2014/main" id="{962DCE74-8C91-66F9-DC00-357040112C39}"/>
              </a:ext>
            </a:extLst>
          </p:cNvPr>
          <p:cNvPicPr>
            <a:picLocks noChangeAspect="1"/>
          </p:cNvPicPr>
          <p:nvPr/>
        </p:nvPicPr>
        <p:blipFill>
          <a:blip r:embed="rId2"/>
          <a:stretch>
            <a:fillRect/>
          </a:stretch>
        </p:blipFill>
        <p:spPr>
          <a:xfrm>
            <a:off x="1396010" y="509756"/>
            <a:ext cx="7107209" cy="3289134"/>
          </a:xfrm>
          <a:prstGeom prst="rect">
            <a:avLst/>
          </a:prstGeom>
        </p:spPr>
      </p:pic>
    </p:spTree>
    <p:extLst>
      <p:ext uri="{BB962C8B-B14F-4D97-AF65-F5344CB8AC3E}">
        <p14:creationId xmlns:p14="http://schemas.microsoft.com/office/powerpoint/2010/main" val="47484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5F50-9388-4BCC-78BE-7C2953A8B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15462-47DF-566A-4FE7-B400E0B1DDF7}"/>
              </a:ext>
            </a:extLst>
          </p:cNvPr>
          <p:cNvSpPr>
            <a:spLocks noGrp="1"/>
          </p:cNvSpPr>
          <p:nvPr>
            <p:ph type="title"/>
          </p:nvPr>
        </p:nvSpPr>
        <p:spPr>
          <a:xfrm>
            <a:off x="705632" y="710170"/>
            <a:ext cx="8816686" cy="909637"/>
          </a:xfrm>
        </p:spPr>
        <p:txBody>
          <a:bodyPr/>
          <a:lstStyle/>
          <a:p>
            <a:r>
              <a:rPr lang="en-US" cap="none" dirty="0"/>
              <a:t>Implementation &amp; Demo</a:t>
            </a:r>
          </a:p>
        </p:txBody>
      </p:sp>
      <p:sp>
        <p:nvSpPr>
          <p:cNvPr id="4" name="Footer Placeholder 3">
            <a:extLst>
              <a:ext uri="{FF2B5EF4-FFF2-40B4-BE49-F238E27FC236}">
                <a16:creationId xmlns:a16="http://schemas.microsoft.com/office/drawing/2014/main" id="{42CAB464-E2DC-6134-6365-BEC06DB3AE32}"/>
              </a:ext>
            </a:extLst>
          </p:cNvPr>
          <p:cNvSpPr>
            <a:spLocks noGrp="1"/>
          </p:cNvSpPr>
          <p:nvPr>
            <p:ph type="ftr" sz="quarter" idx="10"/>
          </p:nvPr>
        </p:nvSpPr>
        <p:spPr/>
        <p:txBody>
          <a:bodyPr/>
          <a:lstStyle/>
          <a:p>
            <a:pPr>
              <a:defRPr/>
            </a:pPr>
            <a:r>
              <a:rPr lang="en-GB"/>
              <a:t>Copyright © University of Science, VNUHCM - APCS 2023</a:t>
            </a:r>
          </a:p>
        </p:txBody>
      </p:sp>
      <p:sp>
        <p:nvSpPr>
          <p:cNvPr id="8" name="Text Placeholder 2">
            <a:extLst>
              <a:ext uri="{FF2B5EF4-FFF2-40B4-BE49-F238E27FC236}">
                <a16:creationId xmlns:a16="http://schemas.microsoft.com/office/drawing/2014/main" id="{9E6F842D-B19C-50CD-D085-B40A87A72EA8}"/>
              </a:ext>
            </a:extLst>
          </p:cNvPr>
          <p:cNvSpPr txBox="1">
            <a:spLocks/>
          </p:cNvSpPr>
          <p:nvPr/>
        </p:nvSpPr>
        <p:spPr bwMode="auto">
          <a:xfrm>
            <a:off x="705632" y="1387013"/>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Naïve Approach Implementation</a:t>
            </a:r>
          </a:p>
        </p:txBody>
      </p:sp>
      <p:pic>
        <p:nvPicPr>
          <p:cNvPr id="9" name="Picture 8">
            <a:extLst>
              <a:ext uri="{FF2B5EF4-FFF2-40B4-BE49-F238E27FC236}">
                <a16:creationId xmlns:a16="http://schemas.microsoft.com/office/drawing/2014/main" id="{741CC097-41E7-4276-6D8A-CA68A9B5BE97}"/>
              </a:ext>
            </a:extLst>
          </p:cNvPr>
          <p:cNvPicPr>
            <a:picLocks noChangeAspect="1"/>
          </p:cNvPicPr>
          <p:nvPr/>
        </p:nvPicPr>
        <p:blipFill>
          <a:blip r:embed="rId2"/>
          <a:stretch>
            <a:fillRect/>
          </a:stretch>
        </p:blipFill>
        <p:spPr>
          <a:xfrm>
            <a:off x="1815081" y="1884143"/>
            <a:ext cx="5538219" cy="4609340"/>
          </a:xfrm>
          <a:prstGeom prst="rect">
            <a:avLst/>
          </a:prstGeom>
        </p:spPr>
      </p:pic>
    </p:spTree>
    <p:extLst>
      <p:ext uri="{BB962C8B-B14F-4D97-AF65-F5344CB8AC3E}">
        <p14:creationId xmlns:p14="http://schemas.microsoft.com/office/powerpoint/2010/main" val="1254590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8CBA-034B-2962-DAD4-CF2F0E68C86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B974DC6-774C-9623-0A42-6C8312AA3272}"/>
              </a:ext>
            </a:extLst>
          </p:cNvPr>
          <p:cNvSpPr>
            <a:spLocks noGrp="1"/>
          </p:cNvSpPr>
          <p:nvPr>
            <p:ph type="ftr" sz="quarter" idx="10"/>
          </p:nvPr>
        </p:nvSpPr>
        <p:spPr/>
        <p:txBody>
          <a:bodyPr/>
          <a:lstStyle/>
          <a:p>
            <a:pPr>
              <a:defRPr/>
            </a:pPr>
            <a:r>
              <a:rPr lang="en-GB"/>
              <a:t>Copyright © University of Science, VNUHCM - APCS 2023</a:t>
            </a:r>
          </a:p>
        </p:txBody>
      </p:sp>
      <p:pic>
        <p:nvPicPr>
          <p:cNvPr id="3" name="Picture 2">
            <a:extLst>
              <a:ext uri="{FF2B5EF4-FFF2-40B4-BE49-F238E27FC236}">
                <a16:creationId xmlns:a16="http://schemas.microsoft.com/office/drawing/2014/main" id="{155CCA00-CE2F-72CA-565F-36F0D544BFC4}"/>
              </a:ext>
            </a:extLst>
          </p:cNvPr>
          <p:cNvPicPr>
            <a:picLocks noChangeAspect="1"/>
          </p:cNvPicPr>
          <p:nvPr/>
        </p:nvPicPr>
        <p:blipFill>
          <a:blip r:embed="rId2"/>
          <a:stretch>
            <a:fillRect/>
          </a:stretch>
        </p:blipFill>
        <p:spPr>
          <a:xfrm>
            <a:off x="719703" y="1594382"/>
            <a:ext cx="8466594" cy="4070958"/>
          </a:xfrm>
          <a:prstGeom prst="rect">
            <a:avLst/>
          </a:prstGeom>
        </p:spPr>
      </p:pic>
      <p:sp>
        <p:nvSpPr>
          <p:cNvPr id="7" name="Text Placeholder 2">
            <a:extLst>
              <a:ext uri="{FF2B5EF4-FFF2-40B4-BE49-F238E27FC236}">
                <a16:creationId xmlns:a16="http://schemas.microsoft.com/office/drawing/2014/main" id="{BC4966D4-DB7F-C217-9F58-D8DFDA1AADE9}"/>
              </a:ext>
            </a:extLst>
          </p:cNvPr>
          <p:cNvSpPr txBox="1">
            <a:spLocks/>
          </p:cNvSpPr>
          <p:nvPr/>
        </p:nvSpPr>
        <p:spPr bwMode="auto">
          <a:xfrm>
            <a:off x="719703" y="1128795"/>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Naïve Approach Demo</a:t>
            </a:r>
          </a:p>
        </p:txBody>
      </p:sp>
    </p:spTree>
    <p:extLst>
      <p:ext uri="{BB962C8B-B14F-4D97-AF65-F5344CB8AC3E}">
        <p14:creationId xmlns:p14="http://schemas.microsoft.com/office/powerpoint/2010/main" val="1517101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95BAF-488D-D80A-461A-3C385A50F27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E8C15F1-5E7A-8897-456B-41B3724BFF9D}"/>
              </a:ext>
            </a:extLst>
          </p:cNvPr>
          <p:cNvSpPr>
            <a:spLocks noGrp="1"/>
          </p:cNvSpPr>
          <p:nvPr>
            <p:ph type="ftr" sz="quarter" idx="10"/>
          </p:nvPr>
        </p:nvSpPr>
        <p:spPr/>
        <p:txBody>
          <a:bodyPr/>
          <a:lstStyle/>
          <a:p>
            <a:pPr>
              <a:defRPr/>
            </a:pPr>
            <a:r>
              <a:rPr lang="en-GB"/>
              <a:t>Copyright © University of Science, VNUHCM - APCS 2023</a:t>
            </a:r>
          </a:p>
        </p:txBody>
      </p:sp>
      <p:sp>
        <p:nvSpPr>
          <p:cNvPr id="2" name="Text Placeholder 2">
            <a:extLst>
              <a:ext uri="{FF2B5EF4-FFF2-40B4-BE49-F238E27FC236}">
                <a16:creationId xmlns:a16="http://schemas.microsoft.com/office/drawing/2014/main" id="{8438FE9C-40A8-7885-D6BE-76CF05A893E4}"/>
              </a:ext>
            </a:extLst>
          </p:cNvPr>
          <p:cNvSpPr txBox="1">
            <a:spLocks/>
          </p:cNvSpPr>
          <p:nvPr/>
        </p:nvSpPr>
        <p:spPr bwMode="auto">
          <a:xfrm>
            <a:off x="780679" y="907340"/>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Observer Design Pattern Implementation</a:t>
            </a:r>
          </a:p>
        </p:txBody>
      </p:sp>
      <p:pic>
        <p:nvPicPr>
          <p:cNvPr id="5" name="Picture 4">
            <a:extLst>
              <a:ext uri="{FF2B5EF4-FFF2-40B4-BE49-F238E27FC236}">
                <a16:creationId xmlns:a16="http://schemas.microsoft.com/office/drawing/2014/main" id="{2BF69119-B9C4-8BDC-062C-A2FE8010577A}"/>
              </a:ext>
            </a:extLst>
          </p:cNvPr>
          <p:cNvPicPr>
            <a:picLocks noChangeAspect="1"/>
          </p:cNvPicPr>
          <p:nvPr/>
        </p:nvPicPr>
        <p:blipFill>
          <a:blip r:embed="rId2"/>
          <a:stretch>
            <a:fillRect/>
          </a:stretch>
        </p:blipFill>
        <p:spPr>
          <a:xfrm>
            <a:off x="2025650" y="1372927"/>
            <a:ext cx="6027514" cy="4872542"/>
          </a:xfrm>
          <a:prstGeom prst="rect">
            <a:avLst/>
          </a:prstGeom>
        </p:spPr>
      </p:pic>
    </p:spTree>
    <p:extLst>
      <p:ext uri="{BB962C8B-B14F-4D97-AF65-F5344CB8AC3E}">
        <p14:creationId xmlns:p14="http://schemas.microsoft.com/office/powerpoint/2010/main" val="2064913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B1F0D-69C8-146A-3CAC-4BD209A51B5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1BC023-0216-F9BB-8042-E11FC5A78B70}"/>
              </a:ext>
            </a:extLst>
          </p:cNvPr>
          <p:cNvSpPr>
            <a:spLocks noGrp="1"/>
          </p:cNvSpPr>
          <p:nvPr>
            <p:ph type="ftr" sz="quarter" idx="10"/>
          </p:nvPr>
        </p:nvSpPr>
        <p:spPr/>
        <p:txBody>
          <a:bodyPr/>
          <a:lstStyle/>
          <a:p>
            <a:pPr>
              <a:defRPr/>
            </a:pPr>
            <a:r>
              <a:rPr lang="en-GB"/>
              <a:t>Copyright © University of Science, VNUHCM - APCS 2023</a:t>
            </a:r>
          </a:p>
        </p:txBody>
      </p:sp>
      <p:sp>
        <p:nvSpPr>
          <p:cNvPr id="2" name="Text Placeholder 2">
            <a:extLst>
              <a:ext uri="{FF2B5EF4-FFF2-40B4-BE49-F238E27FC236}">
                <a16:creationId xmlns:a16="http://schemas.microsoft.com/office/drawing/2014/main" id="{F88E1B26-044D-15D0-ECEB-6D1666B2B4FC}"/>
              </a:ext>
            </a:extLst>
          </p:cNvPr>
          <p:cNvSpPr txBox="1">
            <a:spLocks/>
          </p:cNvSpPr>
          <p:nvPr/>
        </p:nvSpPr>
        <p:spPr bwMode="auto">
          <a:xfrm>
            <a:off x="780679" y="907340"/>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Observer Design Pattern Implementation</a:t>
            </a:r>
          </a:p>
        </p:txBody>
      </p:sp>
      <p:pic>
        <p:nvPicPr>
          <p:cNvPr id="3" name="Picture 2">
            <a:extLst>
              <a:ext uri="{FF2B5EF4-FFF2-40B4-BE49-F238E27FC236}">
                <a16:creationId xmlns:a16="http://schemas.microsoft.com/office/drawing/2014/main" id="{CCBA0872-6CC0-3C36-E9B7-96B96442FB5D}"/>
              </a:ext>
            </a:extLst>
          </p:cNvPr>
          <p:cNvPicPr>
            <a:picLocks noChangeAspect="1"/>
          </p:cNvPicPr>
          <p:nvPr/>
        </p:nvPicPr>
        <p:blipFill>
          <a:blip r:embed="rId2"/>
          <a:stretch>
            <a:fillRect/>
          </a:stretch>
        </p:blipFill>
        <p:spPr>
          <a:xfrm>
            <a:off x="1288017" y="1372927"/>
            <a:ext cx="7329966" cy="4941923"/>
          </a:xfrm>
          <a:prstGeom prst="rect">
            <a:avLst/>
          </a:prstGeom>
        </p:spPr>
      </p:pic>
    </p:spTree>
    <p:extLst>
      <p:ext uri="{BB962C8B-B14F-4D97-AF65-F5344CB8AC3E}">
        <p14:creationId xmlns:p14="http://schemas.microsoft.com/office/powerpoint/2010/main" val="4039978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54E7-4D44-5C5F-14DD-08AFD4497BC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B53D3A5-67BD-A5A1-4EAE-7BB98D3669B2}"/>
              </a:ext>
            </a:extLst>
          </p:cNvPr>
          <p:cNvSpPr>
            <a:spLocks noGrp="1"/>
          </p:cNvSpPr>
          <p:nvPr>
            <p:ph type="ftr" sz="quarter" idx="10"/>
          </p:nvPr>
        </p:nvSpPr>
        <p:spPr/>
        <p:txBody>
          <a:bodyPr/>
          <a:lstStyle/>
          <a:p>
            <a:pPr>
              <a:defRPr/>
            </a:pPr>
            <a:r>
              <a:rPr lang="en-GB"/>
              <a:t>Copyright © University of Science, VNUHCM - APCS 2023</a:t>
            </a:r>
          </a:p>
        </p:txBody>
      </p:sp>
      <p:pic>
        <p:nvPicPr>
          <p:cNvPr id="9" name="Picture 8">
            <a:extLst>
              <a:ext uri="{FF2B5EF4-FFF2-40B4-BE49-F238E27FC236}">
                <a16:creationId xmlns:a16="http://schemas.microsoft.com/office/drawing/2014/main" id="{A2AF78D8-91DB-748C-0131-6616FE70394F}"/>
              </a:ext>
            </a:extLst>
          </p:cNvPr>
          <p:cNvPicPr>
            <a:picLocks noChangeAspect="1"/>
          </p:cNvPicPr>
          <p:nvPr/>
        </p:nvPicPr>
        <p:blipFill>
          <a:blip r:embed="rId2"/>
          <a:stretch>
            <a:fillRect/>
          </a:stretch>
        </p:blipFill>
        <p:spPr>
          <a:xfrm>
            <a:off x="1325717" y="1512122"/>
            <a:ext cx="7254566" cy="4372085"/>
          </a:xfrm>
          <a:prstGeom prst="rect">
            <a:avLst/>
          </a:prstGeom>
        </p:spPr>
      </p:pic>
      <p:sp>
        <p:nvSpPr>
          <p:cNvPr id="5" name="Text Placeholder 2">
            <a:extLst>
              <a:ext uri="{FF2B5EF4-FFF2-40B4-BE49-F238E27FC236}">
                <a16:creationId xmlns:a16="http://schemas.microsoft.com/office/drawing/2014/main" id="{EE0774C8-9088-07F4-56D1-BF17FBDA019D}"/>
              </a:ext>
            </a:extLst>
          </p:cNvPr>
          <p:cNvSpPr txBox="1">
            <a:spLocks/>
          </p:cNvSpPr>
          <p:nvPr/>
        </p:nvSpPr>
        <p:spPr bwMode="auto">
          <a:xfrm>
            <a:off x="780679" y="999193"/>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Observer Design Pattern Demo Part 1</a:t>
            </a:r>
          </a:p>
        </p:txBody>
      </p:sp>
    </p:spTree>
    <p:extLst>
      <p:ext uri="{BB962C8B-B14F-4D97-AF65-F5344CB8AC3E}">
        <p14:creationId xmlns:p14="http://schemas.microsoft.com/office/powerpoint/2010/main" val="3919002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6B91-A826-FC22-629A-C38A3789D3E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3A1EFE-AF31-39A5-171E-6ECB26C143EE}"/>
              </a:ext>
            </a:extLst>
          </p:cNvPr>
          <p:cNvSpPr>
            <a:spLocks noGrp="1"/>
          </p:cNvSpPr>
          <p:nvPr>
            <p:ph type="ftr" sz="quarter" idx="10"/>
          </p:nvPr>
        </p:nvSpPr>
        <p:spPr/>
        <p:txBody>
          <a:bodyPr/>
          <a:lstStyle/>
          <a:p>
            <a:pPr>
              <a:defRPr/>
            </a:pPr>
            <a:r>
              <a:rPr lang="en-GB"/>
              <a:t>Copyright © University of Science, VNUHCM - APCS 2023</a:t>
            </a:r>
          </a:p>
        </p:txBody>
      </p:sp>
      <p:pic>
        <p:nvPicPr>
          <p:cNvPr id="2" name="Picture 1">
            <a:extLst>
              <a:ext uri="{FF2B5EF4-FFF2-40B4-BE49-F238E27FC236}">
                <a16:creationId xmlns:a16="http://schemas.microsoft.com/office/drawing/2014/main" id="{D9E8A293-6EEC-DA73-677A-AB095FD0181D}"/>
              </a:ext>
            </a:extLst>
          </p:cNvPr>
          <p:cNvPicPr>
            <a:picLocks noChangeAspect="1"/>
          </p:cNvPicPr>
          <p:nvPr/>
        </p:nvPicPr>
        <p:blipFill>
          <a:blip r:embed="rId2"/>
          <a:stretch>
            <a:fillRect/>
          </a:stretch>
        </p:blipFill>
        <p:spPr>
          <a:xfrm>
            <a:off x="1192976" y="1344883"/>
            <a:ext cx="7520047" cy="5065952"/>
          </a:xfrm>
          <a:prstGeom prst="rect">
            <a:avLst/>
          </a:prstGeom>
        </p:spPr>
      </p:pic>
      <p:sp>
        <p:nvSpPr>
          <p:cNvPr id="6" name="Text Placeholder 2">
            <a:extLst>
              <a:ext uri="{FF2B5EF4-FFF2-40B4-BE49-F238E27FC236}">
                <a16:creationId xmlns:a16="http://schemas.microsoft.com/office/drawing/2014/main" id="{3561DF0B-E953-1C0A-98C1-ADCB48979C1D}"/>
              </a:ext>
            </a:extLst>
          </p:cNvPr>
          <p:cNvSpPr txBox="1">
            <a:spLocks/>
          </p:cNvSpPr>
          <p:nvPr/>
        </p:nvSpPr>
        <p:spPr bwMode="auto">
          <a:xfrm>
            <a:off x="780679" y="879296"/>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dirty="0"/>
              <a:t>Observer Design Pattern Demo Part 2</a:t>
            </a:r>
          </a:p>
        </p:txBody>
      </p:sp>
    </p:spTree>
    <p:extLst>
      <p:ext uri="{BB962C8B-B14F-4D97-AF65-F5344CB8AC3E}">
        <p14:creationId xmlns:p14="http://schemas.microsoft.com/office/powerpoint/2010/main" val="268703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CD86-A945-359A-E2E5-5C00C220F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CD66F-4782-E6F7-27E5-CD090C3B652C}"/>
              </a:ext>
            </a:extLst>
          </p:cNvPr>
          <p:cNvSpPr>
            <a:spLocks noGrp="1"/>
          </p:cNvSpPr>
          <p:nvPr>
            <p:ph type="title"/>
          </p:nvPr>
        </p:nvSpPr>
        <p:spPr>
          <a:xfrm>
            <a:off x="742950" y="802688"/>
            <a:ext cx="8816686" cy="909637"/>
          </a:xfrm>
        </p:spPr>
        <p:txBody>
          <a:bodyPr/>
          <a:lstStyle/>
          <a:p>
            <a:r>
              <a:rPr lang="en-US" cap="none"/>
              <a:t>Relationship with Mediator Pattern</a:t>
            </a:r>
          </a:p>
        </p:txBody>
      </p:sp>
      <p:sp>
        <p:nvSpPr>
          <p:cNvPr id="4" name="Footer Placeholder 3">
            <a:extLst>
              <a:ext uri="{FF2B5EF4-FFF2-40B4-BE49-F238E27FC236}">
                <a16:creationId xmlns:a16="http://schemas.microsoft.com/office/drawing/2014/main" id="{DB256B7C-CDE4-3A6C-0271-EBA6D43D1AD9}"/>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7130EB64-AE46-FCA1-A9CD-7B320A9E3225}"/>
              </a:ext>
            </a:extLst>
          </p:cNvPr>
          <p:cNvSpPr>
            <a:spLocks noGrp="1"/>
          </p:cNvSpPr>
          <p:nvPr>
            <p:ph type="body" idx="1"/>
          </p:nvPr>
        </p:nvSpPr>
        <p:spPr>
          <a:xfrm>
            <a:off x="783577" y="1948616"/>
            <a:ext cx="7336738" cy="1650334"/>
          </a:xfrm>
        </p:spPr>
        <p:txBody>
          <a:bodyPr anchor="t"/>
          <a:lstStyle/>
          <a:p>
            <a:pPr marL="342900" indent="-342900">
              <a:buFont typeface="Calibri"/>
              <a:buChar char="-"/>
            </a:pPr>
            <a:r>
              <a:rPr lang="en-US"/>
              <a:t>A </a:t>
            </a:r>
            <a:r>
              <a:rPr lang="en-US" err="1"/>
              <a:t>behavioural</a:t>
            </a:r>
            <a:r>
              <a:rPr lang="en-US"/>
              <a:t> design pattern that reduces chaotic dependencies between objects.</a:t>
            </a:r>
          </a:p>
          <a:p>
            <a:pPr marL="342900" indent="-342900">
              <a:buFont typeface="Calibri"/>
              <a:buChar char="-"/>
            </a:pPr>
            <a:r>
              <a:rPr lang="en-US"/>
              <a:t>It restricts direct communications between objects (Colleagues) and forces them to collaborate exclusively via a centralized mediator object.</a:t>
            </a:r>
          </a:p>
        </p:txBody>
      </p:sp>
      <p:sp>
        <p:nvSpPr>
          <p:cNvPr id="6" name="Text Placeholder 2">
            <a:extLst>
              <a:ext uri="{FF2B5EF4-FFF2-40B4-BE49-F238E27FC236}">
                <a16:creationId xmlns:a16="http://schemas.microsoft.com/office/drawing/2014/main" id="{F4B7058D-BCE6-3A2A-D0B2-CAF7F660D5DD}"/>
              </a:ext>
            </a:extLst>
          </p:cNvPr>
          <p:cNvSpPr txBox="1">
            <a:spLocks/>
          </p:cNvSpPr>
          <p:nvPr/>
        </p:nvSpPr>
        <p:spPr bwMode="auto">
          <a:xfrm>
            <a:off x="780243" y="1478176"/>
            <a:ext cx="7329966" cy="465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a:t>What is the Mediator Pattern?</a:t>
            </a:r>
          </a:p>
        </p:txBody>
      </p:sp>
      <p:pic>
        <p:nvPicPr>
          <p:cNvPr id="8" name="Picture 7" descr="Traffic control - Airspace, Aircraft, Navigation | Britannica">
            <a:extLst>
              <a:ext uri="{FF2B5EF4-FFF2-40B4-BE49-F238E27FC236}">
                <a16:creationId xmlns:a16="http://schemas.microsoft.com/office/drawing/2014/main" id="{3F79E1C7-FDC3-E94C-E13E-ABD5EA0EDE20}"/>
              </a:ext>
            </a:extLst>
          </p:cNvPr>
          <p:cNvPicPr>
            <a:picLocks noChangeAspect="1"/>
          </p:cNvPicPr>
          <p:nvPr/>
        </p:nvPicPr>
        <p:blipFill>
          <a:blip r:embed="rId2"/>
          <a:stretch>
            <a:fillRect/>
          </a:stretch>
        </p:blipFill>
        <p:spPr>
          <a:xfrm>
            <a:off x="1184459" y="3756628"/>
            <a:ext cx="3630202" cy="2614647"/>
          </a:xfrm>
          <a:prstGeom prst="rect">
            <a:avLst/>
          </a:prstGeom>
        </p:spPr>
      </p:pic>
      <p:sp>
        <p:nvSpPr>
          <p:cNvPr id="11" name="Text Placeholder 2">
            <a:extLst>
              <a:ext uri="{FF2B5EF4-FFF2-40B4-BE49-F238E27FC236}">
                <a16:creationId xmlns:a16="http://schemas.microsoft.com/office/drawing/2014/main" id="{F0801436-647B-6AE0-35C8-C57A6FF180DB}"/>
              </a:ext>
            </a:extLst>
          </p:cNvPr>
          <p:cNvSpPr txBox="1">
            <a:spLocks/>
          </p:cNvSpPr>
          <p:nvPr/>
        </p:nvSpPr>
        <p:spPr bwMode="auto">
          <a:xfrm>
            <a:off x="4869938" y="4781933"/>
            <a:ext cx="4465827" cy="10004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gn="ctr">
              <a:lnSpc>
                <a:spcPct val="100000"/>
              </a:lnSpc>
            </a:pPr>
            <a:r>
              <a:rPr lang="en-US" i="1" kern="0"/>
              <a:t>Airplanes communicate solely with the control tower (Mediator), which safely orchestrates the </a:t>
            </a:r>
            <a:r>
              <a:rPr lang="en-US" i="1" kern="0" err="1"/>
              <a:t>traf</a:t>
            </a:r>
            <a:r>
              <a:rPr lang="en-US" i="1" kern="0"/>
              <a:t>fic.</a:t>
            </a:r>
          </a:p>
        </p:txBody>
      </p:sp>
    </p:spTree>
    <p:extLst>
      <p:ext uri="{BB962C8B-B14F-4D97-AF65-F5344CB8AC3E}">
        <p14:creationId xmlns:p14="http://schemas.microsoft.com/office/powerpoint/2010/main" val="131948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21FA3-C506-9CED-BB74-A3535DF5C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CE2A7-1AD2-DBBB-C3E1-7A54182A960D}"/>
              </a:ext>
            </a:extLst>
          </p:cNvPr>
          <p:cNvSpPr>
            <a:spLocks noGrp="1"/>
          </p:cNvSpPr>
          <p:nvPr>
            <p:ph type="title"/>
          </p:nvPr>
        </p:nvSpPr>
        <p:spPr>
          <a:xfrm>
            <a:off x="742950" y="802688"/>
            <a:ext cx="8816686" cy="909637"/>
          </a:xfrm>
        </p:spPr>
        <p:txBody>
          <a:bodyPr/>
          <a:lstStyle/>
          <a:p>
            <a:r>
              <a:rPr lang="en-US" cap="none"/>
              <a:t>Observer-Mediator Fusion</a:t>
            </a:r>
          </a:p>
        </p:txBody>
      </p:sp>
      <p:sp>
        <p:nvSpPr>
          <p:cNvPr id="4" name="Footer Placeholder 3">
            <a:extLst>
              <a:ext uri="{FF2B5EF4-FFF2-40B4-BE49-F238E27FC236}">
                <a16:creationId xmlns:a16="http://schemas.microsoft.com/office/drawing/2014/main" id="{20C706F2-7437-5FE2-D399-39B99C9DF94F}"/>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DFF74908-CE68-7337-1593-696D5787DD12}"/>
              </a:ext>
            </a:extLst>
          </p:cNvPr>
          <p:cNvSpPr>
            <a:spLocks noGrp="1"/>
          </p:cNvSpPr>
          <p:nvPr>
            <p:ph type="body" idx="1"/>
          </p:nvPr>
        </p:nvSpPr>
        <p:spPr>
          <a:xfrm>
            <a:off x="3219450" y="3819799"/>
            <a:ext cx="3467100" cy="610263"/>
          </a:xfrm>
        </p:spPr>
        <p:txBody>
          <a:bodyPr anchor="t"/>
          <a:lstStyle/>
          <a:p>
            <a:r>
              <a:rPr lang="en-US" sz="1600" i="1"/>
              <a:t>The Colleagues act as Subjects,</a:t>
            </a:r>
            <a:endParaRPr lang="en-US"/>
          </a:p>
          <a:p>
            <a:r>
              <a:rPr lang="en-US" sz="1600" i="1"/>
              <a:t> The Mediator acts as the Observer.</a:t>
            </a:r>
            <a:endParaRPr lang="en-US"/>
          </a:p>
        </p:txBody>
      </p:sp>
      <p:pic>
        <p:nvPicPr>
          <p:cNvPr id="3" name="Picture 2">
            <a:extLst>
              <a:ext uri="{FF2B5EF4-FFF2-40B4-BE49-F238E27FC236}">
                <a16:creationId xmlns:a16="http://schemas.microsoft.com/office/drawing/2014/main" id="{CFD33A22-7A86-0F2F-DEC0-2589313C1280}"/>
              </a:ext>
            </a:extLst>
          </p:cNvPr>
          <p:cNvPicPr>
            <a:picLocks noChangeAspect="1"/>
          </p:cNvPicPr>
          <p:nvPr/>
        </p:nvPicPr>
        <p:blipFill>
          <a:blip r:embed="rId2"/>
          <a:stretch>
            <a:fillRect/>
          </a:stretch>
        </p:blipFill>
        <p:spPr>
          <a:xfrm>
            <a:off x="1765300" y="1814353"/>
            <a:ext cx="6375400" cy="1866900"/>
          </a:xfrm>
          <a:prstGeom prst="rect">
            <a:avLst/>
          </a:prstGeom>
        </p:spPr>
      </p:pic>
      <p:sp>
        <p:nvSpPr>
          <p:cNvPr id="6" name="Text Placeholder 2">
            <a:extLst>
              <a:ext uri="{FF2B5EF4-FFF2-40B4-BE49-F238E27FC236}">
                <a16:creationId xmlns:a16="http://schemas.microsoft.com/office/drawing/2014/main" id="{335BD82D-D540-3CAA-116E-33491E348645}"/>
              </a:ext>
            </a:extLst>
          </p:cNvPr>
          <p:cNvSpPr txBox="1">
            <a:spLocks/>
          </p:cNvSpPr>
          <p:nvPr/>
        </p:nvSpPr>
        <p:spPr bwMode="auto">
          <a:xfrm>
            <a:off x="741603" y="4789788"/>
            <a:ext cx="8197215" cy="16503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t>When a Colleague's state changes, it triggers an event. The Mediator (who is subscribed to these events) catches the notification, evaluates the global context, and updates other relevant Colleagues accordingly.</a:t>
            </a:r>
          </a:p>
        </p:txBody>
      </p:sp>
    </p:spTree>
    <p:extLst>
      <p:ext uri="{BB962C8B-B14F-4D97-AF65-F5344CB8AC3E}">
        <p14:creationId xmlns:p14="http://schemas.microsoft.com/office/powerpoint/2010/main" val="2572402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1018-2C99-422E-92D8-448961F2842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8A8E154-6E07-D3E4-F127-BBF562C1B05A}"/>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69197B5E-DA42-4324-8433-57EF565B714A}"/>
              </a:ext>
            </a:extLst>
          </p:cNvPr>
          <p:cNvSpPr>
            <a:spLocks noGrp="1"/>
          </p:cNvSpPr>
          <p:nvPr>
            <p:ph type="body" idx="1"/>
          </p:nvPr>
        </p:nvSpPr>
        <p:spPr>
          <a:xfrm>
            <a:off x="2584667" y="5265910"/>
            <a:ext cx="4743438" cy="452047"/>
          </a:xfrm>
        </p:spPr>
        <p:txBody>
          <a:bodyPr anchor="t"/>
          <a:lstStyle/>
          <a:p>
            <a:pPr algn="ctr"/>
            <a:r>
              <a:rPr lang="en-US" sz="1600" i="1"/>
              <a:t>Observer-Mediator Fusion UML Diagram</a:t>
            </a:r>
          </a:p>
        </p:txBody>
      </p:sp>
      <p:pic>
        <p:nvPicPr>
          <p:cNvPr id="5" name="Picture 4">
            <a:extLst>
              <a:ext uri="{FF2B5EF4-FFF2-40B4-BE49-F238E27FC236}">
                <a16:creationId xmlns:a16="http://schemas.microsoft.com/office/drawing/2014/main" id="{B55F64B1-6F80-7F66-A1D2-A673AFACFB23}"/>
              </a:ext>
            </a:extLst>
          </p:cNvPr>
          <p:cNvPicPr>
            <a:picLocks noChangeAspect="1"/>
          </p:cNvPicPr>
          <p:nvPr/>
        </p:nvPicPr>
        <p:blipFill>
          <a:blip r:embed="rId2"/>
          <a:stretch>
            <a:fillRect/>
          </a:stretch>
        </p:blipFill>
        <p:spPr>
          <a:xfrm>
            <a:off x="1448661" y="1704315"/>
            <a:ext cx="7008678" cy="3449369"/>
          </a:xfrm>
          <a:prstGeom prst="rect">
            <a:avLst/>
          </a:prstGeom>
        </p:spPr>
      </p:pic>
    </p:spTree>
    <p:extLst>
      <p:ext uri="{BB962C8B-B14F-4D97-AF65-F5344CB8AC3E}">
        <p14:creationId xmlns:p14="http://schemas.microsoft.com/office/powerpoint/2010/main" val="907243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9DED-A352-0E7B-1321-4DEA16EA8E0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4B47F5A-A138-FE66-48E9-1DD3395AE2D3}"/>
              </a:ext>
            </a:extLst>
          </p:cNvPr>
          <p:cNvSpPr>
            <a:spLocks noGrp="1"/>
          </p:cNvSpPr>
          <p:nvPr>
            <p:ph type="ftr" sz="quarter" idx="10"/>
          </p:nvPr>
        </p:nvSpPr>
        <p:spPr/>
        <p:txBody>
          <a:bodyPr/>
          <a:lstStyle/>
          <a:p>
            <a:pPr>
              <a:defRPr/>
            </a:pPr>
            <a:r>
              <a:rPr lang="en-GB"/>
              <a:t>Copyright © University of Science, VNUHCM - APCS 2023</a:t>
            </a:r>
          </a:p>
        </p:txBody>
      </p:sp>
      <p:pic>
        <p:nvPicPr>
          <p:cNvPr id="2" name="Picture 1">
            <a:extLst>
              <a:ext uri="{FF2B5EF4-FFF2-40B4-BE49-F238E27FC236}">
                <a16:creationId xmlns:a16="http://schemas.microsoft.com/office/drawing/2014/main" id="{67DF39B7-7D53-268E-8BEF-1EC8508BDDFD}"/>
              </a:ext>
            </a:extLst>
          </p:cNvPr>
          <p:cNvPicPr>
            <a:picLocks noChangeAspect="1"/>
          </p:cNvPicPr>
          <p:nvPr/>
        </p:nvPicPr>
        <p:blipFill>
          <a:blip r:embed="rId2"/>
          <a:stretch>
            <a:fillRect/>
          </a:stretch>
        </p:blipFill>
        <p:spPr>
          <a:xfrm>
            <a:off x="4771389" y="944471"/>
            <a:ext cx="4696671" cy="4975826"/>
          </a:xfrm>
          <a:prstGeom prst="rect">
            <a:avLst/>
          </a:prstGeom>
        </p:spPr>
      </p:pic>
      <p:sp>
        <p:nvSpPr>
          <p:cNvPr id="5" name="Text Placeholder 2">
            <a:extLst>
              <a:ext uri="{FF2B5EF4-FFF2-40B4-BE49-F238E27FC236}">
                <a16:creationId xmlns:a16="http://schemas.microsoft.com/office/drawing/2014/main" id="{0E634CF9-CD47-4B03-4B9C-4FC3BA55EB56}"/>
              </a:ext>
            </a:extLst>
          </p:cNvPr>
          <p:cNvSpPr txBox="1">
            <a:spLocks/>
          </p:cNvSpPr>
          <p:nvPr/>
        </p:nvSpPr>
        <p:spPr bwMode="auto">
          <a:xfrm>
            <a:off x="315031" y="1431874"/>
            <a:ext cx="4330961" cy="41146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b="1" kern="0" err="1"/>
              <a:t>EventBus</a:t>
            </a:r>
            <a:r>
              <a:rPr lang="en-US" b="1" kern="0"/>
              <a:t> in Game Development</a:t>
            </a:r>
          </a:p>
          <a:p>
            <a:pPr marL="342900" indent="-342900">
              <a:lnSpc>
                <a:spcPct val="100000"/>
              </a:lnSpc>
              <a:buFont typeface="Calibri"/>
              <a:buChar char="-"/>
            </a:pPr>
            <a:r>
              <a:rPr lang="en-US" kern="0"/>
              <a:t>A Player character takes damage and dies (Event Publisher).</a:t>
            </a:r>
          </a:p>
          <a:p>
            <a:pPr marL="342900" indent="-342900">
              <a:lnSpc>
                <a:spcPct val="100000"/>
              </a:lnSpc>
              <a:buFont typeface="Calibri"/>
              <a:buChar char="-"/>
            </a:pPr>
            <a:r>
              <a:rPr lang="en-US" kern="0"/>
              <a:t>The Player does not call the </a:t>
            </a:r>
            <a:r>
              <a:rPr lang="en-US" kern="0" err="1"/>
              <a:t>AchievementManager</a:t>
            </a:r>
            <a:r>
              <a:rPr lang="en-US" kern="0"/>
              <a:t> or </a:t>
            </a:r>
            <a:r>
              <a:rPr lang="en-US" kern="0" err="1"/>
              <a:t>StatisticsTracker</a:t>
            </a:r>
            <a:r>
              <a:rPr lang="en-US" kern="0"/>
              <a:t>. It simply publishes a </a:t>
            </a:r>
            <a:r>
              <a:rPr lang="en-US" kern="0" err="1"/>
              <a:t>PlayerDied</a:t>
            </a:r>
            <a:r>
              <a:rPr lang="en-US" kern="0"/>
              <a:t> event to the central </a:t>
            </a:r>
            <a:r>
              <a:rPr lang="en-US" kern="0" err="1"/>
              <a:t>EventBus</a:t>
            </a:r>
            <a:r>
              <a:rPr lang="en-US" kern="0"/>
              <a:t>.</a:t>
            </a:r>
          </a:p>
          <a:p>
            <a:pPr marL="342900" indent="-342900">
              <a:lnSpc>
                <a:spcPct val="100000"/>
              </a:lnSpc>
              <a:buFont typeface="Calibri"/>
              <a:buChar char="-"/>
            </a:pPr>
            <a:r>
              <a:rPr lang="en-US" kern="0"/>
              <a:t>The systems that subscribed to that specific event type are immediately notified and execute their logic.</a:t>
            </a:r>
          </a:p>
          <a:p>
            <a:pPr>
              <a:lnSpc>
                <a:spcPct val="100000"/>
              </a:lnSpc>
            </a:pPr>
            <a:endParaRPr lang="en-US" kern="0"/>
          </a:p>
        </p:txBody>
      </p:sp>
    </p:spTree>
    <p:extLst>
      <p:ext uri="{BB962C8B-B14F-4D97-AF65-F5344CB8AC3E}">
        <p14:creationId xmlns:p14="http://schemas.microsoft.com/office/powerpoint/2010/main" val="3302933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23BA-695D-7D1C-37C8-88A3CFCCA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06926-CBBE-CF2F-AA61-C5669C48545F}"/>
              </a:ext>
            </a:extLst>
          </p:cNvPr>
          <p:cNvSpPr>
            <a:spLocks noGrp="1"/>
          </p:cNvSpPr>
          <p:nvPr>
            <p:ph type="title"/>
          </p:nvPr>
        </p:nvSpPr>
        <p:spPr>
          <a:xfrm>
            <a:off x="742950" y="802688"/>
            <a:ext cx="8420100" cy="1399738"/>
          </a:xfrm>
        </p:spPr>
        <p:txBody>
          <a:bodyPr/>
          <a:lstStyle/>
          <a:p>
            <a:r>
              <a:rPr lang="en-US" cap="none"/>
              <a:t>Relationship with Interpreter design pattern</a:t>
            </a:r>
          </a:p>
        </p:txBody>
      </p:sp>
      <p:sp>
        <p:nvSpPr>
          <p:cNvPr id="4" name="Footer Placeholder 3">
            <a:extLst>
              <a:ext uri="{FF2B5EF4-FFF2-40B4-BE49-F238E27FC236}">
                <a16:creationId xmlns:a16="http://schemas.microsoft.com/office/drawing/2014/main" id="{F6766942-2154-9D37-0652-AC9E6477A73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4209340-E929-DFFB-F2C2-ED6F2C1BA8F8}"/>
              </a:ext>
            </a:extLst>
          </p:cNvPr>
          <p:cNvSpPr>
            <a:spLocks noGrp="1"/>
          </p:cNvSpPr>
          <p:nvPr>
            <p:ph type="body" idx="1"/>
          </p:nvPr>
        </p:nvSpPr>
        <p:spPr>
          <a:xfrm>
            <a:off x="742950" y="2202426"/>
            <a:ext cx="4210049" cy="1956619"/>
          </a:xfrm>
        </p:spPr>
        <p:txBody>
          <a:bodyPr anchor="t"/>
          <a:lstStyle/>
          <a:p>
            <a:r>
              <a:rPr lang="en-US"/>
              <a:t>Interpreter design pattern: Given a language, we need to defined a hierarchical representation for the language.</a:t>
            </a:r>
          </a:p>
          <a:p>
            <a:r>
              <a:rPr lang="en-US"/>
              <a:t>Example: Representing (5 + 1) x 10 + 41 - x as an operation tree.</a:t>
            </a:r>
          </a:p>
          <a:p>
            <a:endParaRPr lang="en-US"/>
          </a:p>
        </p:txBody>
      </p:sp>
      <p:pic>
        <p:nvPicPr>
          <p:cNvPr id="5" name="Picture 4">
            <a:extLst>
              <a:ext uri="{FF2B5EF4-FFF2-40B4-BE49-F238E27FC236}">
                <a16:creationId xmlns:a16="http://schemas.microsoft.com/office/drawing/2014/main" id="{0DD96C78-751B-DC81-2FA5-A69489DE9099}"/>
              </a:ext>
            </a:extLst>
          </p:cNvPr>
          <p:cNvPicPr>
            <a:picLocks noChangeAspect="1"/>
          </p:cNvPicPr>
          <p:nvPr/>
        </p:nvPicPr>
        <p:blipFill>
          <a:blip r:embed="rId2"/>
          <a:stretch>
            <a:fillRect/>
          </a:stretch>
        </p:blipFill>
        <p:spPr>
          <a:xfrm>
            <a:off x="4953001" y="2202426"/>
            <a:ext cx="4445662" cy="2916637"/>
          </a:xfrm>
          <a:prstGeom prst="rect">
            <a:avLst/>
          </a:prstGeom>
        </p:spPr>
      </p:pic>
      <p:sp>
        <p:nvSpPr>
          <p:cNvPr id="6" name="Text Placeholder 2">
            <a:extLst>
              <a:ext uri="{FF2B5EF4-FFF2-40B4-BE49-F238E27FC236}">
                <a16:creationId xmlns:a16="http://schemas.microsoft.com/office/drawing/2014/main" id="{7C9E8FCA-4CE8-6DC4-89B1-CA25B9246C94}"/>
              </a:ext>
            </a:extLst>
          </p:cNvPr>
          <p:cNvSpPr txBox="1">
            <a:spLocks/>
          </p:cNvSpPr>
          <p:nvPr/>
        </p:nvSpPr>
        <p:spPr bwMode="auto">
          <a:xfrm>
            <a:off x="4952999" y="5119063"/>
            <a:ext cx="4445662" cy="2619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gn="ctr">
              <a:lnSpc>
                <a:spcPct val="100000"/>
              </a:lnSpc>
            </a:pPr>
            <a:r>
              <a:rPr lang="en-US" sz="1200" kern="0"/>
              <a:t>Source: https://sourcemaking.com/</a:t>
            </a:r>
          </a:p>
          <a:p>
            <a:pPr algn="ctr">
              <a:lnSpc>
                <a:spcPct val="100000"/>
              </a:lnSpc>
            </a:pPr>
            <a:endParaRPr lang="en-US" sz="1200" kern="0"/>
          </a:p>
        </p:txBody>
      </p:sp>
    </p:spTree>
    <p:extLst>
      <p:ext uri="{BB962C8B-B14F-4D97-AF65-F5344CB8AC3E}">
        <p14:creationId xmlns:p14="http://schemas.microsoft.com/office/powerpoint/2010/main" val="3908047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3CBB7-C487-C1A5-2124-A8E74E72B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0F6DE-A1F4-AF00-C3A5-49A4328B07EB}"/>
              </a:ext>
            </a:extLst>
          </p:cNvPr>
          <p:cNvSpPr>
            <a:spLocks noGrp="1"/>
          </p:cNvSpPr>
          <p:nvPr>
            <p:ph type="title"/>
          </p:nvPr>
        </p:nvSpPr>
        <p:spPr>
          <a:xfrm>
            <a:off x="742950" y="802688"/>
            <a:ext cx="8420100" cy="1399738"/>
          </a:xfrm>
        </p:spPr>
        <p:txBody>
          <a:bodyPr/>
          <a:lstStyle/>
          <a:p>
            <a:r>
              <a:rPr lang="en-US" cap="none"/>
              <a:t>Usage with Interpreter</a:t>
            </a:r>
          </a:p>
        </p:txBody>
      </p:sp>
      <p:sp>
        <p:nvSpPr>
          <p:cNvPr id="4" name="Footer Placeholder 3">
            <a:extLst>
              <a:ext uri="{FF2B5EF4-FFF2-40B4-BE49-F238E27FC236}">
                <a16:creationId xmlns:a16="http://schemas.microsoft.com/office/drawing/2014/main" id="{DBE556FD-4732-DA68-C715-23C11308E44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1BBEA7B-77EF-861C-2314-5D8DCAC536A0}"/>
              </a:ext>
            </a:extLst>
          </p:cNvPr>
          <p:cNvSpPr>
            <a:spLocks noGrp="1"/>
          </p:cNvSpPr>
          <p:nvPr>
            <p:ph type="body" idx="1"/>
          </p:nvPr>
        </p:nvSpPr>
        <p:spPr>
          <a:xfrm>
            <a:off x="742950" y="2202426"/>
            <a:ext cx="8420100" cy="1052051"/>
          </a:xfrm>
        </p:spPr>
        <p:txBody>
          <a:bodyPr anchor="t"/>
          <a:lstStyle/>
          <a:p>
            <a:r>
              <a:rPr lang="en-US"/>
              <a:t>However, if the terminal expression is a variable, which can be changed by another process, services, … instead of being a constant, then we need to update the result of the operations according to the new value.</a:t>
            </a:r>
          </a:p>
        </p:txBody>
      </p:sp>
      <p:sp>
        <p:nvSpPr>
          <p:cNvPr id="3" name="Text Placeholder 2">
            <a:extLst>
              <a:ext uri="{FF2B5EF4-FFF2-40B4-BE49-F238E27FC236}">
                <a16:creationId xmlns:a16="http://schemas.microsoft.com/office/drawing/2014/main" id="{D2F16AD8-86F0-BA07-5433-BA82D08065C1}"/>
              </a:ext>
            </a:extLst>
          </p:cNvPr>
          <p:cNvSpPr txBox="1">
            <a:spLocks/>
          </p:cNvSpPr>
          <p:nvPr/>
        </p:nvSpPr>
        <p:spPr bwMode="auto">
          <a:xfrm>
            <a:off x="742950" y="3602164"/>
            <a:ext cx="8420100" cy="7463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t>=&gt; We use observer pattern to observe the changes in the variable and update the tree accordingly.</a:t>
            </a:r>
          </a:p>
        </p:txBody>
      </p:sp>
    </p:spTree>
    <p:extLst>
      <p:ext uri="{BB962C8B-B14F-4D97-AF65-F5344CB8AC3E}">
        <p14:creationId xmlns:p14="http://schemas.microsoft.com/office/powerpoint/2010/main" val="2012501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ED65-414B-8096-5901-EB9B1AD65AB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9F7CFD-2067-C7B3-3039-BC106FC0EEA4}"/>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0084408-9B21-DCA4-12A2-43C252AF7E4A}"/>
              </a:ext>
            </a:extLst>
          </p:cNvPr>
          <p:cNvSpPr>
            <a:spLocks noGrp="1"/>
          </p:cNvSpPr>
          <p:nvPr>
            <p:ph type="body" idx="1"/>
          </p:nvPr>
        </p:nvSpPr>
        <p:spPr>
          <a:xfrm>
            <a:off x="742950" y="2202427"/>
            <a:ext cx="8420100" cy="1061884"/>
          </a:xfrm>
        </p:spPr>
        <p:txBody>
          <a:bodyPr anchor="t"/>
          <a:lstStyle/>
          <a:p>
            <a:r>
              <a:rPr lang="en-US"/>
              <a:t>Example: We have a spreadsheet (like an Excel file). In cell A3, we have a formula “= A1 + A2”. The result of A3 depends on the result of A1 and A2, which can be changed by another formula(s) or by user.</a:t>
            </a:r>
          </a:p>
        </p:txBody>
      </p:sp>
      <p:sp>
        <p:nvSpPr>
          <p:cNvPr id="6" name="Text Placeholder 2">
            <a:extLst>
              <a:ext uri="{FF2B5EF4-FFF2-40B4-BE49-F238E27FC236}">
                <a16:creationId xmlns:a16="http://schemas.microsoft.com/office/drawing/2014/main" id="{C72A18CB-294B-4849-A59E-06122C70C6D5}"/>
              </a:ext>
            </a:extLst>
          </p:cNvPr>
          <p:cNvSpPr txBox="1">
            <a:spLocks/>
          </p:cNvSpPr>
          <p:nvPr/>
        </p:nvSpPr>
        <p:spPr bwMode="auto">
          <a:xfrm>
            <a:off x="742950" y="3593690"/>
            <a:ext cx="8420100" cy="7718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t>=&gt; We use the interpreter pattern to interpret the formula in A3, and the observer pattern to observe the changes in A1 and A2.</a:t>
            </a:r>
          </a:p>
        </p:txBody>
      </p:sp>
      <p:sp>
        <p:nvSpPr>
          <p:cNvPr id="7" name="Title 1">
            <a:extLst>
              <a:ext uri="{FF2B5EF4-FFF2-40B4-BE49-F238E27FC236}">
                <a16:creationId xmlns:a16="http://schemas.microsoft.com/office/drawing/2014/main" id="{B40115F1-0ACB-4E6A-2BCF-FEEE1E15A979}"/>
              </a:ext>
            </a:extLst>
          </p:cNvPr>
          <p:cNvSpPr txBox="1">
            <a:spLocks/>
          </p:cNvSpPr>
          <p:nvPr/>
        </p:nvSpPr>
        <p:spPr bwMode="auto">
          <a:xfrm>
            <a:off x="742950" y="802688"/>
            <a:ext cx="8420100" cy="13997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000" b="1" cap="all">
                <a:solidFill>
                  <a:srgbClr val="003366"/>
                </a:solidFill>
                <a:latin typeface="+mj-lt"/>
                <a:ea typeface="+mj-ea"/>
                <a:cs typeface="+mj-cs"/>
              </a:defRPr>
            </a:lvl1pPr>
            <a:lvl2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2pPr>
            <a:lvl3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3pPr>
            <a:lvl4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4pPr>
            <a:lvl5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5pPr>
            <a:lvl6pPr marL="457200" algn="l" rtl="0" fontAlgn="base">
              <a:spcBef>
                <a:spcPct val="0"/>
              </a:spcBef>
              <a:spcAft>
                <a:spcPct val="0"/>
              </a:spcAft>
              <a:defRPr sz="3000">
                <a:solidFill>
                  <a:srgbClr val="003366"/>
                </a:solidFill>
                <a:latin typeface="Arial" charset="0"/>
                <a:ea typeface="ＭＳ Ｐゴシック" charset="-128"/>
                <a:cs typeface="ＭＳ Ｐゴシック" charset="-128"/>
              </a:defRPr>
            </a:lvl6pPr>
            <a:lvl7pPr marL="914400" algn="l" rtl="0" fontAlgn="base">
              <a:spcBef>
                <a:spcPct val="0"/>
              </a:spcBef>
              <a:spcAft>
                <a:spcPct val="0"/>
              </a:spcAft>
              <a:defRPr sz="3000">
                <a:solidFill>
                  <a:srgbClr val="003366"/>
                </a:solidFill>
                <a:latin typeface="Arial" charset="0"/>
                <a:ea typeface="ＭＳ Ｐゴシック" charset="-128"/>
                <a:cs typeface="ＭＳ Ｐゴシック" charset="-128"/>
              </a:defRPr>
            </a:lvl7pPr>
            <a:lvl8pPr marL="1371600" algn="l" rtl="0" fontAlgn="base">
              <a:spcBef>
                <a:spcPct val="0"/>
              </a:spcBef>
              <a:spcAft>
                <a:spcPct val="0"/>
              </a:spcAft>
              <a:defRPr sz="3000">
                <a:solidFill>
                  <a:srgbClr val="003366"/>
                </a:solidFill>
                <a:latin typeface="Arial" charset="0"/>
                <a:ea typeface="ＭＳ Ｐゴシック" charset="-128"/>
                <a:cs typeface="ＭＳ Ｐゴシック" charset="-128"/>
              </a:defRPr>
            </a:lvl8pPr>
            <a:lvl9pPr marL="1828800" algn="l" rtl="0" fontAlgn="base">
              <a:spcBef>
                <a:spcPct val="0"/>
              </a:spcBef>
              <a:spcAft>
                <a:spcPct val="0"/>
              </a:spcAft>
              <a:defRPr sz="3000">
                <a:solidFill>
                  <a:srgbClr val="003366"/>
                </a:solidFill>
                <a:latin typeface="Arial" charset="0"/>
                <a:ea typeface="ＭＳ Ｐゴシック" charset="-128"/>
                <a:cs typeface="ＭＳ Ｐゴシック" charset="-128"/>
              </a:defRPr>
            </a:lvl9pPr>
          </a:lstStyle>
          <a:p>
            <a:pPr>
              <a:lnSpc>
                <a:spcPct val="100000"/>
              </a:lnSpc>
            </a:pPr>
            <a:r>
              <a:rPr lang="en-US" kern="0" cap="none"/>
              <a:t>Usage with Interpreter</a:t>
            </a:r>
          </a:p>
        </p:txBody>
      </p:sp>
    </p:spTree>
    <p:extLst>
      <p:ext uri="{BB962C8B-B14F-4D97-AF65-F5344CB8AC3E}">
        <p14:creationId xmlns:p14="http://schemas.microsoft.com/office/powerpoint/2010/main" val="2358784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38D5-9A55-3D1B-E134-7BE51F290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75A6C-1566-8669-BBA3-6CACE76AB1F9}"/>
              </a:ext>
            </a:extLst>
          </p:cNvPr>
          <p:cNvSpPr>
            <a:spLocks noGrp="1"/>
          </p:cNvSpPr>
          <p:nvPr>
            <p:ph type="title"/>
          </p:nvPr>
        </p:nvSpPr>
        <p:spPr>
          <a:xfrm>
            <a:off x="742950" y="802688"/>
            <a:ext cx="8816686" cy="909637"/>
          </a:xfrm>
        </p:spPr>
        <p:txBody>
          <a:bodyPr/>
          <a:lstStyle/>
          <a:p>
            <a:r>
              <a:rPr lang="en-US" cap="none"/>
              <a:t>Pros &amp; Cons</a:t>
            </a:r>
          </a:p>
        </p:txBody>
      </p:sp>
      <p:sp>
        <p:nvSpPr>
          <p:cNvPr id="4" name="Footer Placeholder 3">
            <a:extLst>
              <a:ext uri="{FF2B5EF4-FFF2-40B4-BE49-F238E27FC236}">
                <a16:creationId xmlns:a16="http://schemas.microsoft.com/office/drawing/2014/main" id="{C1122FD0-658E-9BD3-5AF7-5923C0414E15}"/>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06B64E49-E0D8-250B-942C-5944309F2FC1}"/>
              </a:ext>
            </a:extLst>
          </p:cNvPr>
          <p:cNvSpPr>
            <a:spLocks noGrp="1"/>
          </p:cNvSpPr>
          <p:nvPr>
            <p:ph type="body" idx="1"/>
          </p:nvPr>
        </p:nvSpPr>
        <p:spPr>
          <a:xfrm>
            <a:off x="742950" y="1576268"/>
            <a:ext cx="8420100" cy="2848622"/>
          </a:xfrm>
        </p:spPr>
        <p:txBody>
          <a:bodyPr anchor="t"/>
          <a:lstStyle/>
          <a:p>
            <a:r>
              <a:rPr lang="en-US" b="1"/>
              <a:t>Pros:</a:t>
            </a:r>
          </a:p>
          <a:p>
            <a:pPr marL="342900" indent="-342900">
              <a:buFont typeface="Calibri"/>
              <a:buChar char="-"/>
            </a:pPr>
            <a:r>
              <a:rPr lang="en-US" b="1"/>
              <a:t>Open/Closed Principle:</a:t>
            </a:r>
            <a:r>
              <a:rPr lang="en-US"/>
              <a:t> New observer classes can be introduced without modifying the subject's code.</a:t>
            </a:r>
          </a:p>
          <a:p>
            <a:pPr marL="342900" indent="-342900">
              <a:buFont typeface="Calibri"/>
              <a:buChar char="-"/>
            </a:pPr>
            <a:r>
              <a:rPr lang="en-US" b="1"/>
              <a:t>Loose Coupling:</a:t>
            </a:r>
            <a:r>
              <a:rPr lang="en-US"/>
              <a:t> The subject only interacts with a generic interface, remaining completely ignorant of the concrete observer implementations.</a:t>
            </a:r>
          </a:p>
          <a:p>
            <a:pPr marL="342900" indent="-342900">
              <a:buFont typeface="Calibri"/>
              <a:buChar char="-"/>
            </a:pPr>
            <a:r>
              <a:rPr lang="en-US" b="1"/>
              <a:t>Dynamic Relationships:</a:t>
            </a:r>
            <a:r>
              <a:rPr lang="en-US"/>
              <a:t> Connections between publishers and subscribers can be established or terminated at runtime.</a:t>
            </a:r>
          </a:p>
        </p:txBody>
      </p:sp>
    </p:spTree>
    <p:extLst>
      <p:ext uri="{BB962C8B-B14F-4D97-AF65-F5344CB8AC3E}">
        <p14:creationId xmlns:p14="http://schemas.microsoft.com/office/powerpoint/2010/main" val="3485366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200CC-BAAB-D5BE-B63B-A2D83015A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E91A5-9D44-FF95-7D88-31023FEB0D22}"/>
              </a:ext>
            </a:extLst>
          </p:cNvPr>
          <p:cNvSpPr>
            <a:spLocks noGrp="1"/>
          </p:cNvSpPr>
          <p:nvPr>
            <p:ph type="title"/>
          </p:nvPr>
        </p:nvSpPr>
        <p:spPr>
          <a:xfrm>
            <a:off x="742950" y="802688"/>
            <a:ext cx="8816686" cy="909637"/>
          </a:xfrm>
        </p:spPr>
        <p:txBody>
          <a:bodyPr/>
          <a:lstStyle/>
          <a:p>
            <a:r>
              <a:rPr lang="en-US" cap="none"/>
              <a:t>Pros &amp; Cons</a:t>
            </a:r>
          </a:p>
        </p:txBody>
      </p:sp>
      <p:sp>
        <p:nvSpPr>
          <p:cNvPr id="4" name="Footer Placeholder 3">
            <a:extLst>
              <a:ext uri="{FF2B5EF4-FFF2-40B4-BE49-F238E27FC236}">
                <a16:creationId xmlns:a16="http://schemas.microsoft.com/office/drawing/2014/main" id="{E3A8EB0F-6785-B4AC-18EA-AF5FE1195C0F}"/>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F185E239-47EB-5C0B-C2CE-86DD8D3A6B95}"/>
              </a:ext>
            </a:extLst>
          </p:cNvPr>
          <p:cNvSpPr>
            <a:spLocks noGrp="1"/>
          </p:cNvSpPr>
          <p:nvPr>
            <p:ph type="body" idx="1"/>
          </p:nvPr>
        </p:nvSpPr>
        <p:spPr>
          <a:xfrm>
            <a:off x="742950" y="1576268"/>
            <a:ext cx="8420100" cy="3369911"/>
          </a:xfrm>
        </p:spPr>
        <p:txBody>
          <a:bodyPr anchor="t"/>
          <a:lstStyle/>
          <a:p>
            <a:r>
              <a:rPr lang="en-US" b="1"/>
              <a:t>Cons:</a:t>
            </a:r>
          </a:p>
          <a:p>
            <a:pPr marL="342900" indent="-342900">
              <a:buFont typeface="Calibri"/>
              <a:buChar char="-"/>
            </a:pPr>
            <a:r>
              <a:rPr lang="en-US" b="1"/>
              <a:t>The Lapsed Listener Problem:</a:t>
            </a:r>
            <a:r>
              <a:rPr lang="en-US"/>
              <a:t> If an observer is not explicitly detached, the subject retains a reference to it. This leads to dangling pointers and fatal crashes when the subject notifies deleted memory.</a:t>
            </a:r>
          </a:p>
          <a:p>
            <a:pPr marL="342900" indent="-342900">
              <a:buFont typeface="Calibri"/>
              <a:buChar char="-"/>
            </a:pPr>
            <a:r>
              <a:rPr lang="en-US" b="1"/>
              <a:t>Non-Deterministic Execution:</a:t>
            </a:r>
            <a:r>
              <a:rPr lang="en-US"/>
              <a:t> The order in which subscribers are notified is usually arbitrary and cannot be relied upon for sequential logic.</a:t>
            </a:r>
          </a:p>
          <a:p>
            <a:pPr marL="342900" indent="-342900">
              <a:buFont typeface="Calibri"/>
              <a:buChar char="-"/>
            </a:pPr>
            <a:r>
              <a:rPr lang="en-US" b="1"/>
              <a:t>Complex Debugging: </a:t>
            </a:r>
            <a:r>
              <a:rPr lang="en-US"/>
              <a:t>Tracing the exact flow of execution through a massive chain of dynamic, event-driven updates can be difficult to step through in a debugger.</a:t>
            </a:r>
          </a:p>
        </p:txBody>
      </p:sp>
    </p:spTree>
    <p:extLst>
      <p:ext uri="{BB962C8B-B14F-4D97-AF65-F5344CB8AC3E}">
        <p14:creationId xmlns:p14="http://schemas.microsoft.com/office/powerpoint/2010/main" val="1505447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3F08-647F-57D5-EF6A-AB2793062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293B3-CE94-6A48-FE69-551FA01450D4}"/>
              </a:ext>
            </a:extLst>
          </p:cNvPr>
          <p:cNvSpPr>
            <a:spLocks noGrp="1"/>
          </p:cNvSpPr>
          <p:nvPr>
            <p:ph type="title"/>
          </p:nvPr>
        </p:nvSpPr>
        <p:spPr>
          <a:xfrm>
            <a:off x="4247842" y="3033931"/>
            <a:ext cx="1410315" cy="790138"/>
          </a:xfrm>
        </p:spPr>
        <p:txBody>
          <a:bodyPr/>
          <a:lstStyle/>
          <a:p>
            <a:pPr algn="ctr"/>
            <a:r>
              <a:rPr lang="en-US" cap="none"/>
              <a:t>Quiz</a:t>
            </a:r>
          </a:p>
        </p:txBody>
      </p:sp>
      <p:sp>
        <p:nvSpPr>
          <p:cNvPr id="4" name="Footer Placeholder 3">
            <a:extLst>
              <a:ext uri="{FF2B5EF4-FFF2-40B4-BE49-F238E27FC236}">
                <a16:creationId xmlns:a16="http://schemas.microsoft.com/office/drawing/2014/main" id="{2B6174F4-FA10-CC39-9369-402D566CCB2A}"/>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3496609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EBC56-3841-38B8-0997-9EF1ECF89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4275-2362-5FCB-94F7-5FAD05816756}"/>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3358471E-B4D2-64B8-3A02-6DFBC63FE3A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DB995CD-B08F-53E2-568F-01E23AB948E3}"/>
              </a:ext>
            </a:extLst>
          </p:cNvPr>
          <p:cNvSpPr>
            <a:spLocks noGrp="1"/>
          </p:cNvSpPr>
          <p:nvPr>
            <p:ph type="body" idx="1"/>
          </p:nvPr>
        </p:nvSpPr>
        <p:spPr>
          <a:xfrm>
            <a:off x="742950" y="1664774"/>
            <a:ext cx="8420100" cy="771832"/>
          </a:xfrm>
        </p:spPr>
        <p:txBody>
          <a:bodyPr anchor="t"/>
          <a:lstStyle/>
          <a:p>
            <a:r>
              <a:rPr lang="en-US"/>
              <a:t>Q1: If the Observer pattern were a real-world subscription service, which of the following scenarios best describes it?</a:t>
            </a:r>
          </a:p>
        </p:txBody>
      </p:sp>
      <p:sp>
        <p:nvSpPr>
          <p:cNvPr id="6" name="Text Placeholder 2">
            <a:extLst>
              <a:ext uri="{FF2B5EF4-FFF2-40B4-BE49-F238E27FC236}">
                <a16:creationId xmlns:a16="http://schemas.microsoft.com/office/drawing/2014/main" id="{BE68EBF2-AF62-7B34-B986-6E317B172ACA}"/>
              </a:ext>
            </a:extLst>
          </p:cNvPr>
          <p:cNvSpPr txBox="1">
            <a:spLocks/>
          </p:cNvSpPr>
          <p:nvPr/>
        </p:nvSpPr>
        <p:spPr bwMode="auto">
          <a:xfrm>
            <a:off x="742950" y="2651587"/>
            <a:ext cx="8420100" cy="22645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A client polling a server every 5 seconds to check if there are new emails.</a:t>
            </a:r>
          </a:p>
          <a:p>
            <a:r>
              <a:rPr lang="en-US"/>
              <a:t>B. A newspaper publisher automatically delivering the daily issue to all registered home addresses.</a:t>
            </a:r>
          </a:p>
          <a:p>
            <a:r>
              <a:rPr lang="en-US"/>
              <a:t>C. A customer walking into a physical store every day to check if a shoe is back in stock.</a:t>
            </a:r>
          </a:p>
          <a:p>
            <a:r>
              <a:rPr lang="en-US"/>
              <a:t>D. A mediator forwarding calls between two people who don't know each other.</a:t>
            </a:r>
          </a:p>
        </p:txBody>
      </p:sp>
    </p:spTree>
    <p:extLst>
      <p:ext uri="{BB962C8B-B14F-4D97-AF65-F5344CB8AC3E}">
        <p14:creationId xmlns:p14="http://schemas.microsoft.com/office/powerpoint/2010/main" val="126271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CEA56-FC33-08EC-98A8-A84097405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ECEF4-977D-8B2C-4924-7C354DF0B103}"/>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7A9EBB13-D36D-BADB-C8A3-1F47D7BFBC14}"/>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A101565-FA1E-A301-8A7F-C0B87D31A9C6}"/>
              </a:ext>
            </a:extLst>
          </p:cNvPr>
          <p:cNvSpPr>
            <a:spLocks noGrp="1"/>
          </p:cNvSpPr>
          <p:nvPr>
            <p:ph type="body" idx="1"/>
          </p:nvPr>
        </p:nvSpPr>
        <p:spPr>
          <a:xfrm>
            <a:off x="742950" y="1664774"/>
            <a:ext cx="8420100" cy="771832"/>
          </a:xfrm>
        </p:spPr>
        <p:txBody>
          <a:bodyPr anchor="t"/>
          <a:lstStyle/>
          <a:p>
            <a:r>
              <a:rPr lang="en-US"/>
              <a:t>Q1: If the Observer pattern were a real-world subscription service, which of the following scenarios best describes it?</a:t>
            </a:r>
          </a:p>
        </p:txBody>
      </p:sp>
      <p:sp>
        <p:nvSpPr>
          <p:cNvPr id="6" name="Text Placeholder 2">
            <a:extLst>
              <a:ext uri="{FF2B5EF4-FFF2-40B4-BE49-F238E27FC236}">
                <a16:creationId xmlns:a16="http://schemas.microsoft.com/office/drawing/2014/main" id="{3DB9F656-E470-7742-5E3B-ED72D360092A}"/>
              </a:ext>
            </a:extLst>
          </p:cNvPr>
          <p:cNvSpPr txBox="1">
            <a:spLocks/>
          </p:cNvSpPr>
          <p:nvPr/>
        </p:nvSpPr>
        <p:spPr bwMode="auto">
          <a:xfrm>
            <a:off x="742950" y="2651587"/>
            <a:ext cx="8420100" cy="22645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A client polling a server every 5 seconds to check if there are new emails.</a:t>
            </a:r>
          </a:p>
          <a:p>
            <a:r>
              <a:rPr lang="en-US" b="1"/>
              <a:t>B. A newspaper publisher automatically delivering the daily issue to all registered home addresses.</a:t>
            </a:r>
          </a:p>
          <a:p>
            <a:r>
              <a:rPr lang="en-US"/>
              <a:t>C. A customer walking into a physical store every day to check if a shoe is back in stock.</a:t>
            </a:r>
          </a:p>
          <a:p>
            <a:r>
              <a:rPr lang="en-US"/>
              <a:t>D. A mediator forwarding calls between two people who don't know each other.</a:t>
            </a:r>
          </a:p>
        </p:txBody>
      </p:sp>
    </p:spTree>
    <p:extLst>
      <p:ext uri="{BB962C8B-B14F-4D97-AF65-F5344CB8AC3E}">
        <p14:creationId xmlns:p14="http://schemas.microsoft.com/office/powerpoint/2010/main" val="3301940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94B0-DF03-61D6-453B-9C93AE7FE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A9CC5-6D37-1CA2-39DE-67F46E1445AE}"/>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5032AAA0-14F5-D789-1647-65567722EEBA}"/>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61FA81D2-D112-9D63-26F1-D4EB8291AEA0}"/>
              </a:ext>
            </a:extLst>
          </p:cNvPr>
          <p:cNvSpPr>
            <a:spLocks noGrp="1"/>
          </p:cNvSpPr>
          <p:nvPr>
            <p:ph type="body" idx="1"/>
          </p:nvPr>
        </p:nvSpPr>
        <p:spPr>
          <a:xfrm>
            <a:off x="742950" y="1664774"/>
            <a:ext cx="8420100" cy="771832"/>
          </a:xfrm>
        </p:spPr>
        <p:txBody>
          <a:bodyPr anchor="t"/>
          <a:lstStyle/>
          <a:p>
            <a:r>
              <a:rPr lang="en-US"/>
              <a:t>Q2: In our naive Bank Account implementation, why did we violate the Open-Closed Principle (OCP)?</a:t>
            </a:r>
          </a:p>
        </p:txBody>
      </p:sp>
      <p:sp>
        <p:nvSpPr>
          <p:cNvPr id="6" name="Text Placeholder 2">
            <a:extLst>
              <a:ext uri="{FF2B5EF4-FFF2-40B4-BE49-F238E27FC236}">
                <a16:creationId xmlns:a16="http://schemas.microsoft.com/office/drawing/2014/main" id="{0BF507F2-66BD-4776-A0AD-843426FE54FF}"/>
              </a:ext>
            </a:extLst>
          </p:cNvPr>
          <p:cNvSpPr txBox="1">
            <a:spLocks/>
          </p:cNvSpPr>
          <p:nvPr/>
        </p:nvSpPr>
        <p:spPr bwMode="auto">
          <a:xfrm>
            <a:off x="742950" y="2651587"/>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Because the </a:t>
            </a:r>
            <a:r>
              <a:rPr lang="en-US" err="1"/>
              <a:t>BankAccount</a:t>
            </a:r>
            <a:r>
              <a:rPr lang="en-US"/>
              <a:t> class was too small to hold the logic.</a:t>
            </a:r>
          </a:p>
          <a:p>
            <a:r>
              <a:rPr lang="en-US"/>
              <a:t>B. Because adding a new service required modifying the existing code of </a:t>
            </a:r>
            <a:r>
              <a:rPr lang="en-US" err="1"/>
              <a:t>BankAccount</a:t>
            </a:r>
            <a:r>
              <a:rPr lang="en-US"/>
              <a:t>.</a:t>
            </a:r>
          </a:p>
          <a:p>
            <a:r>
              <a:rPr lang="en-US"/>
              <a:t>C. Because we used C++ smart pointers instead of raw pointers.</a:t>
            </a:r>
          </a:p>
          <a:p>
            <a:r>
              <a:rPr lang="en-US"/>
              <a:t>D. Because the deposit() function was private.</a:t>
            </a:r>
          </a:p>
        </p:txBody>
      </p:sp>
    </p:spTree>
    <p:extLst>
      <p:ext uri="{BB962C8B-B14F-4D97-AF65-F5344CB8AC3E}">
        <p14:creationId xmlns:p14="http://schemas.microsoft.com/office/powerpoint/2010/main" val="2165480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07A4-F7EB-FA74-BC46-9BA9D58ED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4DCB7-A301-DB31-92C2-19496B5CF88C}"/>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A86FFCB3-CBF1-5C06-F904-948292F6FD81}"/>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70FDD29-61F0-947A-02D3-414E98F4EF18}"/>
              </a:ext>
            </a:extLst>
          </p:cNvPr>
          <p:cNvSpPr>
            <a:spLocks noGrp="1"/>
          </p:cNvSpPr>
          <p:nvPr>
            <p:ph type="body" idx="1"/>
          </p:nvPr>
        </p:nvSpPr>
        <p:spPr>
          <a:xfrm>
            <a:off x="742950" y="1664774"/>
            <a:ext cx="8420100" cy="771832"/>
          </a:xfrm>
        </p:spPr>
        <p:txBody>
          <a:bodyPr anchor="t"/>
          <a:lstStyle/>
          <a:p>
            <a:r>
              <a:rPr lang="en-US"/>
              <a:t>Q2: In our naive Bank Account implementation, why did we violate the Open-Closed Principle (OCP)?</a:t>
            </a:r>
          </a:p>
        </p:txBody>
      </p:sp>
      <p:sp>
        <p:nvSpPr>
          <p:cNvPr id="6" name="Text Placeholder 2">
            <a:extLst>
              <a:ext uri="{FF2B5EF4-FFF2-40B4-BE49-F238E27FC236}">
                <a16:creationId xmlns:a16="http://schemas.microsoft.com/office/drawing/2014/main" id="{D8D87503-1D6A-99BE-3E8B-21A9BC64D302}"/>
              </a:ext>
            </a:extLst>
          </p:cNvPr>
          <p:cNvSpPr txBox="1">
            <a:spLocks/>
          </p:cNvSpPr>
          <p:nvPr/>
        </p:nvSpPr>
        <p:spPr bwMode="auto">
          <a:xfrm>
            <a:off x="742950" y="2651587"/>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Because the </a:t>
            </a:r>
            <a:r>
              <a:rPr lang="en-US" err="1"/>
              <a:t>BankAccount</a:t>
            </a:r>
            <a:r>
              <a:rPr lang="en-US"/>
              <a:t> class was too small to hold the logic.</a:t>
            </a:r>
          </a:p>
          <a:p>
            <a:r>
              <a:rPr lang="en-US" b="1"/>
              <a:t>B. Because adding a new service required modifying the existing code of </a:t>
            </a:r>
            <a:r>
              <a:rPr lang="en-US" b="1" err="1"/>
              <a:t>BankAccount</a:t>
            </a:r>
            <a:r>
              <a:rPr lang="en-US" b="1"/>
              <a:t>.</a:t>
            </a:r>
          </a:p>
          <a:p>
            <a:r>
              <a:rPr lang="en-US"/>
              <a:t>C. Because we used C++ smart pointers instead of raw pointers.</a:t>
            </a:r>
          </a:p>
          <a:p>
            <a:r>
              <a:rPr lang="en-US"/>
              <a:t>D. Because the deposit() function was private.</a:t>
            </a:r>
          </a:p>
        </p:txBody>
      </p:sp>
    </p:spTree>
    <p:extLst>
      <p:ext uri="{BB962C8B-B14F-4D97-AF65-F5344CB8AC3E}">
        <p14:creationId xmlns:p14="http://schemas.microsoft.com/office/powerpoint/2010/main" val="3581574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7B53-063D-B9DF-AB2C-4B6DA8178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C2D55-C1F3-4531-4D6F-14709845B03B}"/>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4432A460-8972-E98D-88A5-078D80CEB740}"/>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A214B9F-3DD6-310E-B40F-A4E19B28E3E2}"/>
              </a:ext>
            </a:extLst>
          </p:cNvPr>
          <p:cNvSpPr>
            <a:spLocks noGrp="1"/>
          </p:cNvSpPr>
          <p:nvPr>
            <p:ph type="body" idx="1"/>
          </p:nvPr>
        </p:nvSpPr>
        <p:spPr>
          <a:xfrm>
            <a:off x="742950" y="1664773"/>
            <a:ext cx="8420100" cy="986813"/>
          </a:xfrm>
        </p:spPr>
        <p:txBody>
          <a:bodyPr anchor="t"/>
          <a:lstStyle/>
          <a:p>
            <a:r>
              <a:rPr lang="en-US"/>
              <a:t>Q3: Imagine a temporary UI window (observer) is deleted in C++ but forgets to call detach() or unsubscribe() on the </a:t>
            </a:r>
            <a:r>
              <a:rPr lang="en-US" err="1"/>
              <a:t>BankAccount</a:t>
            </a:r>
            <a:r>
              <a:rPr lang="en-US"/>
              <a:t>. What is the likely runtime result of the next deposit?</a:t>
            </a:r>
          </a:p>
        </p:txBody>
      </p:sp>
      <p:sp>
        <p:nvSpPr>
          <p:cNvPr id="6" name="Text Placeholder 2">
            <a:extLst>
              <a:ext uri="{FF2B5EF4-FFF2-40B4-BE49-F238E27FC236}">
                <a16:creationId xmlns:a16="http://schemas.microsoft.com/office/drawing/2014/main" id="{B6216B58-A0DC-173C-DF82-CBC4C04E1C30}"/>
              </a:ext>
            </a:extLst>
          </p:cNvPr>
          <p:cNvSpPr txBox="1">
            <a:spLocks/>
          </p:cNvSpPr>
          <p:nvPr/>
        </p:nvSpPr>
        <p:spPr bwMode="auto">
          <a:xfrm>
            <a:off x="742950" y="2987445"/>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The compiler will fail with a syntax error.</a:t>
            </a:r>
          </a:p>
          <a:p>
            <a:r>
              <a:rPr lang="en-US"/>
              <a:t>B. The program will run faster because there's one less service.</a:t>
            </a:r>
          </a:p>
          <a:p>
            <a:r>
              <a:rPr lang="en-US"/>
              <a:t>C. The program will crash or experience undefined behavior (dangling pointer).</a:t>
            </a:r>
          </a:p>
          <a:p>
            <a:r>
              <a:rPr lang="en-US"/>
              <a:t>D. The bank account will automatically recreate the UI window.</a:t>
            </a:r>
          </a:p>
        </p:txBody>
      </p:sp>
    </p:spTree>
    <p:extLst>
      <p:ext uri="{BB962C8B-B14F-4D97-AF65-F5344CB8AC3E}">
        <p14:creationId xmlns:p14="http://schemas.microsoft.com/office/powerpoint/2010/main" val="1932430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17A8-F09B-7CC0-3321-58F469E5A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1C6D3-4946-A09C-9DF5-4C515EB5E413}"/>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FA9D0720-2EF4-FDCF-B236-F7D00801C0E9}"/>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75744DB-55BC-1B8B-34F8-5CF81AAC0F2D}"/>
              </a:ext>
            </a:extLst>
          </p:cNvPr>
          <p:cNvSpPr>
            <a:spLocks noGrp="1"/>
          </p:cNvSpPr>
          <p:nvPr>
            <p:ph type="body" idx="1"/>
          </p:nvPr>
        </p:nvSpPr>
        <p:spPr>
          <a:xfrm>
            <a:off x="742950" y="1664773"/>
            <a:ext cx="8420100" cy="986813"/>
          </a:xfrm>
        </p:spPr>
        <p:txBody>
          <a:bodyPr anchor="t"/>
          <a:lstStyle/>
          <a:p>
            <a:r>
              <a:rPr lang="en-US"/>
              <a:t>Q3: Imagine a temporary UI window (observer) is deleted in C++ but forgets to call detach() or unsubscribe() on the </a:t>
            </a:r>
            <a:r>
              <a:rPr lang="en-US" err="1"/>
              <a:t>BankAccount</a:t>
            </a:r>
            <a:r>
              <a:rPr lang="en-US"/>
              <a:t>. What is the likely runtime result of the next deposit?</a:t>
            </a:r>
          </a:p>
        </p:txBody>
      </p:sp>
      <p:sp>
        <p:nvSpPr>
          <p:cNvPr id="6" name="Text Placeholder 2">
            <a:extLst>
              <a:ext uri="{FF2B5EF4-FFF2-40B4-BE49-F238E27FC236}">
                <a16:creationId xmlns:a16="http://schemas.microsoft.com/office/drawing/2014/main" id="{B30E7F69-919D-A4F3-409E-5EDAAB1B5F39}"/>
              </a:ext>
            </a:extLst>
          </p:cNvPr>
          <p:cNvSpPr txBox="1">
            <a:spLocks/>
          </p:cNvSpPr>
          <p:nvPr/>
        </p:nvSpPr>
        <p:spPr bwMode="auto">
          <a:xfrm>
            <a:off x="742950" y="2987445"/>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The compiler will fail with a syntax error.</a:t>
            </a:r>
          </a:p>
          <a:p>
            <a:r>
              <a:rPr lang="en-US"/>
              <a:t>B. The program will run faster because there's one less service.</a:t>
            </a:r>
          </a:p>
          <a:p>
            <a:r>
              <a:rPr lang="en-US" b="1"/>
              <a:t>C. The program will crash or experience undefined behavior (dangling pointer).</a:t>
            </a:r>
          </a:p>
          <a:p>
            <a:r>
              <a:rPr lang="en-US"/>
              <a:t>D. The bank account will automatically recreate the UI window.</a:t>
            </a:r>
          </a:p>
        </p:txBody>
      </p:sp>
    </p:spTree>
    <p:extLst>
      <p:ext uri="{BB962C8B-B14F-4D97-AF65-F5344CB8AC3E}">
        <p14:creationId xmlns:p14="http://schemas.microsoft.com/office/powerpoint/2010/main" val="4032613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AA6E-A54B-9505-211B-61E810903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D265B-172C-2AE8-0E9A-5160B8E011B7}"/>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8D44593E-E242-16EC-9E24-155BCEDE93DA}"/>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324DED9-B60D-7C2A-5F74-291F405F8842}"/>
              </a:ext>
            </a:extLst>
          </p:cNvPr>
          <p:cNvSpPr>
            <a:spLocks noGrp="1"/>
          </p:cNvSpPr>
          <p:nvPr>
            <p:ph type="body" idx="1"/>
          </p:nvPr>
        </p:nvSpPr>
        <p:spPr>
          <a:xfrm>
            <a:off x="742950" y="1664773"/>
            <a:ext cx="8420100" cy="986813"/>
          </a:xfrm>
        </p:spPr>
        <p:txBody>
          <a:bodyPr anchor="t"/>
          <a:lstStyle/>
          <a:p>
            <a:r>
              <a:rPr lang="en-US"/>
              <a:t>Q4: If you are building a system where observers must be notified in a </a:t>
            </a:r>
            <a:r>
              <a:rPr lang="en-US" b="1"/>
              <a:t>strict, specific order</a:t>
            </a:r>
            <a:r>
              <a:rPr lang="en-US"/>
              <a:t> (e.g., Security Logger must run </a:t>
            </a:r>
            <a:r>
              <a:rPr lang="en-US" i="1"/>
              <a:t>before</a:t>
            </a:r>
            <a:r>
              <a:rPr lang="en-US"/>
              <a:t> UI Updates), is the standard Observer Pattern a good choice?</a:t>
            </a:r>
          </a:p>
        </p:txBody>
      </p:sp>
      <p:sp>
        <p:nvSpPr>
          <p:cNvPr id="6" name="Text Placeholder 2">
            <a:extLst>
              <a:ext uri="{FF2B5EF4-FFF2-40B4-BE49-F238E27FC236}">
                <a16:creationId xmlns:a16="http://schemas.microsoft.com/office/drawing/2014/main" id="{ACFACA36-82E8-3C0B-EA6D-4BA3995B7A68}"/>
              </a:ext>
            </a:extLst>
          </p:cNvPr>
          <p:cNvSpPr txBox="1">
            <a:spLocks/>
          </p:cNvSpPr>
          <p:nvPr/>
        </p:nvSpPr>
        <p:spPr bwMode="auto">
          <a:xfrm>
            <a:off x="742950" y="2987445"/>
            <a:ext cx="8420100" cy="21499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Yes, because the standard Observer pattern guarantees alphabetical notification order.</a:t>
            </a:r>
          </a:p>
          <a:p>
            <a:r>
              <a:rPr lang="en-US"/>
              <a:t>B. Yes, because observers are always notified in the exact order they subscribed.</a:t>
            </a:r>
          </a:p>
          <a:p>
            <a:r>
              <a:rPr lang="en-US"/>
              <a:t>C. No, because the Observer pattern is only meant for web browsers.</a:t>
            </a:r>
          </a:p>
          <a:p>
            <a:r>
              <a:rPr lang="en-US"/>
              <a:t>D. No, because the standard Observer pattern makes no assumptions about notification order, and enforcing it violates loose coupling.</a:t>
            </a:r>
          </a:p>
          <a:p>
            <a:endParaRPr lang="en-US"/>
          </a:p>
        </p:txBody>
      </p:sp>
    </p:spTree>
    <p:extLst>
      <p:ext uri="{BB962C8B-B14F-4D97-AF65-F5344CB8AC3E}">
        <p14:creationId xmlns:p14="http://schemas.microsoft.com/office/powerpoint/2010/main" val="2308114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7B8E-EF14-2B4C-1D53-F3F269B58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F1FB7-0E3C-25CC-82E9-1856B3C2109C}"/>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C2BF488E-877F-40CF-1FF9-E87293D8347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41D33D97-CC31-6840-2D3D-ECD4DC1A520A}"/>
              </a:ext>
            </a:extLst>
          </p:cNvPr>
          <p:cNvSpPr>
            <a:spLocks noGrp="1"/>
          </p:cNvSpPr>
          <p:nvPr>
            <p:ph type="body" idx="1"/>
          </p:nvPr>
        </p:nvSpPr>
        <p:spPr>
          <a:xfrm>
            <a:off x="742950" y="1664773"/>
            <a:ext cx="8420100" cy="986813"/>
          </a:xfrm>
        </p:spPr>
        <p:txBody>
          <a:bodyPr anchor="t"/>
          <a:lstStyle/>
          <a:p>
            <a:r>
              <a:rPr lang="en-US"/>
              <a:t>Q4: If you are building a system where observers must be notified in a </a:t>
            </a:r>
            <a:r>
              <a:rPr lang="en-US" b="1"/>
              <a:t>strict, specific order</a:t>
            </a:r>
            <a:r>
              <a:rPr lang="en-US"/>
              <a:t> (e.g., Security Logger must run </a:t>
            </a:r>
            <a:r>
              <a:rPr lang="en-US" i="1"/>
              <a:t>before</a:t>
            </a:r>
            <a:r>
              <a:rPr lang="en-US"/>
              <a:t> UI Updates), is the standard Observer Pattern a good choice?</a:t>
            </a:r>
          </a:p>
        </p:txBody>
      </p:sp>
      <p:sp>
        <p:nvSpPr>
          <p:cNvPr id="6" name="Text Placeholder 2">
            <a:extLst>
              <a:ext uri="{FF2B5EF4-FFF2-40B4-BE49-F238E27FC236}">
                <a16:creationId xmlns:a16="http://schemas.microsoft.com/office/drawing/2014/main" id="{127159D5-6FA9-FF5F-0499-49741D354408}"/>
              </a:ext>
            </a:extLst>
          </p:cNvPr>
          <p:cNvSpPr txBox="1">
            <a:spLocks/>
          </p:cNvSpPr>
          <p:nvPr/>
        </p:nvSpPr>
        <p:spPr bwMode="auto">
          <a:xfrm>
            <a:off x="742950" y="2987445"/>
            <a:ext cx="8420100" cy="21499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t>A. Yes, because the standard Observer pattern guarantees alphabetical notification order.</a:t>
            </a:r>
          </a:p>
          <a:p>
            <a:r>
              <a:rPr lang="en-US"/>
              <a:t>B. Yes, because observers are always notified in the exact order they subscribed.</a:t>
            </a:r>
          </a:p>
          <a:p>
            <a:r>
              <a:rPr lang="en-US"/>
              <a:t>C. No, because the Observer pattern is only meant for web browsers.</a:t>
            </a:r>
          </a:p>
          <a:p>
            <a:r>
              <a:rPr lang="en-US" b="1"/>
              <a:t>D. No, because the standard Observer pattern makes no assumptions about notification order, and enforcing it violates loose coupling.</a:t>
            </a:r>
          </a:p>
          <a:p>
            <a:endParaRPr lang="en-US"/>
          </a:p>
        </p:txBody>
      </p:sp>
    </p:spTree>
    <p:extLst>
      <p:ext uri="{BB962C8B-B14F-4D97-AF65-F5344CB8AC3E}">
        <p14:creationId xmlns:p14="http://schemas.microsoft.com/office/powerpoint/2010/main" val="11756347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A493-E8A8-B8B0-2F05-A9CCB9BDA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7B6B6-F216-E0A6-6FBA-4FB18DAF7A77}"/>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406A0E8A-CC0C-ED3D-282E-B59D2B8C75C6}"/>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6A98BA9B-EDA9-97F3-562F-74493A3309E2}"/>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Q5: In modern C++, if a Subject holds strong std::</a:t>
            </a:r>
            <a:r>
              <a:rPr lang="en-US" err="1">
                <a:solidFill>
                  <a:srgbClr val="000000"/>
                </a:solidFill>
                <a:ea typeface="ＭＳ Ｐゴシック"/>
                <a:cs typeface="+mn-lt"/>
              </a:rPr>
              <a:t>shared_ptr</a:t>
            </a:r>
            <a:r>
              <a:rPr lang="en-US">
                <a:solidFill>
                  <a:srgbClr val="000000"/>
                </a:solidFill>
                <a:ea typeface="ＭＳ Ｐゴシック"/>
                <a:cs typeface="+mn-lt"/>
              </a:rPr>
              <a:t>&lt;Observer&gt; references to its observers, and observers hold std::</a:t>
            </a:r>
            <a:r>
              <a:rPr lang="en-US" err="1">
                <a:solidFill>
                  <a:srgbClr val="000000"/>
                </a:solidFill>
                <a:ea typeface="ＭＳ Ｐゴシック"/>
                <a:cs typeface="+mn-lt"/>
              </a:rPr>
              <a:t>shared_ptr</a:t>
            </a:r>
            <a:r>
              <a:rPr lang="en-US">
                <a:solidFill>
                  <a:srgbClr val="000000"/>
                </a:solidFill>
                <a:ea typeface="ＭＳ Ｐゴシック"/>
                <a:cs typeface="+mn-lt"/>
              </a:rPr>
              <a:t>&lt;Subject&gt; back to the subject, what issue arises?</a:t>
            </a:r>
            <a:endParaRPr lang="en-US">
              <a:cs typeface="Arial"/>
            </a:endParaRPr>
          </a:p>
          <a:p>
            <a:endParaRPr lang="en-US">
              <a:cs typeface="Arial"/>
            </a:endParaRPr>
          </a:p>
        </p:txBody>
      </p:sp>
      <p:sp>
        <p:nvSpPr>
          <p:cNvPr id="6" name="Text Placeholder 2">
            <a:extLst>
              <a:ext uri="{FF2B5EF4-FFF2-40B4-BE49-F238E27FC236}">
                <a16:creationId xmlns:a16="http://schemas.microsoft.com/office/drawing/2014/main" id="{22267689-39E2-5367-EDD0-527482E2FD1A}"/>
              </a:ext>
            </a:extLst>
          </p:cNvPr>
          <p:cNvSpPr txBox="1">
            <a:spLocks/>
          </p:cNvSpPr>
          <p:nvPr/>
        </p:nvSpPr>
        <p:spPr bwMode="auto">
          <a:xfrm>
            <a:off x="742950" y="3023730"/>
            <a:ext cx="8420100" cy="16273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The compiler throws a syntax error.</a:t>
            </a:r>
            <a:endParaRPr lang="en-US"/>
          </a:p>
          <a:p>
            <a:r>
              <a:rPr lang="en-US">
                <a:solidFill>
                  <a:srgbClr val="000000"/>
                </a:solidFill>
                <a:ea typeface="+mn-lt"/>
                <a:cs typeface="+mn-lt"/>
              </a:rPr>
              <a:t>B. A circular reference occurs, preventing objects from ever being destroyed (memory leak).</a:t>
            </a:r>
            <a:endParaRPr lang="en-US"/>
          </a:p>
          <a:p>
            <a:r>
              <a:rPr lang="en-US">
                <a:solidFill>
                  <a:srgbClr val="000000"/>
                </a:solidFill>
                <a:ea typeface="+mn-lt"/>
                <a:cs typeface="+mn-lt"/>
              </a:rPr>
              <a:t>C. The program automatically converts them into raw pointers.</a:t>
            </a:r>
            <a:endParaRPr lang="en-US"/>
          </a:p>
          <a:p>
            <a:r>
              <a:rPr lang="en-US">
                <a:solidFill>
                  <a:srgbClr val="000000"/>
                </a:solidFill>
                <a:ea typeface="+mn-lt"/>
                <a:cs typeface="+mn-lt"/>
              </a:rPr>
              <a:t>D. Observers are executed in reverse order.</a:t>
            </a:r>
            <a:endParaRPr lang="en-US"/>
          </a:p>
          <a:p>
            <a:endParaRPr lang="en-US"/>
          </a:p>
        </p:txBody>
      </p:sp>
    </p:spTree>
    <p:extLst>
      <p:ext uri="{BB962C8B-B14F-4D97-AF65-F5344CB8AC3E}">
        <p14:creationId xmlns:p14="http://schemas.microsoft.com/office/powerpoint/2010/main" val="3966075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BDDD6-49F9-FCD7-7C49-A556D9BCE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44183-804A-D5E7-9EE1-8F96DA4F30F4}"/>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798CC00A-DEE2-44D8-9FBC-9ACB44B56A7F}"/>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1DCCC8EB-9A0A-9FAA-5835-2E17904C7822}"/>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Q5: In modern C++, if a Subject holds strong std::</a:t>
            </a:r>
            <a:r>
              <a:rPr lang="en-US" err="1">
                <a:solidFill>
                  <a:srgbClr val="000000"/>
                </a:solidFill>
                <a:ea typeface="ＭＳ Ｐゴシック"/>
                <a:cs typeface="+mn-lt"/>
              </a:rPr>
              <a:t>shared_ptr</a:t>
            </a:r>
            <a:r>
              <a:rPr lang="en-US">
                <a:solidFill>
                  <a:srgbClr val="000000"/>
                </a:solidFill>
                <a:ea typeface="ＭＳ Ｐゴシック"/>
                <a:cs typeface="+mn-lt"/>
              </a:rPr>
              <a:t>&lt;Observer&gt; references to its observers, and observers hold std::</a:t>
            </a:r>
            <a:r>
              <a:rPr lang="en-US" err="1">
                <a:solidFill>
                  <a:srgbClr val="000000"/>
                </a:solidFill>
                <a:ea typeface="ＭＳ Ｐゴシック"/>
                <a:cs typeface="+mn-lt"/>
              </a:rPr>
              <a:t>shared_ptr</a:t>
            </a:r>
            <a:r>
              <a:rPr lang="en-US">
                <a:solidFill>
                  <a:srgbClr val="000000"/>
                </a:solidFill>
                <a:ea typeface="ＭＳ Ｐゴシック"/>
                <a:cs typeface="+mn-lt"/>
              </a:rPr>
              <a:t>&lt;Subject&gt; back to the subject, what issue arises?</a:t>
            </a:r>
            <a:endParaRPr lang="en-US">
              <a:cs typeface="Arial"/>
            </a:endParaRPr>
          </a:p>
          <a:p>
            <a:endParaRPr lang="en-US">
              <a:cs typeface="Arial"/>
            </a:endParaRPr>
          </a:p>
        </p:txBody>
      </p:sp>
      <p:sp>
        <p:nvSpPr>
          <p:cNvPr id="6" name="Text Placeholder 2">
            <a:extLst>
              <a:ext uri="{FF2B5EF4-FFF2-40B4-BE49-F238E27FC236}">
                <a16:creationId xmlns:a16="http://schemas.microsoft.com/office/drawing/2014/main" id="{D56AFD3A-858F-845A-D509-5C6EA03B113E}"/>
              </a:ext>
            </a:extLst>
          </p:cNvPr>
          <p:cNvSpPr txBox="1">
            <a:spLocks/>
          </p:cNvSpPr>
          <p:nvPr/>
        </p:nvSpPr>
        <p:spPr bwMode="auto">
          <a:xfrm>
            <a:off x="742950" y="3023730"/>
            <a:ext cx="8420100" cy="16273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The compiler throws a syntax error.</a:t>
            </a:r>
            <a:endParaRPr lang="en-US"/>
          </a:p>
          <a:p>
            <a:r>
              <a:rPr lang="en-US" b="1">
                <a:solidFill>
                  <a:srgbClr val="000000"/>
                </a:solidFill>
                <a:ea typeface="+mn-lt"/>
                <a:cs typeface="+mn-lt"/>
              </a:rPr>
              <a:t>B. A circular reference occurs, preventing objects from ever being destroyed (memory leak).</a:t>
            </a:r>
            <a:endParaRPr lang="en-US"/>
          </a:p>
          <a:p>
            <a:r>
              <a:rPr lang="en-US">
                <a:solidFill>
                  <a:srgbClr val="000000"/>
                </a:solidFill>
                <a:ea typeface="+mn-lt"/>
                <a:cs typeface="+mn-lt"/>
              </a:rPr>
              <a:t>C. The program automatically converts them into raw pointers.</a:t>
            </a:r>
            <a:endParaRPr lang="en-US"/>
          </a:p>
          <a:p>
            <a:r>
              <a:rPr lang="en-US">
                <a:solidFill>
                  <a:srgbClr val="000000"/>
                </a:solidFill>
                <a:ea typeface="+mn-lt"/>
                <a:cs typeface="+mn-lt"/>
              </a:rPr>
              <a:t>D. Observers are executed in reverse order.</a:t>
            </a:r>
            <a:endParaRPr lang="en-US"/>
          </a:p>
          <a:p>
            <a:endParaRPr lang="en-US"/>
          </a:p>
        </p:txBody>
      </p:sp>
    </p:spTree>
    <p:extLst>
      <p:ext uri="{BB962C8B-B14F-4D97-AF65-F5344CB8AC3E}">
        <p14:creationId xmlns:p14="http://schemas.microsoft.com/office/powerpoint/2010/main" val="4004162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A8488-07A4-CCFA-F4BD-DD29346E5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01F90-FC90-9115-5043-E1A8F86ED606}"/>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D3BAFA15-CEF5-C7D4-6D76-AAB83933686E}"/>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34882E74-1849-D7AE-066B-D20CF6A457E9}"/>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Q6: What dangerous side effect occurs if an Observer's </a:t>
            </a:r>
            <a:r>
              <a:rPr lang="en-US">
                <a:solidFill>
                  <a:srgbClr val="000000"/>
                </a:solidFill>
                <a:latin typeface="Arial"/>
                <a:ea typeface="ＭＳ Ｐゴシック"/>
                <a:cs typeface="+mn-lt"/>
              </a:rPr>
              <a:t>update()</a:t>
            </a:r>
            <a:r>
              <a:rPr lang="en-US">
                <a:solidFill>
                  <a:srgbClr val="000000"/>
                </a:solidFill>
                <a:ea typeface="ＭＳ Ｐゴシック"/>
                <a:cs typeface="+mn-lt"/>
              </a:rPr>
              <a:t> method mutates the Subject's state and triggers another </a:t>
            </a:r>
            <a:r>
              <a:rPr lang="en-US">
                <a:solidFill>
                  <a:srgbClr val="000000"/>
                </a:solidFill>
                <a:latin typeface="Arial"/>
                <a:ea typeface="ＭＳ Ｐゴシック"/>
                <a:cs typeface="+mn-lt"/>
              </a:rPr>
              <a:t>deposit()</a:t>
            </a:r>
            <a:r>
              <a:rPr lang="en-US">
                <a:solidFill>
                  <a:srgbClr val="000000"/>
                </a:solidFill>
                <a:ea typeface="ＭＳ Ｐゴシック"/>
                <a:cs typeface="+mn-lt"/>
              </a:rPr>
              <a:t> without guard conditions?</a:t>
            </a:r>
          </a:p>
          <a:p>
            <a:endParaRPr lang="en-US">
              <a:cs typeface="Arial"/>
            </a:endParaRPr>
          </a:p>
        </p:txBody>
      </p:sp>
      <p:sp>
        <p:nvSpPr>
          <p:cNvPr id="6" name="Text Placeholder 2">
            <a:extLst>
              <a:ext uri="{FF2B5EF4-FFF2-40B4-BE49-F238E27FC236}">
                <a16:creationId xmlns:a16="http://schemas.microsoft.com/office/drawing/2014/main" id="{17862E71-C446-7C1F-7BB8-EE913D57A234}"/>
              </a:ext>
            </a:extLst>
          </p:cNvPr>
          <p:cNvSpPr txBox="1">
            <a:spLocks/>
          </p:cNvSpPr>
          <p:nvPr/>
        </p:nvSpPr>
        <p:spPr bwMode="auto">
          <a:xfrm>
            <a:off x="742950" y="3023730"/>
            <a:ext cx="8420100" cy="16273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Infinite recursive notification loop leading to a stack overflow crash.</a:t>
            </a:r>
            <a:endParaRPr lang="en-US">
              <a:cs typeface="Arial"/>
            </a:endParaRPr>
          </a:p>
          <a:p>
            <a:r>
              <a:rPr lang="en-US">
                <a:solidFill>
                  <a:srgbClr val="000000"/>
                </a:solidFill>
                <a:ea typeface="+mn-lt"/>
                <a:cs typeface="+mn-lt"/>
              </a:rPr>
              <a:t>B. The operating system increases process priority.</a:t>
            </a:r>
          </a:p>
          <a:p>
            <a:r>
              <a:rPr lang="en-US">
                <a:solidFill>
                  <a:srgbClr val="000000"/>
                </a:solidFill>
                <a:ea typeface="+mn-lt"/>
                <a:cs typeface="+mn-lt"/>
              </a:rPr>
              <a:t>C. The balance doubles on each iteration automatically.</a:t>
            </a:r>
            <a:endParaRPr lang="en-US">
              <a:cs typeface="Arial"/>
            </a:endParaRPr>
          </a:p>
          <a:p>
            <a:r>
              <a:rPr lang="en-US">
                <a:solidFill>
                  <a:srgbClr val="000000"/>
                </a:solidFill>
                <a:ea typeface="+mn-lt"/>
                <a:cs typeface="+mn-lt"/>
              </a:rPr>
              <a:t>D. The observer is automatically removed from the subscriber list.</a:t>
            </a:r>
          </a:p>
          <a:p>
            <a:endParaRPr lang="en-US">
              <a:cs typeface="Arial"/>
            </a:endParaRPr>
          </a:p>
          <a:p>
            <a:endParaRPr lang="en-US">
              <a:cs typeface="Arial"/>
            </a:endParaRPr>
          </a:p>
        </p:txBody>
      </p:sp>
    </p:spTree>
    <p:extLst>
      <p:ext uri="{BB962C8B-B14F-4D97-AF65-F5344CB8AC3E}">
        <p14:creationId xmlns:p14="http://schemas.microsoft.com/office/powerpoint/2010/main" val="3111633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D37D6-C9C8-4910-8A77-30050FC21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52436-B56D-0E06-1385-72DBB4B10BF1}"/>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16639BF2-CCF3-8D52-61DE-DE5AD764307B}"/>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FA8F63B8-31C4-6FD7-2085-84E9487C4225}"/>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Q6: What dangerous side effect occurs if an Observer's </a:t>
            </a:r>
            <a:r>
              <a:rPr lang="en-US">
                <a:solidFill>
                  <a:srgbClr val="000000"/>
                </a:solidFill>
                <a:latin typeface="Arial"/>
                <a:ea typeface="ＭＳ Ｐゴシック"/>
                <a:cs typeface="+mn-lt"/>
              </a:rPr>
              <a:t>update()</a:t>
            </a:r>
            <a:r>
              <a:rPr lang="en-US">
                <a:solidFill>
                  <a:srgbClr val="000000"/>
                </a:solidFill>
                <a:ea typeface="ＭＳ Ｐゴシック"/>
                <a:cs typeface="+mn-lt"/>
              </a:rPr>
              <a:t> method mutates the Subject's state and triggers another </a:t>
            </a:r>
            <a:r>
              <a:rPr lang="en-US">
                <a:solidFill>
                  <a:srgbClr val="000000"/>
                </a:solidFill>
                <a:latin typeface="Arial"/>
                <a:ea typeface="ＭＳ Ｐゴシック"/>
                <a:cs typeface="+mn-lt"/>
              </a:rPr>
              <a:t>deposit()</a:t>
            </a:r>
            <a:r>
              <a:rPr lang="en-US">
                <a:solidFill>
                  <a:srgbClr val="000000"/>
                </a:solidFill>
                <a:ea typeface="ＭＳ Ｐゴシック"/>
                <a:cs typeface="+mn-lt"/>
              </a:rPr>
              <a:t> without guard conditions?</a:t>
            </a:r>
          </a:p>
          <a:p>
            <a:endParaRPr lang="en-US">
              <a:cs typeface="Arial"/>
            </a:endParaRPr>
          </a:p>
        </p:txBody>
      </p:sp>
      <p:sp>
        <p:nvSpPr>
          <p:cNvPr id="6" name="Text Placeholder 2">
            <a:extLst>
              <a:ext uri="{FF2B5EF4-FFF2-40B4-BE49-F238E27FC236}">
                <a16:creationId xmlns:a16="http://schemas.microsoft.com/office/drawing/2014/main" id="{597F796E-2552-1518-7C69-47392B4F84BF}"/>
              </a:ext>
            </a:extLst>
          </p:cNvPr>
          <p:cNvSpPr txBox="1">
            <a:spLocks/>
          </p:cNvSpPr>
          <p:nvPr/>
        </p:nvSpPr>
        <p:spPr bwMode="auto">
          <a:xfrm>
            <a:off x="742950" y="3023730"/>
            <a:ext cx="8420100" cy="16273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b="1">
                <a:solidFill>
                  <a:srgbClr val="000000"/>
                </a:solidFill>
                <a:ea typeface="+mn-lt"/>
                <a:cs typeface="+mn-lt"/>
              </a:rPr>
              <a:t>A. Infinite recursive notification loop leading to a stack overflow crash.</a:t>
            </a:r>
            <a:endParaRPr lang="en-US" b="1"/>
          </a:p>
          <a:p>
            <a:r>
              <a:rPr lang="en-US">
                <a:solidFill>
                  <a:srgbClr val="000000"/>
                </a:solidFill>
                <a:ea typeface="+mn-lt"/>
                <a:cs typeface="+mn-lt"/>
              </a:rPr>
              <a:t>B. The operating system increases process priority.</a:t>
            </a:r>
            <a:endParaRPr lang="en-US"/>
          </a:p>
          <a:p>
            <a:r>
              <a:rPr lang="en-US">
                <a:solidFill>
                  <a:srgbClr val="000000"/>
                </a:solidFill>
                <a:ea typeface="+mn-lt"/>
                <a:cs typeface="+mn-lt"/>
              </a:rPr>
              <a:t>C. The balance doubles on each iteration automatically.</a:t>
            </a:r>
            <a:endParaRPr lang="en-US"/>
          </a:p>
          <a:p>
            <a:r>
              <a:rPr lang="en-US">
                <a:solidFill>
                  <a:srgbClr val="000000"/>
                </a:solidFill>
                <a:ea typeface="+mn-lt"/>
                <a:cs typeface="+mn-lt"/>
              </a:rPr>
              <a:t>D. The observer is automatically removed from the subscriber list.</a:t>
            </a:r>
            <a:endParaRPr lang="en-US"/>
          </a:p>
          <a:p>
            <a:endParaRPr lang="en-US">
              <a:cs typeface="Arial"/>
            </a:endParaRPr>
          </a:p>
        </p:txBody>
      </p:sp>
    </p:spTree>
    <p:extLst>
      <p:ext uri="{BB962C8B-B14F-4D97-AF65-F5344CB8AC3E}">
        <p14:creationId xmlns:p14="http://schemas.microsoft.com/office/powerpoint/2010/main" val="3580794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0B6AB-6764-F0AC-A35E-099549EBA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35191-7D79-642A-72B2-9F23F6AC1996}"/>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0F08FA65-C6C4-4D81-1821-F53DD12EEE86}"/>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5A094EB3-5869-1D83-6CCA-A77FD2201D1D}"/>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Q7: How can the Interpreter pattern and Observer pattern work together in an automated financial trading system?</a:t>
            </a:r>
          </a:p>
          <a:p>
            <a:endParaRPr lang="en-US">
              <a:cs typeface="Arial"/>
            </a:endParaRPr>
          </a:p>
        </p:txBody>
      </p:sp>
      <p:sp>
        <p:nvSpPr>
          <p:cNvPr id="6" name="Text Placeholder 2">
            <a:extLst>
              <a:ext uri="{FF2B5EF4-FFF2-40B4-BE49-F238E27FC236}">
                <a16:creationId xmlns:a16="http://schemas.microsoft.com/office/drawing/2014/main" id="{9A10BBF7-54E2-AA70-A9F3-B1EF4F781B33}"/>
              </a:ext>
            </a:extLst>
          </p:cNvPr>
          <p:cNvSpPr txBox="1">
            <a:spLocks/>
          </p:cNvSpPr>
          <p:nvPr/>
        </p:nvSpPr>
        <p:spPr bwMode="auto">
          <a:xfrm>
            <a:off x="742950" y="3023730"/>
            <a:ext cx="8420100" cy="1823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The Interpreter parses custom user trading rules (e.g. </a:t>
            </a:r>
            <a:r>
              <a:rPr lang="en-US">
                <a:solidFill>
                  <a:srgbClr val="000000"/>
                </a:solidFill>
                <a:latin typeface="Arial"/>
                <a:ea typeface="+mn-lt"/>
                <a:cs typeface="+mn-lt"/>
              </a:rPr>
              <a:t>price &gt; 100 AND volume &gt; 500</a:t>
            </a:r>
            <a:r>
              <a:rPr lang="en-US">
                <a:solidFill>
                  <a:srgbClr val="000000"/>
                </a:solidFill>
                <a:ea typeface="+mn-lt"/>
                <a:cs typeface="+mn-lt"/>
              </a:rPr>
              <a:t>), and the Observer pattern broadcasts stock price updates to trigger the rule evaluation.</a:t>
            </a:r>
            <a:endParaRPr lang="en-US"/>
          </a:p>
          <a:p>
            <a:r>
              <a:rPr lang="en-US">
                <a:solidFill>
                  <a:srgbClr val="000000"/>
                </a:solidFill>
                <a:ea typeface="+mn-lt"/>
                <a:cs typeface="+mn-lt"/>
              </a:rPr>
              <a:t>B. They cannot be used in the same project.</a:t>
            </a:r>
            <a:endParaRPr lang="en-US"/>
          </a:p>
          <a:p>
            <a:r>
              <a:rPr lang="en-US">
                <a:solidFill>
                  <a:srgbClr val="000000"/>
                </a:solidFill>
                <a:ea typeface="+mn-lt"/>
                <a:cs typeface="+mn-lt"/>
              </a:rPr>
              <a:t>C. Observer compiles C++ code, while Interpreter runs the executable.</a:t>
            </a:r>
            <a:endParaRPr lang="en-US"/>
          </a:p>
          <a:p>
            <a:r>
              <a:rPr lang="en-US">
                <a:solidFill>
                  <a:srgbClr val="000000"/>
                </a:solidFill>
                <a:ea typeface="+mn-lt"/>
                <a:cs typeface="+mn-lt"/>
              </a:rPr>
              <a:t>D. Interpreter deletes the Observer's memory pointers.</a:t>
            </a:r>
            <a:endParaRPr lang="en-US"/>
          </a:p>
          <a:p>
            <a:endParaRPr lang="en-US">
              <a:cs typeface="Arial"/>
            </a:endParaRPr>
          </a:p>
        </p:txBody>
      </p:sp>
    </p:spTree>
    <p:extLst>
      <p:ext uri="{BB962C8B-B14F-4D97-AF65-F5344CB8AC3E}">
        <p14:creationId xmlns:p14="http://schemas.microsoft.com/office/powerpoint/2010/main" val="520368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8F00-7072-3E7E-A8BC-63283FAD0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0FFC9-80EE-DBFD-3D2C-9E313DC207D0}"/>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3BF1CFD1-279D-0191-652E-4B4BB73C2C6F}"/>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20C1E418-FBF8-750C-CABE-6A82171511A0}"/>
              </a:ext>
            </a:extLst>
          </p:cNvPr>
          <p:cNvSpPr>
            <a:spLocks noGrp="1"/>
          </p:cNvSpPr>
          <p:nvPr>
            <p:ph type="body" idx="1"/>
          </p:nvPr>
        </p:nvSpPr>
        <p:spPr>
          <a:xfrm>
            <a:off x="742950" y="1715572"/>
            <a:ext cx="8420102" cy="1081157"/>
          </a:xfrm>
        </p:spPr>
        <p:txBody>
          <a:bodyPr anchor="t"/>
          <a:lstStyle/>
          <a:p>
            <a:r>
              <a:rPr lang="en-US">
                <a:solidFill>
                  <a:srgbClr val="000000"/>
                </a:solidFill>
                <a:ea typeface="ＭＳ Ｐゴシック"/>
                <a:cs typeface="+mn-lt"/>
              </a:rPr>
              <a:t>Q7: How can the Interpreter pattern and Observer pattern work together in an automated financial trading system?</a:t>
            </a:r>
          </a:p>
          <a:p>
            <a:endParaRPr lang="en-US">
              <a:cs typeface="Arial"/>
            </a:endParaRPr>
          </a:p>
        </p:txBody>
      </p:sp>
      <p:sp>
        <p:nvSpPr>
          <p:cNvPr id="6" name="Text Placeholder 2">
            <a:extLst>
              <a:ext uri="{FF2B5EF4-FFF2-40B4-BE49-F238E27FC236}">
                <a16:creationId xmlns:a16="http://schemas.microsoft.com/office/drawing/2014/main" id="{A494D33A-BB6C-ED64-32AB-023EB513BCDE}"/>
              </a:ext>
            </a:extLst>
          </p:cNvPr>
          <p:cNvSpPr txBox="1">
            <a:spLocks/>
          </p:cNvSpPr>
          <p:nvPr/>
        </p:nvSpPr>
        <p:spPr bwMode="auto">
          <a:xfrm>
            <a:off x="742950" y="3023730"/>
            <a:ext cx="8420100" cy="1823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b="1">
                <a:solidFill>
                  <a:srgbClr val="000000"/>
                </a:solidFill>
                <a:ea typeface="+mn-lt"/>
                <a:cs typeface="+mn-lt"/>
              </a:rPr>
              <a:t>A. The Interpreter parses custom user trading rules (e.g. </a:t>
            </a:r>
            <a:r>
              <a:rPr lang="en-US" b="1">
                <a:solidFill>
                  <a:srgbClr val="000000"/>
                </a:solidFill>
                <a:latin typeface="Arial"/>
                <a:ea typeface="+mn-lt"/>
                <a:cs typeface="+mn-lt"/>
              </a:rPr>
              <a:t>price &gt; 100 AND volume &gt; 500</a:t>
            </a:r>
            <a:r>
              <a:rPr lang="en-US" b="1">
                <a:solidFill>
                  <a:srgbClr val="000000"/>
                </a:solidFill>
                <a:ea typeface="+mn-lt"/>
                <a:cs typeface="+mn-lt"/>
              </a:rPr>
              <a:t>), and the Observer pattern broadcasts stock price updates to trigger the rule evaluation.</a:t>
            </a:r>
            <a:endParaRPr lang="en-US"/>
          </a:p>
          <a:p>
            <a:r>
              <a:rPr lang="en-US">
                <a:solidFill>
                  <a:srgbClr val="000000"/>
                </a:solidFill>
                <a:ea typeface="+mn-lt"/>
                <a:cs typeface="+mn-lt"/>
              </a:rPr>
              <a:t>B. They cannot be used in the same project.</a:t>
            </a:r>
            <a:endParaRPr lang="en-US"/>
          </a:p>
          <a:p>
            <a:r>
              <a:rPr lang="en-US">
                <a:solidFill>
                  <a:srgbClr val="000000"/>
                </a:solidFill>
                <a:ea typeface="+mn-lt"/>
                <a:cs typeface="+mn-lt"/>
              </a:rPr>
              <a:t>C. Observer compiles C++ code, while Interpreter runs the executable.</a:t>
            </a:r>
            <a:endParaRPr lang="en-US"/>
          </a:p>
          <a:p>
            <a:r>
              <a:rPr lang="en-US">
                <a:solidFill>
                  <a:srgbClr val="000000"/>
                </a:solidFill>
                <a:ea typeface="+mn-lt"/>
                <a:cs typeface="+mn-lt"/>
              </a:rPr>
              <a:t>D. Interpreter deletes the Observer's memory pointers.</a:t>
            </a:r>
            <a:endParaRPr lang="en-US"/>
          </a:p>
          <a:p>
            <a:endParaRPr lang="en-US">
              <a:cs typeface="Arial"/>
            </a:endParaRPr>
          </a:p>
        </p:txBody>
      </p:sp>
    </p:spTree>
    <p:extLst>
      <p:ext uri="{BB962C8B-B14F-4D97-AF65-F5344CB8AC3E}">
        <p14:creationId xmlns:p14="http://schemas.microsoft.com/office/powerpoint/2010/main" val="2249279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85B56-4838-17C4-FB12-7CD70AF0B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6BA2F-73EB-0F6D-40E5-8334759D2AC2}"/>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A11A6C22-9888-7926-296E-1AA7D4E89E77}"/>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3C52C90-7F65-7262-4DE1-B1F4FC80238E}"/>
              </a:ext>
            </a:extLst>
          </p:cNvPr>
          <p:cNvSpPr>
            <a:spLocks noGrp="1"/>
          </p:cNvSpPr>
          <p:nvPr>
            <p:ph type="body" idx="1"/>
          </p:nvPr>
        </p:nvSpPr>
        <p:spPr>
          <a:xfrm>
            <a:off x="619579" y="1715572"/>
            <a:ext cx="8666843" cy="812643"/>
          </a:xfrm>
        </p:spPr>
        <p:txBody>
          <a:bodyPr anchor="t"/>
          <a:lstStyle/>
          <a:p>
            <a:r>
              <a:rPr lang="en-US">
                <a:solidFill>
                  <a:srgbClr val="000000"/>
                </a:solidFill>
                <a:ea typeface="ＭＳ Ｐゴシック"/>
                <a:cs typeface="+mn-lt"/>
              </a:rPr>
              <a:t>Q8: What happens if a concrete observer calls </a:t>
            </a:r>
            <a:r>
              <a:rPr lang="en-US">
                <a:solidFill>
                  <a:srgbClr val="000000"/>
                </a:solidFill>
                <a:latin typeface="Arial"/>
                <a:ea typeface="ＭＳ Ｐゴシック"/>
                <a:cs typeface="+mn-lt"/>
              </a:rPr>
              <a:t>subject-&gt;detach(this)</a:t>
            </a:r>
            <a:r>
              <a:rPr lang="en-US">
                <a:solidFill>
                  <a:srgbClr val="000000"/>
                </a:solidFill>
                <a:ea typeface="ＭＳ Ｐゴシック"/>
                <a:cs typeface="+mn-lt"/>
              </a:rPr>
              <a:t> inside its own </a:t>
            </a:r>
            <a:r>
              <a:rPr lang="en-US">
                <a:solidFill>
                  <a:srgbClr val="000000"/>
                </a:solidFill>
                <a:latin typeface="Arial"/>
                <a:ea typeface="ＭＳ Ｐゴシック"/>
                <a:cs typeface="+mn-lt"/>
              </a:rPr>
              <a:t>update()</a:t>
            </a:r>
            <a:r>
              <a:rPr lang="en-US">
                <a:solidFill>
                  <a:srgbClr val="000000"/>
                </a:solidFill>
                <a:ea typeface="ＭＳ Ｐゴシック"/>
                <a:cs typeface="+mn-lt"/>
              </a:rPr>
              <a:t> callback while </a:t>
            </a:r>
            <a:r>
              <a:rPr lang="en-US">
                <a:solidFill>
                  <a:srgbClr val="000000"/>
                </a:solidFill>
                <a:latin typeface="Arial"/>
                <a:ea typeface="ＭＳ Ｐゴシック"/>
                <a:cs typeface="+mn-lt"/>
              </a:rPr>
              <a:t>notify()</a:t>
            </a:r>
            <a:r>
              <a:rPr lang="en-US">
                <a:solidFill>
                  <a:srgbClr val="000000"/>
                </a:solidFill>
                <a:ea typeface="ＭＳ Ｐゴシック"/>
                <a:cs typeface="+mn-lt"/>
              </a:rPr>
              <a:t> is running a simple range-for loop?</a:t>
            </a:r>
            <a:endParaRPr lang="en-US">
              <a:cs typeface="Arial"/>
            </a:endParaRPr>
          </a:p>
        </p:txBody>
      </p:sp>
      <p:sp>
        <p:nvSpPr>
          <p:cNvPr id="6" name="Text Placeholder 2">
            <a:extLst>
              <a:ext uri="{FF2B5EF4-FFF2-40B4-BE49-F238E27FC236}">
                <a16:creationId xmlns:a16="http://schemas.microsoft.com/office/drawing/2014/main" id="{9A46CA0B-283B-146E-BAB4-58D3EC772B0E}"/>
              </a:ext>
            </a:extLst>
          </p:cNvPr>
          <p:cNvSpPr txBox="1">
            <a:spLocks/>
          </p:cNvSpPr>
          <p:nvPr/>
        </p:nvSpPr>
        <p:spPr bwMode="auto">
          <a:xfrm>
            <a:off x="742950" y="3023730"/>
            <a:ext cx="8420100" cy="1823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The loop safely skips the detached observer.</a:t>
            </a:r>
            <a:endParaRPr lang="en-US"/>
          </a:p>
          <a:p>
            <a:r>
              <a:rPr lang="en-US">
                <a:solidFill>
                  <a:srgbClr val="000000"/>
                </a:solidFill>
                <a:ea typeface="+mn-lt"/>
                <a:cs typeface="+mn-lt"/>
              </a:rPr>
              <a:t>B. The C++ compiler creates a vector copy automatically.</a:t>
            </a:r>
            <a:endParaRPr lang="en-US">
              <a:solidFill>
                <a:srgbClr val="000000"/>
              </a:solidFill>
              <a:ea typeface="ＭＳ Ｐゴシック"/>
              <a:cs typeface="+mn-lt"/>
            </a:endParaRPr>
          </a:p>
          <a:p>
            <a:r>
              <a:rPr lang="en-US">
                <a:solidFill>
                  <a:srgbClr val="000000"/>
                </a:solidFill>
                <a:ea typeface="+mn-lt"/>
                <a:cs typeface="+mn-lt"/>
              </a:rPr>
              <a:t>C. The program prompts the user for manual confirmation.</a:t>
            </a:r>
            <a:endParaRPr lang="en-US"/>
          </a:p>
          <a:p>
            <a:r>
              <a:rPr lang="en-US">
                <a:cs typeface="Arial"/>
              </a:rPr>
              <a:t>D. Iterator invalidation / undefined behavior because modifying a std::vector during range-based iteration corrupts the loop.</a:t>
            </a:r>
            <a:endParaRPr lang="en-US"/>
          </a:p>
          <a:p>
            <a:endParaRPr lang="en-US">
              <a:cs typeface="Arial"/>
            </a:endParaRPr>
          </a:p>
        </p:txBody>
      </p:sp>
    </p:spTree>
    <p:extLst>
      <p:ext uri="{BB962C8B-B14F-4D97-AF65-F5344CB8AC3E}">
        <p14:creationId xmlns:p14="http://schemas.microsoft.com/office/powerpoint/2010/main" val="28461801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64C7E-E6B1-E972-BDF8-C6C07236B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F9904-48C5-4C7C-4334-AF2472DD9BE4}"/>
              </a:ext>
            </a:extLst>
          </p:cNvPr>
          <p:cNvSpPr>
            <a:spLocks noGrp="1"/>
          </p:cNvSpPr>
          <p:nvPr>
            <p:ph type="title"/>
          </p:nvPr>
        </p:nvSpPr>
        <p:spPr>
          <a:xfrm>
            <a:off x="742950" y="802688"/>
            <a:ext cx="8420100" cy="691815"/>
          </a:xfrm>
        </p:spPr>
        <p:txBody>
          <a:bodyPr/>
          <a:lstStyle/>
          <a:p>
            <a:r>
              <a:rPr lang="en-US" cap="none"/>
              <a:t>Quiz</a:t>
            </a:r>
          </a:p>
        </p:txBody>
      </p:sp>
      <p:sp>
        <p:nvSpPr>
          <p:cNvPr id="4" name="Footer Placeholder 3">
            <a:extLst>
              <a:ext uri="{FF2B5EF4-FFF2-40B4-BE49-F238E27FC236}">
                <a16:creationId xmlns:a16="http://schemas.microsoft.com/office/drawing/2014/main" id="{C414C375-D6A2-D217-CF6C-F49800B12A5F}"/>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581CD267-26D4-75A8-88EA-E4B8BDB8610B}"/>
              </a:ext>
            </a:extLst>
          </p:cNvPr>
          <p:cNvSpPr>
            <a:spLocks noGrp="1"/>
          </p:cNvSpPr>
          <p:nvPr>
            <p:ph type="body" idx="1"/>
          </p:nvPr>
        </p:nvSpPr>
        <p:spPr>
          <a:xfrm>
            <a:off x="619579" y="1715572"/>
            <a:ext cx="8666843" cy="812643"/>
          </a:xfrm>
        </p:spPr>
        <p:txBody>
          <a:bodyPr anchor="t"/>
          <a:lstStyle/>
          <a:p>
            <a:r>
              <a:rPr lang="en-US">
                <a:solidFill>
                  <a:srgbClr val="000000"/>
                </a:solidFill>
                <a:ea typeface="ＭＳ Ｐゴシック"/>
                <a:cs typeface="+mn-lt"/>
              </a:rPr>
              <a:t>Q8: What happens if a concrete observer calls </a:t>
            </a:r>
            <a:r>
              <a:rPr lang="en-US">
                <a:solidFill>
                  <a:srgbClr val="000000"/>
                </a:solidFill>
                <a:latin typeface="Arial"/>
                <a:ea typeface="ＭＳ Ｐゴシック"/>
                <a:cs typeface="+mn-lt"/>
              </a:rPr>
              <a:t>subject-&gt;detach(this)</a:t>
            </a:r>
            <a:r>
              <a:rPr lang="en-US">
                <a:solidFill>
                  <a:srgbClr val="000000"/>
                </a:solidFill>
                <a:ea typeface="ＭＳ Ｐゴシック"/>
                <a:cs typeface="+mn-lt"/>
              </a:rPr>
              <a:t> inside its own </a:t>
            </a:r>
            <a:r>
              <a:rPr lang="en-US">
                <a:solidFill>
                  <a:srgbClr val="000000"/>
                </a:solidFill>
                <a:latin typeface="Arial"/>
                <a:ea typeface="ＭＳ Ｐゴシック"/>
                <a:cs typeface="+mn-lt"/>
              </a:rPr>
              <a:t>update()</a:t>
            </a:r>
            <a:r>
              <a:rPr lang="en-US">
                <a:solidFill>
                  <a:srgbClr val="000000"/>
                </a:solidFill>
                <a:ea typeface="ＭＳ Ｐゴシック"/>
                <a:cs typeface="+mn-lt"/>
              </a:rPr>
              <a:t> callback while </a:t>
            </a:r>
            <a:r>
              <a:rPr lang="en-US">
                <a:solidFill>
                  <a:srgbClr val="000000"/>
                </a:solidFill>
                <a:latin typeface="Arial"/>
                <a:ea typeface="ＭＳ Ｐゴシック"/>
                <a:cs typeface="+mn-lt"/>
              </a:rPr>
              <a:t>notify()</a:t>
            </a:r>
            <a:r>
              <a:rPr lang="en-US">
                <a:solidFill>
                  <a:srgbClr val="000000"/>
                </a:solidFill>
                <a:ea typeface="ＭＳ Ｐゴシック"/>
                <a:cs typeface="+mn-lt"/>
              </a:rPr>
              <a:t> is running a simple range-for loop?</a:t>
            </a:r>
            <a:endParaRPr lang="en-US">
              <a:cs typeface="Arial"/>
            </a:endParaRPr>
          </a:p>
        </p:txBody>
      </p:sp>
      <p:sp>
        <p:nvSpPr>
          <p:cNvPr id="6" name="Text Placeholder 2">
            <a:extLst>
              <a:ext uri="{FF2B5EF4-FFF2-40B4-BE49-F238E27FC236}">
                <a16:creationId xmlns:a16="http://schemas.microsoft.com/office/drawing/2014/main" id="{83D1F169-4340-8F78-8984-6807193026B1}"/>
              </a:ext>
            </a:extLst>
          </p:cNvPr>
          <p:cNvSpPr txBox="1">
            <a:spLocks/>
          </p:cNvSpPr>
          <p:nvPr/>
        </p:nvSpPr>
        <p:spPr bwMode="auto">
          <a:xfrm>
            <a:off x="742950" y="3023730"/>
            <a:ext cx="8420100" cy="1823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a:solidFill>
                  <a:srgbClr val="000000"/>
                </a:solidFill>
                <a:ea typeface="+mn-lt"/>
                <a:cs typeface="+mn-lt"/>
              </a:rPr>
              <a:t>A. The loop safely skips the detached observer.</a:t>
            </a:r>
            <a:endParaRPr lang="en-US"/>
          </a:p>
          <a:p>
            <a:r>
              <a:rPr lang="en-US">
                <a:solidFill>
                  <a:srgbClr val="000000"/>
                </a:solidFill>
                <a:ea typeface="+mn-lt"/>
                <a:cs typeface="+mn-lt"/>
              </a:rPr>
              <a:t>B. The C++ compiler creates a vector copy automatically.</a:t>
            </a:r>
            <a:endParaRPr lang="en-US">
              <a:solidFill>
                <a:srgbClr val="000000"/>
              </a:solidFill>
              <a:ea typeface="ＭＳ Ｐゴシック"/>
              <a:cs typeface="+mn-lt"/>
            </a:endParaRPr>
          </a:p>
          <a:p>
            <a:r>
              <a:rPr lang="en-US">
                <a:solidFill>
                  <a:srgbClr val="000000"/>
                </a:solidFill>
                <a:ea typeface="+mn-lt"/>
                <a:cs typeface="+mn-lt"/>
              </a:rPr>
              <a:t>C. The program prompts the user for manual confirmation.</a:t>
            </a:r>
            <a:endParaRPr lang="en-US"/>
          </a:p>
          <a:p>
            <a:r>
              <a:rPr lang="en-US" b="1">
                <a:cs typeface="Arial"/>
              </a:rPr>
              <a:t>D. Iterator invalidation / undefined behavior because modifying a std::vector during range-based iteration corrupts the loop.</a:t>
            </a:r>
            <a:endParaRPr lang="en-US" b="1"/>
          </a:p>
          <a:p>
            <a:endParaRPr lang="en-US">
              <a:cs typeface="Arial"/>
            </a:endParaRPr>
          </a:p>
        </p:txBody>
      </p:sp>
    </p:spTree>
    <p:extLst>
      <p:ext uri="{BB962C8B-B14F-4D97-AF65-F5344CB8AC3E}">
        <p14:creationId xmlns:p14="http://schemas.microsoft.com/office/powerpoint/2010/main" val="252835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D7958-870C-7ABD-3CC1-EB5765891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4AA2C-B899-CE8C-83BE-810C8CDFC7FE}"/>
              </a:ext>
            </a:extLst>
          </p:cNvPr>
          <p:cNvSpPr>
            <a:spLocks noGrp="1"/>
          </p:cNvSpPr>
          <p:nvPr>
            <p:ph type="title"/>
          </p:nvPr>
        </p:nvSpPr>
        <p:spPr>
          <a:xfrm>
            <a:off x="750206" y="809945"/>
            <a:ext cx="8398329" cy="691815"/>
          </a:xfrm>
        </p:spPr>
        <p:txBody>
          <a:bodyPr/>
          <a:lstStyle/>
          <a:p>
            <a:r>
              <a:rPr lang="en-US" cap="none"/>
              <a:t>Real world problem</a:t>
            </a:r>
          </a:p>
        </p:txBody>
      </p:sp>
      <p:sp>
        <p:nvSpPr>
          <p:cNvPr id="4" name="Footer Placeholder 3">
            <a:extLst>
              <a:ext uri="{FF2B5EF4-FFF2-40B4-BE49-F238E27FC236}">
                <a16:creationId xmlns:a16="http://schemas.microsoft.com/office/drawing/2014/main" id="{A34AE27F-636D-8CB5-DE0B-031C4BF0ADA1}"/>
              </a:ext>
            </a:extLst>
          </p:cNvPr>
          <p:cNvSpPr>
            <a:spLocks noGrp="1"/>
          </p:cNvSpPr>
          <p:nvPr>
            <p:ph type="ftr" sz="quarter" idx="10"/>
          </p:nvPr>
        </p:nvSpPr>
        <p:spPr/>
        <p:txBody>
          <a:bodyPr/>
          <a:lstStyle/>
          <a:p>
            <a:pPr>
              <a:defRPr/>
            </a:pPr>
            <a:r>
              <a:rPr lang="en-GB"/>
              <a:t>Copyright © University of Science, VNUHCM - APCS 2023</a:t>
            </a:r>
          </a:p>
        </p:txBody>
      </p:sp>
      <p:sp>
        <p:nvSpPr>
          <p:cNvPr id="6" name="Text Placeholder 2">
            <a:extLst>
              <a:ext uri="{FF2B5EF4-FFF2-40B4-BE49-F238E27FC236}">
                <a16:creationId xmlns:a16="http://schemas.microsoft.com/office/drawing/2014/main" id="{22F5BDB5-2798-66C1-4054-3974815D17D8}"/>
              </a:ext>
            </a:extLst>
          </p:cNvPr>
          <p:cNvSpPr txBox="1">
            <a:spLocks/>
          </p:cNvSpPr>
          <p:nvPr/>
        </p:nvSpPr>
        <p:spPr bwMode="auto">
          <a:xfrm>
            <a:off x="750207" y="1715572"/>
            <a:ext cx="8398330" cy="4570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solidFill>
                  <a:srgbClr val="000000"/>
                </a:solidFill>
                <a:ea typeface="ＭＳ Ｐゴシック"/>
                <a:cs typeface="+mn-lt"/>
              </a:rPr>
              <a:t>Moodle notification system</a:t>
            </a:r>
          </a:p>
        </p:txBody>
      </p:sp>
      <p:sp>
        <p:nvSpPr>
          <p:cNvPr id="7" name="Text Placeholder 2">
            <a:extLst>
              <a:ext uri="{FF2B5EF4-FFF2-40B4-BE49-F238E27FC236}">
                <a16:creationId xmlns:a16="http://schemas.microsoft.com/office/drawing/2014/main" id="{F6D594B6-E3B1-D325-4730-739C0D00CE5E}"/>
              </a:ext>
            </a:extLst>
          </p:cNvPr>
          <p:cNvSpPr txBox="1">
            <a:spLocks/>
          </p:cNvSpPr>
          <p:nvPr/>
        </p:nvSpPr>
        <p:spPr bwMode="auto">
          <a:xfrm>
            <a:off x="750206" y="2172771"/>
            <a:ext cx="8398330" cy="7691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solidFill>
                  <a:srgbClr val="000000"/>
                </a:solidFill>
                <a:ea typeface="ＭＳ Ｐゴシック"/>
                <a:cs typeface="+mn-lt"/>
              </a:rPr>
              <a:t>The Learning management system (LMS) Moodle need a notification system to notify the announcements and updates to the student.</a:t>
            </a:r>
          </a:p>
        </p:txBody>
      </p:sp>
      <p:sp>
        <p:nvSpPr>
          <p:cNvPr id="3" name="Text Placeholder 2">
            <a:extLst>
              <a:ext uri="{FF2B5EF4-FFF2-40B4-BE49-F238E27FC236}">
                <a16:creationId xmlns:a16="http://schemas.microsoft.com/office/drawing/2014/main" id="{CE68D842-8313-311E-A140-C1F1B34E6A4A}"/>
              </a:ext>
            </a:extLst>
          </p:cNvPr>
          <p:cNvSpPr txBox="1">
            <a:spLocks/>
          </p:cNvSpPr>
          <p:nvPr/>
        </p:nvSpPr>
        <p:spPr bwMode="auto">
          <a:xfrm>
            <a:off x="750205" y="3137970"/>
            <a:ext cx="8398330" cy="10811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a:solidFill>
                  <a:srgbClr val="000000"/>
                </a:solidFill>
                <a:ea typeface="ＭＳ Ｐゴシック"/>
                <a:cs typeface="+mn-lt"/>
              </a:rPr>
              <a:t>Your task is to design the notification system for Moodle, which support a wide variety of notification, such as announcements, new classes, new tasks and/or quiz.</a:t>
            </a:r>
            <a:endParaRPr lang="en-US" kern="0">
              <a:cs typeface="Arial"/>
            </a:endParaRPr>
          </a:p>
        </p:txBody>
      </p:sp>
    </p:spTree>
    <p:extLst>
      <p:ext uri="{BB962C8B-B14F-4D97-AF65-F5344CB8AC3E}">
        <p14:creationId xmlns:p14="http://schemas.microsoft.com/office/powerpoint/2010/main" val="1859041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C29C-8643-2CA7-32FF-0A08982BE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91E7B-BF79-BF2A-08E9-F674C7BE4D6C}"/>
              </a:ext>
            </a:extLst>
          </p:cNvPr>
          <p:cNvSpPr>
            <a:spLocks noGrp="1"/>
          </p:cNvSpPr>
          <p:nvPr>
            <p:ph type="title"/>
          </p:nvPr>
        </p:nvSpPr>
        <p:spPr>
          <a:xfrm>
            <a:off x="742950" y="802688"/>
            <a:ext cx="8420100" cy="691815"/>
          </a:xfrm>
        </p:spPr>
        <p:txBody>
          <a:bodyPr/>
          <a:lstStyle/>
          <a:p>
            <a:r>
              <a:rPr lang="en-US" cap="none"/>
              <a:t>References</a:t>
            </a:r>
          </a:p>
        </p:txBody>
      </p:sp>
      <p:sp>
        <p:nvSpPr>
          <p:cNvPr id="4" name="Footer Placeholder 3">
            <a:extLst>
              <a:ext uri="{FF2B5EF4-FFF2-40B4-BE49-F238E27FC236}">
                <a16:creationId xmlns:a16="http://schemas.microsoft.com/office/drawing/2014/main" id="{D0779891-0981-A995-A33C-470DB777208B}"/>
              </a:ext>
            </a:extLst>
          </p:cNvPr>
          <p:cNvSpPr>
            <a:spLocks noGrp="1"/>
          </p:cNvSpPr>
          <p:nvPr>
            <p:ph type="ftr" sz="quarter" idx="10"/>
          </p:nvPr>
        </p:nvSpPr>
        <p:spPr/>
        <p:txBody>
          <a:bodyPr/>
          <a:lstStyle/>
          <a:p>
            <a:pPr>
              <a:defRPr/>
            </a:pPr>
            <a:r>
              <a:rPr lang="en-GB"/>
              <a:t>Copyright © University of Science, VNUHCM - APCS 2023</a:t>
            </a:r>
          </a:p>
        </p:txBody>
      </p:sp>
      <p:sp>
        <p:nvSpPr>
          <p:cNvPr id="5" name="Text Placeholder 4">
            <a:extLst>
              <a:ext uri="{FF2B5EF4-FFF2-40B4-BE49-F238E27FC236}">
                <a16:creationId xmlns:a16="http://schemas.microsoft.com/office/drawing/2014/main" id="{0A7275C6-B1A3-23FC-E2F1-D734C5A61531}"/>
              </a:ext>
            </a:extLst>
          </p:cNvPr>
          <p:cNvSpPr>
            <a:spLocks noGrp="1"/>
          </p:cNvSpPr>
          <p:nvPr>
            <p:ph type="body" idx="1"/>
          </p:nvPr>
        </p:nvSpPr>
        <p:spPr>
          <a:xfrm>
            <a:off x="1397000" y="1689100"/>
            <a:ext cx="7766050" cy="2070100"/>
          </a:xfrm>
        </p:spPr>
        <p:txBody>
          <a:bodyPr/>
          <a:lstStyle/>
          <a:p>
            <a:endParaRPr lang="en-VN" dirty="0"/>
          </a:p>
          <a:p>
            <a:r>
              <a:rPr lang="en-VN" dirty="0"/>
              <a:t>E. Gamma, R. Helm, R. Johnson, and J. Vlissides, </a:t>
            </a:r>
            <a:r>
              <a:rPr lang="en-VN" i="1" dirty="0"/>
              <a:t>Design Patterns: Elements of Reusable Object-Oriented Software</a:t>
            </a:r>
            <a:r>
              <a:rPr lang="en-VN" dirty="0"/>
              <a:t>. Reading, MA, USA: Addison-Wesley, 1994.</a:t>
            </a:r>
          </a:p>
          <a:p>
            <a:endParaRPr lang="en-VN" dirty="0"/>
          </a:p>
          <a:p>
            <a:r>
              <a:rPr lang="en-VN" dirty="0"/>
              <a:t>A. Shvets, "Observer Design Pattern," </a:t>
            </a:r>
            <a:r>
              <a:rPr lang="en-VN" i="1" dirty="0"/>
              <a:t>Refactoring.Guru</a:t>
            </a:r>
            <a:r>
              <a:rPr lang="en-VN" dirty="0"/>
              <a:t>. [Online]. Available: </a:t>
            </a:r>
            <a:r>
              <a:rPr lang="en-VN" dirty="0">
                <a:hlinkClick r:id="rId2"/>
              </a:rPr>
              <a:t>https://refactoring.guru/design-patterns/observer</a:t>
            </a:r>
            <a:r>
              <a:rPr lang="en-VN" dirty="0"/>
              <a:t>.</a:t>
            </a:r>
            <a:endParaRPr lang="en-US" dirty="0"/>
          </a:p>
        </p:txBody>
      </p:sp>
    </p:spTree>
    <p:extLst>
      <p:ext uri="{BB962C8B-B14F-4D97-AF65-F5344CB8AC3E}">
        <p14:creationId xmlns:p14="http://schemas.microsoft.com/office/powerpoint/2010/main" val="597397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4ED8F-E278-905C-8314-297932D8D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681DD-E024-7FA5-9F18-B25ECA8EB039}"/>
              </a:ext>
            </a:extLst>
          </p:cNvPr>
          <p:cNvSpPr>
            <a:spLocks noGrp="1"/>
          </p:cNvSpPr>
          <p:nvPr>
            <p:ph type="title"/>
          </p:nvPr>
        </p:nvSpPr>
        <p:spPr>
          <a:xfrm>
            <a:off x="346406" y="2134539"/>
            <a:ext cx="3752850" cy="2884864"/>
          </a:xfrm>
        </p:spPr>
        <p:txBody>
          <a:bodyPr/>
          <a:lstStyle/>
          <a:p>
            <a:pPr algn="ctr"/>
            <a:r>
              <a:rPr lang="en-US" sz="6000" cap="none" dirty="0"/>
              <a:t>Thanks for watching</a:t>
            </a:r>
          </a:p>
        </p:txBody>
      </p:sp>
      <p:sp>
        <p:nvSpPr>
          <p:cNvPr id="4" name="Footer Placeholder 3">
            <a:extLst>
              <a:ext uri="{FF2B5EF4-FFF2-40B4-BE49-F238E27FC236}">
                <a16:creationId xmlns:a16="http://schemas.microsoft.com/office/drawing/2014/main" id="{B85B1F9C-4368-B68D-8804-1768F9B5631E}"/>
              </a:ext>
            </a:extLst>
          </p:cNvPr>
          <p:cNvSpPr>
            <a:spLocks noGrp="1"/>
          </p:cNvSpPr>
          <p:nvPr>
            <p:ph type="ftr" sz="quarter" idx="10"/>
          </p:nvPr>
        </p:nvSpPr>
        <p:spPr/>
        <p:txBody>
          <a:bodyPr/>
          <a:lstStyle/>
          <a:p>
            <a:pPr>
              <a:defRPr/>
            </a:pPr>
            <a:r>
              <a:rPr lang="en-GB"/>
              <a:t>Copyright © University of Science, VNUHCM - APCS 2023</a:t>
            </a:r>
          </a:p>
        </p:txBody>
      </p:sp>
      <p:pic>
        <p:nvPicPr>
          <p:cNvPr id="7" name="Picture 6" descr="End of Presentation - Any Questions? | Business cat humor, Funny business  cat meme, Hilarious">
            <a:extLst>
              <a:ext uri="{FF2B5EF4-FFF2-40B4-BE49-F238E27FC236}">
                <a16:creationId xmlns:a16="http://schemas.microsoft.com/office/drawing/2014/main" id="{F1F5A32B-6178-CECF-901F-DA582501D709}"/>
              </a:ext>
            </a:extLst>
          </p:cNvPr>
          <p:cNvPicPr>
            <a:picLocks noChangeAspect="1"/>
          </p:cNvPicPr>
          <p:nvPr/>
        </p:nvPicPr>
        <p:blipFill>
          <a:blip r:embed="rId2"/>
          <a:stretch>
            <a:fillRect/>
          </a:stretch>
        </p:blipFill>
        <p:spPr>
          <a:xfrm>
            <a:off x="4445662" y="1036971"/>
            <a:ext cx="5080000" cy="5080000"/>
          </a:xfrm>
          <a:prstGeom prst="rect">
            <a:avLst/>
          </a:prstGeom>
        </p:spPr>
      </p:pic>
    </p:spTree>
    <p:extLst>
      <p:ext uri="{BB962C8B-B14F-4D97-AF65-F5344CB8AC3E}">
        <p14:creationId xmlns:p14="http://schemas.microsoft.com/office/powerpoint/2010/main" val="4259480562"/>
      </p:ext>
    </p:extLst>
  </p:cSld>
  <p:clrMapOvr>
    <a:masterClrMapping/>
  </p:clrMapOvr>
</p:sld>
</file>

<file path=ppt/theme/theme1.xml><?xml version="1.0" encoding="utf-8"?>
<a:theme xmlns:a="http://schemas.openxmlformats.org/drawingml/2006/main" name="JVN2011">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7A5946BF534E5419752229519FA5906" ma:contentTypeVersion="1" ma:contentTypeDescription="Create a new document." ma:contentTypeScope="" ma:versionID="d535285a0eb52fb4f6257513536c3b4e">
  <xsd:schema xmlns:xsd="http://www.w3.org/2001/XMLSchema" xmlns:xs="http://www.w3.org/2001/XMLSchema" xmlns:p="http://schemas.microsoft.com/office/2006/metadata/properties" xmlns:ns3="3d1c8cb6-cb63-40d1-987b-e02e99b90b76" targetNamespace="http://schemas.microsoft.com/office/2006/metadata/properties" ma:root="true" ma:fieldsID="49a40efd3843dd6d4612294e4416ce80" ns3:_="">
    <xsd:import namespace="3d1c8cb6-cb63-40d1-987b-e02e99b90b76"/>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1c8cb6-cb63-40d1-987b-e02e99b90b7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E613DD-D8BB-4C77-809A-B0494C04D787}">
  <ds:schemaRefs>
    <ds:schemaRef ds:uri="http://schemas.microsoft.com/sharepoint/v3/contenttype/forms"/>
  </ds:schemaRefs>
</ds:datastoreItem>
</file>

<file path=customXml/itemProps2.xml><?xml version="1.0" encoding="utf-8"?>
<ds:datastoreItem xmlns:ds="http://schemas.openxmlformats.org/officeDocument/2006/customXml" ds:itemID="{45E31AB8-5FE1-426E-BA60-6548E774B15E}">
  <ds:schemaRefs>
    <ds:schemaRef ds:uri="3d1c8cb6-cb63-40d1-987b-e02e99b90b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89C1810-CFBF-445C-9471-E615D0390B54}">
  <ds:schemaRefs>
    <ds:schemaRef ds:uri="3d1c8cb6-cb63-40d1-987b-e02e99b90b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JVN2011.potx</Template>
  <TotalTime>686</TotalTime>
  <Words>3151</Words>
  <Application>Microsoft Macintosh PowerPoint</Application>
  <PresentationFormat>A4 Paper (210x297 mm)</PresentationFormat>
  <Paragraphs>250</Paragraphs>
  <Slides>47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ＭＳ Ｐゴシック</vt:lpstr>
      <vt:lpstr>Arial</vt:lpstr>
      <vt:lpstr>Calibri</vt:lpstr>
      <vt:lpstr>JVN2011</vt:lpstr>
      <vt:lpstr>CS202 – Observer pattern</vt:lpstr>
      <vt:lpstr>Agenda</vt:lpstr>
      <vt:lpstr>Real-world problem</vt:lpstr>
      <vt:lpstr>Naïve solution</vt:lpstr>
      <vt:lpstr>Naïve solution - Drawback</vt:lpstr>
      <vt:lpstr>PowerPoint Presentation</vt:lpstr>
      <vt:lpstr>Observer Design Pattern - Intuition</vt:lpstr>
      <vt:lpstr>General Class Diagram</vt:lpstr>
      <vt:lpstr>PowerPoint Presentation</vt:lpstr>
      <vt:lpstr>PowerPoint Presentation</vt:lpstr>
      <vt:lpstr>Bank Account Example</vt:lpstr>
      <vt:lpstr>PowerPoint Presentation</vt:lpstr>
      <vt:lpstr>Implementation &amp; Demo</vt:lpstr>
      <vt:lpstr>PowerPoint Presentation</vt:lpstr>
      <vt:lpstr>PowerPoint Presentation</vt:lpstr>
      <vt:lpstr>PowerPoint Presentation</vt:lpstr>
      <vt:lpstr>PowerPoint Presentation</vt:lpstr>
      <vt:lpstr>PowerPoint Presentation</vt:lpstr>
      <vt:lpstr>Relationship with Mediator Pattern</vt:lpstr>
      <vt:lpstr>Observer-Mediator Fusion</vt:lpstr>
      <vt:lpstr>PowerPoint Presentation</vt:lpstr>
      <vt:lpstr>PowerPoint Presentation</vt:lpstr>
      <vt:lpstr>Relationship with Interpreter design pattern</vt:lpstr>
      <vt:lpstr>Usage with Interpreter</vt:lpstr>
      <vt:lpstr>PowerPoint Presentation</vt:lpstr>
      <vt:lpstr>Pros &amp; Cons</vt:lpstr>
      <vt:lpstr>Pros &amp; Cons</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Real world problem</vt:lpstr>
      <vt:lpstr>References</vt:lpstr>
      <vt:lpstr>Thanks for watching</vt:lpstr>
    </vt:vector>
  </TitlesOfParts>
  <Company>Eurocontrol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Research Method: Techniques, Models and Practices Part V: Introduction to Modeling &amp; Simulation</dc:title>
  <dc:creator>Duong</dc:creator>
  <cp:lastModifiedBy>Huy Nguyen</cp:lastModifiedBy>
  <cp:revision>6</cp:revision>
  <cp:lastPrinted>2014-03-26T02:31:46Z</cp:lastPrinted>
  <dcterms:created xsi:type="dcterms:W3CDTF">2011-07-26T02:02:50Z</dcterms:created>
  <dcterms:modified xsi:type="dcterms:W3CDTF">2026-07-23T12:30:29Z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0x01010057A5946BF534E5419752229519FA5906</vt:lpwstr>
  </property>
</Properties>
</file>