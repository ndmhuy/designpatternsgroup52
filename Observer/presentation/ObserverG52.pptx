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2"/>
  </p:notesMasterIdLst>
  <p:handoutMasterIdLst>
    <p:handoutMasterId r:id="rId33"/>
  </p:handoutMasterIdLst>
  <p:sldIdLst>
    <p:sldId id="417" r:id="rId2"/>
    <p:sldId id="418" r:id="rId3"/>
    <p:sldId id="419" r:id="rId4"/>
    <p:sldId id="420" r:id="rId5"/>
    <p:sldId id="421" r:id="rId6"/>
    <p:sldId id="422" r:id="rId7"/>
    <p:sldId id="423" r:id="rId8"/>
    <p:sldId id="424" r:id="rId9"/>
    <p:sldId id="426" r:id="rId10"/>
    <p:sldId id="425" r:id="rId11"/>
    <p:sldId id="427" r:id="rId12"/>
    <p:sldId id="428" r:id="rId13"/>
    <p:sldId id="429" r:id="rId14"/>
    <p:sldId id="430" r:id="rId15"/>
    <p:sldId id="432" r:id="rId16"/>
    <p:sldId id="433" r:id="rId17"/>
    <p:sldId id="434" r:id="rId18"/>
    <p:sldId id="438" r:id="rId19"/>
    <p:sldId id="439" r:id="rId20"/>
    <p:sldId id="440" r:id="rId21"/>
    <p:sldId id="431" r:id="rId22"/>
    <p:sldId id="435" r:id="rId23"/>
    <p:sldId id="436" r:id="rId24"/>
    <p:sldId id="437" r:id="rId25"/>
    <p:sldId id="441" r:id="rId26"/>
    <p:sldId id="442" r:id="rId27"/>
    <p:sldId id="443" r:id="rId28"/>
    <p:sldId id="444" r:id="rId29"/>
    <p:sldId id="445" r:id="rId30"/>
    <p:sldId id="446" r:id="rId31"/>
  </p:sldIdLst>
  <p:sldSz cx="9906000" cy="6858000" type="A4"/>
  <p:notesSz cx="6718300" cy="9867900"/>
  <p:defaultTextStyle>
    <a:defPPr>
      <a:defRPr lang="en-US"/>
    </a:defPPr>
    <a:lvl1pPr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1pPr>
    <a:lvl2pPr marL="4572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2pPr>
    <a:lvl3pPr marL="9144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3pPr>
    <a:lvl4pPr marL="13716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4pPr>
    <a:lvl5pPr marL="1828800" algn="l" rtl="0" fontAlgn="base">
      <a:lnSpc>
        <a:spcPct val="80000"/>
      </a:lnSpc>
      <a:spcBef>
        <a:spcPct val="20000"/>
      </a:spcBef>
      <a:spcAft>
        <a:spcPct val="0"/>
      </a:spcAft>
      <a:defRPr sz="1200" kern="1200">
        <a:solidFill>
          <a:schemeClr val="bg1"/>
        </a:solidFill>
        <a:latin typeface="Arial" charset="0"/>
        <a:ea typeface="ＭＳ Ｐゴシック" charset="-128"/>
        <a:cs typeface="ＭＳ Ｐゴシック" charset="-128"/>
      </a:defRPr>
    </a:lvl5pPr>
    <a:lvl6pPr marL="2286000" algn="l" defTabSz="457200" rtl="0" eaLnBrk="1" latinLnBrk="0" hangingPunct="1">
      <a:defRPr sz="1200" kern="1200">
        <a:solidFill>
          <a:schemeClr val="bg1"/>
        </a:solidFill>
        <a:latin typeface="Arial" charset="0"/>
        <a:ea typeface="ＭＳ Ｐゴシック" charset="-128"/>
        <a:cs typeface="ＭＳ Ｐゴシック" charset="-128"/>
      </a:defRPr>
    </a:lvl6pPr>
    <a:lvl7pPr marL="2743200" algn="l" defTabSz="457200" rtl="0" eaLnBrk="1" latinLnBrk="0" hangingPunct="1">
      <a:defRPr sz="1200" kern="1200">
        <a:solidFill>
          <a:schemeClr val="bg1"/>
        </a:solidFill>
        <a:latin typeface="Arial" charset="0"/>
        <a:ea typeface="ＭＳ Ｐゴシック" charset="-128"/>
        <a:cs typeface="ＭＳ Ｐゴシック" charset="-128"/>
      </a:defRPr>
    </a:lvl7pPr>
    <a:lvl8pPr marL="3200400" algn="l" defTabSz="457200" rtl="0" eaLnBrk="1" latinLnBrk="0" hangingPunct="1">
      <a:defRPr sz="1200" kern="1200">
        <a:solidFill>
          <a:schemeClr val="bg1"/>
        </a:solidFill>
        <a:latin typeface="Arial" charset="0"/>
        <a:ea typeface="ＭＳ Ｐゴシック" charset="-128"/>
        <a:cs typeface="ＭＳ Ｐゴシック" charset="-128"/>
      </a:defRPr>
    </a:lvl8pPr>
    <a:lvl9pPr marL="3657600" algn="l" defTabSz="457200" rtl="0" eaLnBrk="1" latinLnBrk="0" hangingPunct="1">
      <a:defRPr sz="1200" kern="1200">
        <a:solidFill>
          <a:schemeClr val="bg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646">
          <p15:clr>
            <a:srgbClr val="A4A3A4"/>
          </p15:clr>
        </p15:guide>
        <p15:guide id="2" pos="407">
          <p15:clr>
            <a:srgbClr val="A4A3A4"/>
          </p15:clr>
        </p15:guide>
      </p15:sldGuideLst>
    </p:ext>
    <p:ext uri="{2D200454-40CA-4A62-9FC3-DE9A4176ACB9}">
      <p15:notesGuideLst xmlns:p15="http://schemas.microsoft.com/office/powerpoint/2012/main">
        <p15:guide id="1" orient="horz" pos="6043">
          <p15:clr>
            <a:srgbClr val="A4A3A4"/>
          </p15:clr>
        </p15:guide>
        <p15:guide id="2" pos="211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267FB5-7580-E143-0B74-089C49A2450E}" name="TRẦN GIA HUY" initials="TH" userId="S::2512508415@student.hcmus.edu.vn::2afa8d98-0824-47de-b27b-39e5cae4f870"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3399CC"/>
    <a:srgbClr val="A50021"/>
    <a:srgbClr val="6600CC"/>
    <a:srgbClr val="003366"/>
    <a:srgbClr val="B4BAC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34"/>
    <p:restoredTop sz="94904" autoAdjust="0"/>
  </p:normalViewPr>
  <p:slideViewPr>
    <p:cSldViewPr snapToGrid="0" showGuides="1">
      <p:cViewPr varScale="1">
        <p:scale>
          <a:sx n="97" d="100"/>
          <a:sy n="97" d="100"/>
        </p:scale>
        <p:origin x="1332" y="84"/>
      </p:cViewPr>
      <p:guideLst>
        <p:guide orient="horz" pos="646"/>
        <p:guide pos="4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8" d="100"/>
          <a:sy n="78" d="100"/>
        </p:scale>
        <p:origin x="-2070" y="-102"/>
      </p:cViewPr>
      <p:guideLst>
        <p:guide orient="horz" pos="6043"/>
        <p:guide pos="211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defRPr>
                <a:solidFill>
                  <a:schemeClr val="tx1"/>
                </a:solidFill>
              </a:defRPr>
            </a:lvl1pPr>
          </a:lstStyle>
          <a:p>
            <a:pPr>
              <a:defRPr/>
            </a:pPr>
            <a:endParaRPr lang="en-GB"/>
          </a:p>
        </p:txBody>
      </p:sp>
      <p:sp>
        <p:nvSpPr>
          <p:cNvPr id="15363" name="Rectangle 3"/>
          <p:cNvSpPr>
            <a:spLocks noGrp="1" noChangeArrowheads="1"/>
          </p:cNvSpPr>
          <p:nvPr>
            <p:ph type="dt" sz="quarter" idx="1"/>
          </p:nvPr>
        </p:nvSpPr>
        <p:spPr bwMode="auto">
          <a:xfrm>
            <a:off x="3805238"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a:solidFill>
                  <a:schemeClr val="tx1"/>
                </a:solidFill>
              </a:defRPr>
            </a:lvl1pPr>
          </a:lstStyle>
          <a:p>
            <a:pPr>
              <a:defRPr/>
            </a:pPr>
            <a:fld id="{A94140A0-9A56-5344-A45C-C6AEC62A4163}" type="datetime1">
              <a:rPr lang="en-SG" smtClean="0"/>
              <a:t>20/7/2026</a:t>
            </a:fld>
            <a:endParaRPr lang="en-GB"/>
          </a:p>
        </p:txBody>
      </p:sp>
      <p:sp>
        <p:nvSpPr>
          <p:cNvPr id="15364" name="Rectangle 4"/>
          <p:cNvSpPr>
            <a:spLocks noGrp="1" noChangeArrowheads="1"/>
          </p:cNvSpPr>
          <p:nvPr>
            <p:ph type="ftr" sz="quarter" idx="2"/>
          </p:nvPr>
        </p:nvSpPr>
        <p:spPr bwMode="auto">
          <a:xfrm>
            <a:off x="0"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spcBef>
                <a:spcPct val="0"/>
              </a:spcBef>
              <a:defRPr>
                <a:solidFill>
                  <a:schemeClr val="tx1"/>
                </a:solidFill>
              </a:defRPr>
            </a:lvl1pPr>
          </a:lstStyle>
          <a:p>
            <a:pPr>
              <a:defRPr/>
            </a:pPr>
            <a:r>
              <a:rPr lang="en-GB"/>
              <a:t>Enter here your Presentation Title</a:t>
            </a:r>
          </a:p>
        </p:txBody>
      </p:sp>
      <p:sp>
        <p:nvSpPr>
          <p:cNvPr id="15365" name="Rectangle 5"/>
          <p:cNvSpPr>
            <a:spLocks noGrp="1" noChangeArrowheads="1"/>
          </p:cNvSpPr>
          <p:nvPr>
            <p:ph type="sldNum" sz="quarter" idx="3"/>
          </p:nvPr>
        </p:nvSpPr>
        <p:spPr bwMode="auto">
          <a:xfrm>
            <a:off x="3805238"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lnSpc>
                <a:spcPct val="100000"/>
              </a:lnSpc>
              <a:spcBef>
                <a:spcPct val="0"/>
              </a:spcBef>
              <a:defRPr>
                <a:solidFill>
                  <a:schemeClr val="tx1"/>
                </a:solidFill>
              </a:defRPr>
            </a:lvl1pPr>
          </a:lstStyle>
          <a:p>
            <a:pPr>
              <a:defRPr/>
            </a:pPr>
            <a:fld id="{088753F1-0FA1-9242-BAE1-2B62A927FD2E}" type="slidenum">
              <a:rPr lang="en-GB"/>
              <a:pPr>
                <a:defRPr/>
              </a:pPr>
              <a:t>‹#›</a:t>
            </a:fld>
            <a:endParaRPr lang="en-GB"/>
          </a:p>
        </p:txBody>
      </p:sp>
      <p:pic>
        <p:nvPicPr>
          <p:cNvPr id="16390" name="Picture 6" descr="LOGO_ECTL2009-rgb"/>
          <p:cNvPicPr>
            <a:picLocks noChangeAspect="1" noChangeArrowheads="1"/>
          </p:cNvPicPr>
          <p:nvPr/>
        </p:nvPicPr>
        <p:blipFill>
          <a:blip r:embed="rId2"/>
          <a:srcRect/>
          <a:stretch>
            <a:fillRect/>
          </a:stretch>
        </p:blipFill>
        <p:spPr bwMode="auto">
          <a:xfrm>
            <a:off x="5899150" y="8975725"/>
            <a:ext cx="619125" cy="692150"/>
          </a:xfrm>
          <a:prstGeom prst="rect">
            <a:avLst/>
          </a:prstGeom>
          <a:noFill/>
          <a:ln w="9525">
            <a:noFill/>
            <a:miter lim="800000"/>
            <a:headEnd/>
            <a:tailEnd/>
          </a:ln>
        </p:spPr>
      </p:pic>
    </p:spTree>
    <p:extLst>
      <p:ext uri="{BB962C8B-B14F-4D97-AF65-F5344CB8AC3E}">
        <p14:creationId xmlns:p14="http://schemas.microsoft.com/office/powerpoint/2010/main" val="2778373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defRPr sz="1000">
                <a:solidFill>
                  <a:schemeClr val="tx1"/>
                </a:solidFill>
              </a:defRPr>
            </a:lvl1pPr>
          </a:lstStyle>
          <a:p>
            <a:pPr>
              <a:defRPr/>
            </a:pPr>
            <a:endParaRPr lang="en-US"/>
          </a:p>
        </p:txBody>
      </p:sp>
      <p:sp>
        <p:nvSpPr>
          <p:cNvPr id="6147" name="Rectangle 3"/>
          <p:cNvSpPr>
            <a:spLocks noGrp="1" noChangeArrowheads="1"/>
          </p:cNvSpPr>
          <p:nvPr>
            <p:ph type="dt" idx="1"/>
          </p:nvPr>
        </p:nvSpPr>
        <p:spPr bwMode="auto">
          <a:xfrm>
            <a:off x="3806825"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000">
                <a:solidFill>
                  <a:schemeClr val="tx1"/>
                </a:solidFill>
              </a:defRPr>
            </a:lvl1pPr>
          </a:lstStyle>
          <a:p>
            <a:pPr>
              <a:defRPr/>
            </a:pPr>
            <a:fld id="{4E637528-6EEA-2D41-869C-D32687B0D5B4}" type="datetime1">
              <a:rPr lang="en-SG" smtClean="0"/>
              <a:t>20/7/2026</a:t>
            </a:fld>
            <a:endParaRPr lang="en-US"/>
          </a:p>
        </p:txBody>
      </p:sp>
      <p:sp>
        <p:nvSpPr>
          <p:cNvPr id="17412" name="Rectangle 4"/>
          <p:cNvSpPr>
            <a:spLocks noGrp="1" noRot="1" noChangeAspect="1" noChangeArrowheads="1" noTextEdit="1"/>
          </p:cNvSpPr>
          <p:nvPr>
            <p:ph type="sldImg" idx="2"/>
          </p:nvPr>
        </p:nvSpPr>
        <p:spPr bwMode="auto">
          <a:xfrm>
            <a:off x="687388" y="739775"/>
            <a:ext cx="5343525" cy="3700463"/>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895350" y="4687888"/>
            <a:ext cx="4927600" cy="4440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3" name="Rectangle 9"/>
          <p:cNvSpPr>
            <a:spLocks noGrp="1" noChangeArrowheads="1"/>
          </p:cNvSpPr>
          <p:nvPr>
            <p:ph type="ftr" sz="quarter" idx="4"/>
          </p:nvPr>
        </p:nvSpPr>
        <p:spPr bwMode="auto">
          <a:xfrm>
            <a:off x="187325" y="9167813"/>
            <a:ext cx="2909888"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spcBef>
                <a:spcPct val="0"/>
              </a:spcBef>
              <a:defRPr sz="1000">
                <a:solidFill>
                  <a:schemeClr val="tx1"/>
                </a:solidFill>
              </a:defRPr>
            </a:lvl1pPr>
          </a:lstStyle>
          <a:p>
            <a:pPr>
              <a:defRPr/>
            </a:pPr>
            <a:r>
              <a:rPr lang="en-GB"/>
              <a:t>Enter here your Presentation Title</a:t>
            </a:r>
          </a:p>
        </p:txBody>
      </p:sp>
      <p:sp>
        <p:nvSpPr>
          <p:cNvPr id="6154" name="Rectangle 10"/>
          <p:cNvSpPr>
            <a:spLocks noGrp="1" noChangeArrowheads="1"/>
          </p:cNvSpPr>
          <p:nvPr>
            <p:ph type="sldNum" sz="quarter" idx="5"/>
          </p:nvPr>
        </p:nvSpPr>
        <p:spPr bwMode="auto">
          <a:xfrm>
            <a:off x="3116263" y="9167813"/>
            <a:ext cx="463550"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0" hangingPunct="0">
              <a:lnSpc>
                <a:spcPct val="100000"/>
              </a:lnSpc>
              <a:spcBef>
                <a:spcPct val="0"/>
              </a:spcBef>
              <a:defRPr sz="1000">
                <a:solidFill>
                  <a:schemeClr val="tx1"/>
                </a:solidFill>
              </a:defRPr>
            </a:lvl1pPr>
          </a:lstStyle>
          <a:p>
            <a:pPr>
              <a:defRPr/>
            </a:pPr>
            <a:fld id="{228B0FEB-B7F4-4E46-BA8F-257F2077EC9C}" type="slidenum">
              <a:rPr lang="en-GB"/>
              <a:pPr>
                <a:defRPr/>
              </a:pPr>
              <a:t>‹#›</a:t>
            </a:fld>
            <a:endParaRPr lang="en-GB"/>
          </a:p>
        </p:txBody>
      </p:sp>
      <p:pic>
        <p:nvPicPr>
          <p:cNvPr id="17416" name="Picture 11" descr="ec-color-msoffice"/>
          <p:cNvPicPr>
            <a:picLocks noChangeAspect="1" noChangeArrowheads="1"/>
          </p:cNvPicPr>
          <p:nvPr/>
        </p:nvPicPr>
        <p:blipFill>
          <a:blip r:embed="rId2"/>
          <a:srcRect/>
          <a:stretch>
            <a:fillRect/>
          </a:stretch>
        </p:blipFill>
        <p:spPr bwMode="auto">
          <a:xfrm>
            <a:off x="6089650" y="9148763"/>
            <a:ext cx="528638" cy="582612"/>
          </a:xfrm>
          <a:prstGeom prst="rect">
            <a:avLst/>
          </a:prstGeom>
          <a:noFill/>
          <a:ln w="9525">
            <a:noFill/>
            <a:miter lim="800000"/>
            <a:headEnd/>
            <a:tailEnd/>
          </a:ln>
        </p:spPr>
      </p:pic>
    </p:spTree>
    <p:extLst>
      <p:ext uri="{BB962C8B-B14F-4D97-AF65-F5344CB8AC3E}">
        <p14:creationId xmlns:p14="http://schemas.microsoft.com/office/powerpoint/2010/main" val="447076191"/>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7388" y="752475"/>
            <a:ext cx="5343525" cy="3700463"/>
          </a:xfrm>
        </p:spPr>
      </p:sp>
      <p:sp>
        <p:nvSpPr>
          <p:cNvPr id="3" name="Espace réservé des commentaires 2"/>
          <p:cNvSpPr>
            <a:spLocks noGrp="1"/>
          </p:cNvSpPr>
          <p:nvPr>
            <p:ph type="body" idx="1"/>
          </p:nvPr>
        </p:nvSpPr>
        <p:spPr>
          <a:xfrm>
            <a:off x="907925" y="4687888"/>
            <a:ext cx="4927600" cy="4440237"/>
          </a:xfrm>
        </p:spPr>
        <p:txBody>
          <a:bodyPr/>
          <a:lstStyle/>
          <a:p>
            <a:endParaRPr lang="en-US" dirty="0"/>
          </a:p>
        </p:txBody>
      </p:sp>
      <p:sp>
        <p:nvSpPr>
          <p:cNvPr id="4" name="Espace réservé de la date 3"/>
          <p:cNvSpPr>
            <a:spLocks noGrp="1"/>
          </p:cNvSpPr>
          <p:nvPr>
            <p:ph type="dt" idx="10"/>
          </p:nvPr>
        </p:nvSpPr>
        <p:spPr/>
        <p:txBody>
          <a:bodyPr/>
          <a:lstStyle/>
          <a:p>
            <a:pPr>
              <a:defRPr/>
            </a:pPr>
            <a:fld id="{E97A3520-1F26-804C-B4BE-87967715ADF3}" type="datetime1">
              <a:rPr lang="en-SG" smtClean="0"/>
              <a:t>20/7/2026</a:t>
            </a:fld>
            <a:endParaRPr lang="en-US" dirty="0"/>
          </a:p>
        </p:txBody>
      </p:sp>
      <p:sp>
        <p:nvSpPr>
          <p:cNvPr id="5" name="Espace réservé du pied de page 4"/>
          <p:cNvSpPr>
            <a:spLocks noGrp="1"/>
          </p:cNvSpPr>
          <p:nvPr>
            <p:ph type="ftr" sz="quarter" idx="11"/>
          </p:nvPr>
        </p:nvSpPr>
        <p:spPr/>
        <p:txBody>
          <a:bodyPr/>
          <a:lstStyle/>
          <a:p>
            <a:pPr>
              <a:defRPr/>
            </a:pPr>
            <a:r>
              <a:rPr lang="en-GB"/>
              <a:t>Enter here your Presentation Title</a:t>
            </a:r>
            <a:endParaRPr lang="en-GB" dirty="0"/>
          </a:p>
        </p:txBody>
      </p:sp>
      <p:sp>
        <p:nvSpPr>
          <p:cNvPr id="6" name="Espace réservé du numéro de diapositive 5"/>
          <p:cNvSpPr>
            <a:spLocks noGrp="1"/>
          </p:cNvSpPr>
          <p:nvPr>
            <p:ph type="sldNum" sz="quarter" idx="12"/>
          </p:nvPr>
        </p:nvSpPr>
        <p:spPr/>
        <p:txBody>
          <a:bodyPr/>
          <a:lstStyle/>
          <a:p>
            <a:pPr>
              <a:defRPr/>
            </a:pPr>
            <a:fld id="{228B0FEB-B7F4-4E46-BA8F-257F2077EC9C}" type="slidenum">
              <a:rPr lang="en-GB" smtClean="0"/>
              <a:pPr>
                <a:defRPr/>
              </a:pPr>
              <a:t>1</a:t>
            </a:fld>
            <a:endParaRPr lang="en-GB" dirty="0"/>
          </a:p>
        </p:txBody>
      </p:sp>
    </p:spTree>
    <p:extLst>
      <p:ext uri="{BB962C8B-B14F-4D97-AF65-F5344CB8AC3E}">
        <p14:creationId xmlns:p14="http://schemas.microsoft.com/office/powerpoint/2010/main" val="3278984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1" descr="titel - bg - ecl logo_low"/>
          <p:cNvPicPr>
            <a:picLocks noChangeAspect="1" noChangeArrowheads="1"/>
          </p:cNvPicPr>
          <p:nvPr userDrawn="1"/>
        </p:nvPicPr>
        <p:blipFill>
          <a:blip r:embed="rId2"/>
          <a:srcRect/>
          <a:stretch>
            <a:fillRect/>
          </a:stretch>
        </p:blipFill>
        <p:spPr bwMode="auto">
          <a:xfrm>
            <a:off x="0" y="0"/>
            <a:ext cx="9906000" cy="6858000"/>
          </a:xfrm>
          <a:prstGeom prst="rect">
            <a:avLst/>
          </a:prstGeom>
          <a:noFill/>
          <a:ln w="9525">
            <a:noFill/>
            <a:miter lim="800000"/>
            <a:headEnd/>
            <a:tailEnd/>
          </a:ln>
        </p:spPr>
      </p:pic>
      <p:sp>
        <p:nvSpPr>
          <p:cNvPr id="11266" name="Rectangle 2"/>
          <p:cNvSpPr>
            <a:spLocks noGrp="1" noChangeArrowheads="1"/>
          </p:cNvSpPr>
          <p:nvPr>
            <p:ph type="ctrTitle"/>
          </p:nvPr>
        </p:nvSpPr>
        <p:spPr>
          <a:xfrm>
            <a:off x="271727" y="2014539"/>
            <a:ext cx="8420100" cy="936625"/>
          </a:xfrm>
        </p:spPr>
        <p:txBody>
          <a:bodyPr anchor="b"/>
          <a:lstStyle>
            <a:lvl1pPr>
              <a:defRPr>
                <a:solidFill>
                  <a:schemeClr val="bg1"/>
                </a:solidFill>
              </a:defRPr>
            </a:lvl1pPr>
          </a:lstStyle>
          <a:p>
            <a:r>
              <a:rPr lang="en-GB"/>
              <a:t>Powerpoint presentation title</a:t>
            </a:r>
          </a:p>
        </p:txBody>
      </p:sp>
      <p:sp>
        <p:nvSpPr>
          <p:cNvPr id="11267" name="Rectangle 3"/>
          <p:cNvSpPr>
            <a:spLocks noGrp="1" noChangeArrowheads="1"/>
          </p:cNvSpPr>
          <p:nvPr>
            <p:ph type="subTitle" idx="1"/>
          </p:nvPr>
        </p:nvSpPr>
        <p:spPr>
          <a:xfrm>
            <a:off x="271728" y="2951163"/>
            <a:ext cx="8425260" cy="622300"/>
          </a:xfrm>
        </p:spPr>
        <p:txBody>
          <a:bodyPr/>
          <a:lstStyle>
            <a:lvl1pPr marL="0" indent="0">
              <a:buFontTx/>
              <a:buNone/>
              <a:defRPr>
                <a:solidFill>
                  <a:schemeClr val="bg1"/>
                </a:solidFill>
              </a:defRPr>
            </a:lvl1pPr>
          </a:lstStyle>
          <a:p>
            <a:r>
              <a:rPr lang="en-GB"/>
              <a:t>Susbtitle powerpoint presentation</a:t>
            </a:r>
          </a:p>
        </p:txBody>
      </p:sp>
      <p:pic>
        <p:nvPicPr>
          <p:cNvPr id="8" name="Image 1" descr="logo2.png">
            <a:extLst>
              <a:ext uri="{FF2B5EF4-FFF2-40B4-BE49-F238E27FC236}">
                <a16:creationId xmlns:a16="http://schemas.microsoft.com/office/drawing/2014/main" id="{FA27FED5-CE64-A047-8A8E-9002A6B2640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8966" y="6046382"/>
            <a:ext cx="1282700" cy="395547"/>
          </a:xfrm>
          <a:prstGeom prst="rect">
            <a:avLst/>
          </a:prstGeom>
        </p:spPr>
      </p:pic>
      <p:sp>
        <p:nvSpPr>
          <p:cNvPr id="9" name="Text Box 15">
            <a:extLst>
              <a:ext uri="{FF2B5EF4-FFF2-40B4-BE49-F238E27FC236}">
                <a16:creationId xmlns:a16="http://schemas.microsoft.com/office/drawing/2014/main" id="{714D1C40-B271-9F4C-9F1B-F29A7AFEB19F}"/>
              </a:ext>
            </a:extLst>
          </p:cNvPr>
          <p:cNvSpPr txBox="1">
            <a:spLocks noChangeArrowheads="1"/>
          </p:cNvSpPr>
          <p:nvPr userDrawn="1"/>
        </p:nvSpPr>
        <p:spPr bwMode="auto">
          <a:xfrm>
            <a:off x="4526561" y="6493225"/>
            <a:ext cx="5001690" cy="246221"/>
          </a:xfrm>
          <a:prstGeom prst="rect">
            <a:avLst/>
          </a:prstGeom>
          <a:noFill/>
          <a:ln w="9525">
            <a:noFill/>
            <a:miter lim="800000"/>
            <a:headEnd/>
            <a:tailEnd/>
          </a:ln>
          <a:effectLst/>
        </p:spPr>
        <p:txBody>
          <a:bodyPr wrap="none" anchor="b">
            <a:prstTxWarp prst="textNoShape">
              <a:avLst/>
            </a:prstTxWarp>
            <a:spAutoFit/>
          </a:bodyPr>
          <a:lstStyle/>
          <a:p>
            <a:pPr algn="r" eaLnBrk="0" hangingPunct="0">
              <a:lnSpc>
                <a:spcPct val="100000"/>
              </a:lnSpc>
              <a:spcBef>
                <a:spcPct val="0"/>
              </a:spcBef>
              <a:defRPr/>
            </a:pPr>
            <a:r>
              <a:rPr lang="en-US" sz="1000" b="1" baseline="0" dirty="0">
                <a:solidFill>
                  <a:srgbClr val="B4BAC0"/>
                </a:solidFill>
              </a:rPr>
              <a:t>@2023, University of Science HCMC - Advanced Program in Computer Science </a:t>
            </a:r>
            <a:endParaRPr lang="en-GB" sz="1000" b="1" dirty="0">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FED15F87-54EF-814C-94F1-42DCB8CC6E0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8BD2EE48-D8F1-6047-AD25-7837A8B6C89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7429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03760140-3DF2-0941-96B7-7C41D7BDA68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8" name="Rectangle 6"/>
          <p:cNvSpPr>
            <a:spLocks noGrp="1" noChangeArrowheads="1"/>
          </p:cNvSpPr>
          <p:nvPr>
            <p:ph type="sldNum" sz="quarter" idx="11"/>
          </p:nvPr>
        </p:nvSpPr>
        <p:spPr>
          <a:ln/>
        </p:spPr>
        <p:txBody>
          <a:bodyPr/>
          <a:lstStyle>
            <a:lvl1pPr>
              <a:defRPr/>
            </a:lvl1pPr>
          </a:lstStyle>
          <a:p>
            <a:pPr>
              <a:defRPr/>
            </a:pPr>
            <a:fld id="{4EEF47FB-8FE8-5E4E-95FE-722242043DB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4" name="Rectangle 6"/>
          <p:cNvSpPr>
            <a:spLocks noGrp="1" noChangeArrowheads="1"/>
          </p:cNvSpPr>
          <p:nvPr>
            <p:ph type="sldNum" sz="quarter" idx="11"/>
          </p:nvPr>
        </p:nvSpPr>
        <p:spPr>
          <a:ln/>
        </p:spPr>
        <p:txBody>
          <a:bodyPr/>
          <a:lstStyle>
            <a:lvl1pPr>
              <a:defRPr/>
            </a:lvl1pPr>
          </a:lstStyle>
          <a:p>
            <a:pPr>
              <a:defRPr/>
            </a:pPr>
            <a:fld id="{AB30D146-8D31-7C4D-9135-1281BCEE6FD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3" name="Rectangle 6"/>
          <p:cNvSpPr>
            <a:spLocks noGrp="1" noChangeArrowheads="1"/>
          </p:cNvSpPr>
          <p:nvPr>
            <p:ph type="sldNum" sz="quarter" idx="11"/>
          </p:nvPr>
        </p:nvSpPr>
        <p:spPr>
          <a:ln/>
        </p:spPr>
        <p:txBody>
          <a:bodyPr/>
          <a:lstStyle>
            <a:lvl1pPr>
              <a:defRPr/>
            </a:lvl1pPr>
          </a:lstStyle>
          <a:p>
            <a:pPr>
              <a:defRPr/>
            </a:pPr>
            <a:fld id="{D8629D21-5361-BD45-86FA-69031AF732B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D4BE9212-EA1F-7542-BCE8-6A497083E38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7C85C02F-7189-7543-A3A8-072BD80A087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B3E3FA81-94C8-414B-82A9-6F10781D611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58025" y="609600"/>
            <a:ext cx="2105025"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742950" y="609600"/>
            <a:ext cx="6149975"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047301C2-1B4A-8A46-A21B-67DA1CAB9D5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SmartArt Placeholder 2"/>
          <p:cNvSpPr>
            <a:spLocks noGrp="1"/>
          </p:cNvSpPr>
          <p:nvPr>
            <p:ph type="dgm" idx="1"/>
          </p:nvPr>
        </p:nvSpPr>
        <p:spPr>
          <a:xfrm>
            <a:off x="742950" y="1981200"/>
            <a:ext cx="8420100" cy="4114800"/>
          </a:xfrm>
        </p:spPr>
        <p:txBody>
          <a:bodyPr/>
          <a:lstStyle/>
          <a:p>
            <a:pPr lvl="0"/>
            <a:endParaRPr lang="en-GB" noProof="0"/>
          </a:p>
        </p:txBody>
      </p:sp>
      <p:sp>
        <p:nvSpPr>
          <p:cNvPr id="4"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5" name="Rectangle 6"/>
          <p:cNvSpPr>
            <a:spLocks noGrp="1" noChangeArrowheads="1"/>
          </p:cNvSpPr>
          <p:nvPr>
            <p:ph type="sldNum" sz="quarter" idx="11"/>
          </p:nvPr>
        </p:nvSpPr>
        <p:spPr>
          <a:ln/>
        </p:spPr>
        <p:txBody>
          <a:bodyPr/>
          <a:lstStyle>
            <a:lvl1pPr>
              <a:defRPr/>
            </a:lvl1pPr>
          </a:lstStyle>
          <a:p>
            <a:pPr>
              <a:defRPr/>
            </a:pPr>
            <a:fld id="{38C9BFEB-93EA-C349-818D-1C0517FC11A0}"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7429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035550" y="1981200"/>
            <a:ext cx="41275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035550" y="4114800"/>
            <a:ext cx="41275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7" name="Rectangle 6"/>
          <p:cNvSpPr>
            <a:spLocks noGrp="1" noChangeArrowheads="1"/>
          </p:cNvSpPr>
          <p:nvPr>
            <p:ph type="sldNum" sz="quarter" idx="11"/>
          </p:nvPr>
        </p:nvSpPr>
        <p:spPr>
          <a:ln/>
        </p:spPr>
        <p:txBody>
          <a:bodyPr/>
          <a:lstStyle>
            <a:lvl1pPr>
              <a:defRPr/>
            </a:lvl1pPr>
          </a:lstStyle>
          <a:p>
            <a:pPr>
              <a:defRPr/>
            </a:pPr>
            <a:fld id="{C786EC03-218D-B241-8A03-0B248972888D}"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798" y="609600"/>
            <a:ext cx="7486253"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7429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981200"/>
            <a:ext cx="41275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Copyright © University of Science, VNUHCM - APCS 2023</a:t>
            </a:r>
          </a:p>
        </p:txBody>
      </p:sp>
      <p:sp>
        <p:nvSpPr>
          <p:cNvPr id="6" name="Rectangle 6"/>
          <p:cNvSpPr>
            <a:spLocks noGrp="1" noChangeArrowheads="1"/>
          </p:cNvSpPr>
          <p:nvPr>
            <p:ph type="sldNum" sz="quarter" idx="11"/>
          </p:nvPr>
        </p:nvSpPr>
        <p:spPr>
          <a:ln/>
        </p:spPr>
        <p:txBody>
          <a:bodyPr/>
          <a:lstStyle>
            <a:lvl1pPr>
              <a:defRPr/>
            </a:lvl1pPr>
          </a:lstStyle>
          <a:p>
            <a:pPr>
              <a:defRPr/>
            </a:pPr>
            <a:fld id="{CE69ECC5-32E6-7C4D-B58D-B184929ED24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76798" y="609600"/>
            <a:ext cx="7486253" cy="114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42950" y="1981200"/>
            <a:ext cx="84201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1" y="6294438"/>
            <a:ext cx="4445661" cy="457200"/>
          </a:xfrm>
          <a:prstGeom prst="rect">
            <a:avLst/>
          </a:prstGeom>
          <a:noFill/>
          <a:ln w="9525">
            <a:noFill/>
            <a:miter lim="800000"/>
            <a:headEnd/>
            <a:tailEnd/>
          </a:ln>
        </p:spPr>
        <p:txBody>
          <a:bodyPr vert="horz" wrap="square" lIns="0" tIns="45720" rIns="91440" bIns="45720" numCol="1" anchor="b" anchorCtr="0" compatLnSpc="1">
            <a:prstTxWarp prst="textNoShape">
              <a:avLst/>
            </a:prstTxWarp>
          </a:bodyPr>
          <a:lstStyle>
            <a:lvl1pPr algn="ctr" eaLnBrk="0" hangingPunct="0">
              <a:lnSpc>
                <a:spcPct val="100000"/>
              </a:lnSpc>
              <a:spcBef>
                <a:spcPct val="0"/>
              </a:spcBef>
              <a:defRPr sz="1000" b="1">
                <a:solidFill>
                  <a:srgbClr val="B4BAC0"/>
                </a:solidFill>
              </a:defRPr>
            </a:lvl1pPr>
          </a:lstStyle>
          <a:p>
            <a:pPr>
              <a:defRPr/>
            </a:pPr>
            <a:r>
              <a:rPr lang="en-GB"/>
              <a:t>Copyright © University of Science, VNUHCM - APCS 2023</a:t>
            </a:r>
          </a:p>
        </p:txBody>
      </p:sp>
      <p:sp>
        <p:nvSpPr>
          <p:cNvPr id="1030" name="Rectangle 6"/>
          <p:cNvSpPr>
            <a:spLocks noGrp="1" noChangeArrowheads="1"/>
          </p:cNvSpPr>
          <p:nvPr>
            <p:ph type="sldNum" sz="quarter" idx="4"/>
          </p:nvPr>
        </p:nvSpPr>
        <p:spPr bwMode="auto">
          <a:xfrm>
            <a:off x="7099300" y="6343650"/>
            <a:ext cx="2063750" cy="457200"/>
          </a:xfrm>
          <a:prstGeom prst="rect">
            <a:avLst/>
          </a:prstGeom>
          <a:noFill/>
          <a:ln w="9525">
            <a:noFill/>
            <a:miter lim="800000"/>
            <a:headEnd/>
            <a:tailEnd/>
          </a:ln>
        </p:spPr>
        <p:txBody>
          <a:bodyPr vert="horz" wrap="square" lIns="91440" tIns="45720" rIns="0" bIns="45720" numCol="1" anchor="b" anchorCtr="0" compatLnSpc="1">
            <a:prstTxWarp prst="textNoShape">
              <a:avLst/>
            </a:prstTxWarp>
          </a:bodyPr>
          <a:lstStyle>
            <a:lvl1pPr algn="r" eaLnBrk="0" hangingPunct="0">
              <a:lnSpc>
                <a:spcPct val="100000"/>
              </a:lnSpc>
              <a:spcBef>
                <a:spcPct val="0"/>
              </a:spcBef>
              <a:defRPr sz="1000" b="1">
                <a:solidFill>
                  <a:srgbClr val="B4BAC0"/>
                </a:solidFill>
              </a:defRPr>
            </a:lvl1pPr>
          </a:lstStyle>
          <a:p>
            <a:pPr>
              <a:defRPr/>
            </a:pPr>
            <a:fld id="{41D5AED7-D311-9D4C-8662-BB2116F4D162}" type="slidenum">
              <a:rPr lang="en-US"/>
              <a:pPr>
                <a:defRPr/>
              </a:pPr>
              <a:t>‹#›</a:t>
            </a:fld>
            <a:endParaRPr lang="en-US"/>
          </a:p>
        </p:txBody>
      </p:sp>
      <p:pic>
        <p:nvPicPr>
          <p:cNvPr id="2" name="Picture 12" descr="txt slide - light - ecl logo_low"/>
          <p:cNvPicPr>
            <a:picLocks noChangeAspect="1" noChangeArrowheads="1"/>
          </p:cNvPicPr>
          <p:nvPr/>
        </p:nvPicPr>
        <p:blipFill>
          <a:blip r:embed="rId16"/>
          <a:srcRect/>
          <a:stretch>
            <a:fillRect/>
          </a:stretch>
        </p:blipFill>
        <p:spPr bwMode="auto">
          <a:xfrm>
            <a:off x="0" y="0"/>
            <a:ext cx="9906000" cy="355600"/>
          </a:xfrm>
          <a:prstGeom prst="rect">
            <a:avLst/>
          </a:prstGeom>
          <a:noFill/>
          <a:ln w="9525">
            <a:noFill/>
            <a:miter lim="800000"/>
            <a:headEnd/>
            <a:tailEnd/>
          </a:ln>
        </p:spPr>
      </p:pic>
      <p:pic>
        <p:nvPicPr>
          <p:cNvPr id="10" name="Image 1" descr="logo2.png">
            <a:extLst>
              <a:ext uri="{FF2B5EF4-FFF2-40B4-BE49-F238E27FC236}">
                <a16:creationId xmlns:a16="http://schemas.microsoft.com/office/drawing/2014/main" id="{0F5E58E2-C9BC-3E44-BF96-7C9F1E607CCF}"/>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01599" y="366453"/>
            <a:ext cx="1282700" cy="395547"/>
          </a:xfrm>
          <a:prstGeom prst="rect">
            <a:avLst/>
          </a:prstGeom>
        </p:spPr>
      </p:pic>
    </p:spTree>
  </p:cSld>
  <p:clrMap bg1="lt1" tx1="dk1" bg2="lt2" tx2="dk2" accent1="accent1" accent2="accent2" accent3="accent3" accent4="accent4" accent5="accent5" accent6="accent6" hlink="hlink" folHlink="folHlink"/>
  <p:sldLayoutIdLst>
    <p:sldLayoutId id="2147483692"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sldNum="0" hdr="0" dt="0"/>
  <p:txStyles>
    <p:titleStyle>
      <a:lvl1pPr algn="r" rtl="0" eaLnBrk="0" fontAlgn="base" hangingPunct="0">
        <a:spcBef>
          <a:spcPct val="0"/>
        </a:spcBef>
        <a:spcAft>
          <a:spcPct val="0"/>
        </a:spcAft>
        <a:defRPr sz="3000">
          <a:solidFill>
            <a:srgbClr val="003366"/>
          </a:solidFill>
          <a:latin typeface="+mj-lt"/>
          <a:ea typeface="+mj-ea"/>
          <a:cs typeface="+mj-cs"/>
        </a:defRPr>
      </a:lvl1pPr>
      <a:lvl2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2pPr>
      <a:lvl3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3pPr>
      <a:lvl4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4pPr>
      <a:lvl5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5pPr>
      <a:lvl6pPr marL="457200" algn="l" rtl="0" fontAlgn="base">
        <a:spcBef>
          <a:spcPct val="0"/>
        </a:spcBef>
        <a:spcAft>
          <a:spcPct val="0"/>
        </a:spcAft>
        <a:defRPr sz="3000">
          <a:solidFill>
            <a:srgbClr val="003366"/>
          </a:solidFill>
          <a:latin typeface="Arial" charset="0"/>
          <a:ea typeface="ＭＳ Ｐゴシック" charset="-128"/>
          <a:cs typeface="ＭＳ Ｐゴシック" charset="-128"/>
        </a:defRPr>
      </a:lvl6pPr>
      <a:lvl7pPr marL="914400" algn="l" rtl="0" fontAlgn="base">
        <a:spcBef>
          <a:spcPct val="0"/>
        </a:spcBef>
        <a:spcAft>
          <a:spcPct val="0"/>
        </a:spcAft>
        <a:defRPr sz="3000">
          <a:solidFill>
            <a:srgbClr val="003366"/>
          </a:solidFill>
          <a:latin typeface="Arial" charset="0"/>
          <a:ea typeface="ＭＳ Ｐゴシック" charset="-128"/>
          <a:cs typeface="ＭＳ Ｐゴシック" charset="-128"/>
        </a:defRPr>
      </a:lvl7pPr>
      <a:lvl8pPr marL="1371600" algn="l" rtl="0" fontAlgn="base">
        <a:spcBef>
          <a:spcPct val="0"/>
        </a:spcBef>
        <a:spcAft>
          <a:spcPct val="0"/>
        </a:spcAft>
        <a:defRPr sz="3000">
          <a:solidFill>
            <a:srgbClr val="003366"/>
          </a:solidFill>
          <a:latin typeface="Arial" charset="0"/>
          <a:ea typeface="ＭＳ Ｐゴシック" charset="-128"/>
          <a:cs typeface="ＭＳ Ｐゴシック" charset="-128"/>
        </a:defRPr>
      </a:lvl8pPr>
      <a:lvl9pPr marL="1828800" algn="l" rtl="0" fontAlgn="base">
        <a:spcBef>
          <a:spcPct val="0"/>
        </a:spcBef>
        <a:spcAft>
          <a:spcPct val="0"/>
        </a:spcAft>
        <a:defRPr sz="3000">
          <a:solidFill>
            <a:srgbClr val="003366"/>
          </a:solidFill>
          <a:latin typeface="Arial" charset="0"/>
          <a:ea typeface="ＭＳ Ｐゴシック" charset="-128"/>
          <a:cs typeface="ＭＳ Ｐゴシック" charset="-128"/>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1666" y="1531358"/>
            <a:ext cx="7772400" cy="936625"/>
          </a:xfrm>
        </p:spPr>
        <p:txBody>
          <a:bodyPr/>
          <a:lstStyle/>
          <a:p>
            <a:pPr algn="ctr"/>
            <a:r>
              <a:rPr lang="en-US" sz="3200" b="1" dirty="0"/>
              <a:t>CS202 – Observer pattern</a:t>
            </a:r>
          </a:p>
        </p:txBody>
      </p:sp>
      <p:sp>
        <p:nvSpPr>
          <p:cNvPr id="3" name="Subtitle 2"/>
          <p:cNvSpPr>
            <a:spLocks noGrp="1"/>
          </p:cNvSpPr>
          <p:nvPr>
            <p:ph type="subTitle" idx="1"/>
          </p:nvPr>
        </p:nvSpPr>
        <p:spPr>
          <a:xfrm>
            <a:off x="1259174" y="2616746"/>
            <a:ext cx="7899614" cy="2194581"/>
          </a:xfrm>
        </p:spPr>
        <p:txBody>
          <a:bodyPr/>
          <a:lstStyle/>
          <a:p>
            <a:pPr algn="r"/>
            <a:r>
              <a:rPr lang="en-US" sz="1600" b="1" dirty="0"/>
              <a:t>APCS 2025</a:t>
            </a:r>
          </a:p>
          <a:p>
            <a:pPr algn="r"/>
            <a:r>
              <a:rPr lang="en-US" sz="1600" b="1" dirty="0"/>
              <a:t>Nguyễn </a:t>
            </a:r>
            <a:r>
              <a:rPr lang="en-US" sz="1600" b="1" dirty="0" err="1"/>
              <a:t>Đình</a:t>
            </a:r>
            <a:r>
              <a:rPr lang="en-US" sz="1600" b="1" dirty="0"/>
              <a:t> Minh Huy - 25125083</a:t>
            </a:r>
          </a:p>
          <a:p>
            <a:pPr algn="r"/>
            <a:r>
              <a:rPr lang="en-US" sz="1600" b="1" dirty="0" err="1"/>
              <a:t>Trần</a:t>
            </a:r>
            <a:r>
              <a:rPr lang="en-US" sz="1600" b="1" dirty="0"/>
              <a:t> Gia Huy - 25125084</a:t>
            </a:r>
            <a:endParaRPr lang="en-US" sz="1600" dirty="0"/>
          </a:p>
          <a:p>
            <a:pPr algn="r"/>
            <a:endParaRPr lang="en-US" sz="1600" dirty="0"/>
          </a:p>
          <a:p>
            <a:pPr algn="r"/>
            <a:endParaRPr lang="en-US" sz="1600" b="1" dirty="0"/>
          </a:p>
          <a:p>
            <a:pPr algn="r"/>
            <a:r>
              <a:rPr lang="en-US" sz="1600" dirty="0"/>
              <a:t> </a:t>
            </a:r>
          </a:p>
        </p:txBody>
      </p:sp>
    </p:spTree>
    <p:extLst>
      <p:ext uri="{BB962C8B-B14F-4D97-AF65-F5344CB8AC3E}">
        <p14:creationId xmlns:p14="http://schemas.microsoft.com/office/powerpoint/2010/main" val="3894497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3385D-7C29-B34E-A5EB-424CB3C86638}"/>
              </a:ext>
            </a:extLst>
          </p:cNvPr>
          <p:cNvSpPr>
            <a:spLocks noGrp="1"/>
          </p:cNvSpPr>
          <p:nvPr>
            <p:ph type="title"/>
          </p:nvPr>
        </p:nvSpPr>
        <p:spPr>
          <a:xfrm>
            <a:off x="782506" y="1019175"/>
            <a:ext cx="8420100" cy="909637"/>
          </a:xfrm>
        </p:spPr>
        <p:txBody>
          <a:bodyPr/>
          <a:lstStyle/>
          <a:p>
            <a:r>
              <a:rPr lang="en-US" cap="none" dirty="0"/>
              <a:t>Agenda</a:t>
            </a:r>
          </a:p>
        </p:txBody>
      </p:sp>
      <p:sp>
        <p:nvSpPr>
          <p:cNvPr id="3" name="Text Placeholder 2">
            <a:extLst>
              <a:ext uri="{FF2B5EF4-FFF2-40B4-BE49-F238E27FC236}">
                <a16:creationId xmlns:a16="http://schemas.microsoft.com/office/drawing/2014/main" id="{1DDD2331-C1D4-4642-A432-504787CC7B87}"/>
              </a:ext>
            </a:extLst>
          </p:cNvPr>
          <p:cNvSpPr>
            <a:spLocks noGrp="1"/>
          </p:cNvSpPr>
          <p:nvPr>
            <p:ph type="body" idx="1"/>
          </p:nvPr>
        </p:nvSpPr>
        <p:spPr>
          <a:xfrm>
            <a:off x="782506" y="1928812"/>
            <a:ext cx="8420100" cy="3390440"/>
          </a:xfrm>
        </p:spPr>
        <p:txBody>
          <a:bodyPr anchor="t"/>
          <a:lstStyle/>
          <a:p>
            <a:pPr marL="457200" indent="-457200">
              <a:buAutoNum type="arabicPeriod"/>
            </a:pPr>
            <a:r>
              <a:rPr lang="en-US" dirty="0"/>
              <a:t>Real-world problem</a:t>
            </a:r>
          </a:p>
          <a:p>
            <a:pPr marL="457200" indent="-457200">
              <a:buAutoNum type="arabicPeriod"/>
            </a:pPr>
            <a:r>
              <a:rPr lang="en-US" dirty="0"/>
              <a:t>Naïve solution &amp; Drawback</a:t>
            </a:r>
          </a:p>
          <a:p>
            <a:pPr marL="457200" indent="-457200">
              <a:buAutoNum type="arabicPeriod"/>
            </a:pPr>
            <a:r>
              <a:rPr lang="en-US" dirty="0"/>
              <a:t>Observer pattern</a:t>
            </a:r>
          </a:p>
          <a:p>
            <a:pPr marL="457200" indent="-457200">
              <a:buAutoNum type="arabicPeriod"/>
            </a:pPr>
            <a:r>
              <a:rPr lang="en-US" dirty="0"/>
              <a:t>Class diagram</a:t>
            </a:r>
          </a:p>
          <a:p>
            <a:pPr marL="457200" indent="-457200">
              <a:buAutoNum type="arabicPeriod"/>
            </a:pPr>
            <a:r>
              <a:rPr lang="en-US" dirty="0"/>
              <a:t>Code implementation &amp; Demo</a:t>
            </a:r>
          </a:p>
          <a:p>
            <a:pPr marL="457200" indent="-457200">
              <a:buFontTx/>
              <a:buAutoNum type="arabicPeriod"/>
            </a:pPr>
            <a:r>
              <a:rPr lang="en-US" dirty="0"/>
              <a:t>Usage with Interpreter and Mediator design pattern</a:t>
            </a:r>
          </a:p>
          <a:p>
            <a:pPr marL="457200" indent="-457200">
              <a:buAutoNum type="arabicPeriod"/>
            </a:pPr>
            <a:r>
              <a:rPr lang="en-US" dirty="0"/>
              <a:t>Pros &amp; Cons</a:t>
            </a:r>
          </a:p>
          <a:p>
            <a:pPr marL="457200" indent="-457200">
              <a:buAutoNum type="arabicPeriod"/>
            </a:pPr>
            <a:r>
              <a:rPr lang="en-US" dirty="0"/>
              <a:t>Quiz</a:t>
            </a:r>
          </a:p>
          <a:p>
            <a:pPr marL="457200" indent="-457200">
              <a:buAutoNum type="arabicPeriod"/>
            </a:pPr>
            <a:r>
              <a:rPr lang="en-US" dirty="0"/>
              <a:t>Conclusion</a:t>
            </a:r>
          </a:p>
          <a:p>
            <a:pPr marL="457200" indent="-457200">
              <a:buAutoNum type="arabicPeriod"/>
            </a:pPr>
            <a:endParaRPr lang="en-US" dirty="0"/>
          </a:p>
        </p:txBody>
      </p:sp>
      <p:sp>
        <p:nvSpPr>
          <p:cNvPr id="4" name="Footer Placeholder 3">
            <a:extLst>
              <a:ext uri="{FF2B5EF4-FFF2-40B4-BE49-F238E27FC236}">
                <a16:creationId xmlns:a16="http://schemas.microsoft.com/office/drawing/2014/main" id="{EEA5788F-78C0-E94D-AECC-7E69F7F7F35C}"/>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242684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BF7F2-AD27-CEE1-316E-C4A10454A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769B0-1DCE-26BF-B086-3C6B69167FEE}"/>
              </a:ext>
            </a:extLst>
          </p:cNvPr>
          <p:cNvSpPr>
            <a:spLocks noGrp="1"/>
          </p:cNvSpPr>
          <p:nvPr>
            <p:ph type="title"/>
          </p:nvPr>
        </p:nvSpPr>
        <p:spPr>
          <a:xfrm>
            <a:off x="742950" y="802688"/>
            <a:ext cx="8420100" cy="909637"/>
          </a:xfrm>
        </p:spPr>
        <p:txBody>
          <a:bodyPr/>
          <a:lstStyle/>
          <a:p>
            <a:r>
              <a:rPr lang="en-US" cap="none" dirty="0"/>
              <a:t>Real-world problem</a:t>
            </a:r>
          </a:p>
        </p:txBody>
      </p:sp>
      <p:sp>
        <p:nvSpPr>
          <p:cNvPr id="3" name="Text Placeholder 2">
            <a:extLst>
              <a:ext uri="{FF2B5EF4-FFF2-40B4-BE49-F238E27FC236}">
                <a16:creationId xmlns:a16="http://schemas.microsoft.com/office/drawing/2014/main" id="{69FEBC06-E4D0-1AD9-0752-171E7C6541CD}"/>
              </a:ext>
            </a:extLst>
          </p:cNvPr>
          <p:cNvSpPr>
            <a:spLocks noGrp="1"/>
          </p:cNvSpPr>
          <p:nvPr>
            <p:ph type="body" idx="1"/>
          </p:nvPr>
        </p:nvSpPr>
        <p:spPr>
          <a:xfrm>
            <a:off x="742950" y="1753098"/>
            <a:ext cx="8420100" cy="1675901"/>
          </a:xfrm>
        </p:spPr>
        <p:txBody>
          <a:bodyPr anchor="t"/>
          <a:lstStyle/>
          <a:p>
            <a:r>
              <a:rPr lang="en-US" dirty="0"/>
              <a:t>We are building a bank management system. We need to store users’ accounts and let them deposit their money into their accounts. However, when we call the deposit, aside from adding money, we are required to do other procedures such as logging, notifying, emailing,… These are from other services that we don’t have full control.</a:t>
            </a:r>
          </a:p>
        </p:txBody>
      </p:sp>
      <p:sp>
        <p:nvSpPr>
          <p:cNvPr id="4" name="Footer Placeholder 3">
            <a:extLst>
              <a:ext uri="{FF2B5EF4-FFF2-40B4-BE49-F238E27FC236}">
                <a16:creationId xmlns:a16="http://schemas.microsoft.com/office/drawing/2014/main" id="{6523EC1B-4554-E4E6-070D-B707B2989296}"/>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4017797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6F3F-2FE6-7CCC-6314-0E051F3C8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9AFAB-954F-F7AC-3234-16DE0220E84C}"/>
              </a:ext>
            </a:extLst>
          </p:cNvPr>
          <p:cNvSpPr>
            <a:spLocks noGrp="1"/>
          </p:cNvSpPr>
          <p:nvPr>
            <p:ph type="title"/>
          </p:nvPr>
        </p:nvSpPr>
        <p:spPr>
          <a:xfrm>
            <a:off x="742950" y="802688"/>
            <a:ext cx="8420100" cy="909637"/>
          </a:xfrm>
        </p:spPr>
        <p:txBody>
          <a:bodyPr/>
          <a:lstStyle/>
          <a:p>
            <a:r>
              <a:rPr lang="en-US" cap="none" dirty="0"/>
              <a:t>Naïve solution</a:t>
            </a:r>
          </a:p>
        </p:txBody>
      </p:sp>
      <p:sp>
        <p:nvSpPr>
          <p:cNvPr id="4" name="Footer Placeholder 3">
            <a:extLst>
              <a:ext uri="{FF2B5EF4-FFF2-40B4-BE49-F238E27FC236}">
                <a16:creationId xmlns:a16="http://schemas.microsoft.com/office/drawing/2014/main" id="{BB856EA7-FF8B-7A79-FC3D-72A2D9E21E86}"/>
              </a:ext>
            </a:extLst>
          </p:cNvPr>
          <p:cNvSpPr>
            <a:spLocks noGrp="1"/>
          </p:cNvSpPr>
          <p:nvPr>
            <p:ph type="ftr" sz="quarter" idx="10"/>
          </p:nvPr>
        </p:nvSpPr>
        <p:spPr/>
        <p:txBody>
          <a:bodyPr/>
          <a:lstStyle/>
          <a:p>
            <a:pPr>
              <a:defRPr/>
            </a:pPr>
            <a:r>
              <a:rPr lang="en-GB"/>
              <a:t>Copyright © University of Science, VNUHCM - APCS 2023</a:t>
            </a:r>
          </a:p>
        </p:txBody>
      </p:sp>
      <p:pic>
        <p:nvPicPr>
          <p:cNvPr id="8" name="Picture 7">
            <a:extLst>
              <a:ext uri="{FF2B5EF4-FFF2-40B4-BE49-F238E27FC236}">
                <a16:creationId xmlns:a16="http://schemas.microsoft.com/office/drawing/2014/main" id="{7D777766-AEEB-AED9-3168-35DC60158E2D}"/>
              </a:ext>
            </a:extLst>
          </p:cNvPr>
          <p:cNvPicPr>
            <a:picLocks noChangeAspect="1"/>
          </p:cNvPicPr>
          <p:nvPr/>
        </p:nvPicPr>
        <p:blipFill>
          <a:blip r:embed="rId2"/>
          <a:stretch>
            <a:fillRect/>
          </a:stretch>
        </p:blipFill>
        <p:spPr>
          <a:xfrm>
            <a:off x="4560552" y="864650"/>
            <a:ext cx="5094725" cy="5277926"/>
          </a:xfrm>
          <a:prstGeom prst="rect">
            <a:avLst/>
          </a:prstGeom>
        </p:spPr>
      </p:pic>
      <p:sp>
        <p:nvSpPr>
          <p:cNvPr id="11" name="Text Placeholder 2">
            <a:extLst>
              <a:ext uri="{FF2B5EF4-FFF2-40B4-BE49-F238E27FC236}">
                <a16:creationId xmlns:a16="http://schemas.microsoft.com/office/drawing/2014/main" id="{B391496A-ACD0-63A3-A058-7872E16D95C0}"/>
              </a:ext>
            </a:extLst>
          </p:cNvPr>
          <p:cNvSpPr>
            <a:spLocks noGrp="1"/>
          </p:cNvSpPr>
          <p:nvPr>
            <p:ph type="body" idx="1"/>
          </p:nvPr>
        </p:nvSpPr>
        <p:spPr>
          <a:xfrm>
            <a:off x="742950" y="1753098"/>
            <a:ext cx="3702712" cy="1675901"/>
          </a:xfrm>
        </p:spPr>
        <p:txBody>
          <a:bodyPr anchor="t"/>
          <a:lstStyle/>
          <a:p>
            <a:r>
              <a:rPr lang="en-US" dirty="0"/>
              <a:t>When </a:t>
            </a:r>
            <a:r>
              <a:rPr lang="en-US" dirty="0" err="1"/>
              <a:t>BankAccount</a:t>
            </a:r>
            <a:r>
              <a:rPr lang="en-US" dirty="0"/>
              <a:t>::deposit is called, it invokes all the required services, which are saved as pointers.</a:t>
            </a:r>
          </a:p>
        </p:txBody>
      </p:sp>
    </p:spTree>
    <p:extLst>
      <p:ext uri="{BB962C8B-B14F-4D97-AF65-F5344CB8AC3E}">
        <p14:creationId xmlns:p14="http://schemas.microsoft.com/office/powerpoint/2010/main" val="2901257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D5C7-0C64-3277-53CF-DDF78DE92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C4ABF-5E91-3E01-ECD7-B3766D21BA06}"/>
              </a:ext>
            </a:extLst>
          </p:cNvPr>
          <p:cNvSpPr>
            <a:spLocks noGrp="1"/>
          </p:cNvSpPr>
          <p:nvPr>
            <p:ph type="title"/>
          </p:nvPr>
        </p:nvSpPr>
        <p:spPr>
          <a:xfrm>
            <a:off x="742950" y="802688"/>
            <a:ext cx="8420100" cy="909637"/>
          </a:xfrm>
        </p:spPr>
        <p:txBody>
          <a:bodyPr/>
          <a:lstStyle/>
          <a:p>
            <a:r>
              <a:rPr lang="en-US" cap="none" dirty="0"/>
              <a:t>Naïve solution - Drawback</a:t>
            </a:r>
          </a:p>
        </p:txBody>
      </p:sp>
      <p:sp>
        <p:nvSpPr>
          <p:cNvPr id="4" name="Footer Placeholder 3">
            <a:extLst>
              <a:ext uri="{FF2B5EF4-FFF2-40B4-BE49-F238E27FC236}">
                <a16:creationId xmlns:a16="http://schemas.microsoft.com/office/drawing/2014/main" id="{B667C5D2-E4D5-3750-FC53-51E4C3EF1D7C}"/>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EC843E8-4006-A965-3512-E864E0C24662}"/>
              </a:ext>
            </a:extLst>
          </p:cNvPr>
          <p:cNvSpPr>
            <a:spLocks noGrp="1"/>
          </p:cNvSpPr>
          <p:nvPr>
            <p:ph type="body" idx="1"/>
          </p:nvPr>
        </p:nvSpPr>
        <p:spPr>
          <a:xfrm>
            <a:off x="742950" y="1753098"/>
            <a:ext cx="8420100" cy="2455108"/>
          </a:xfrm>
        </p:spPr>
        <p:txBody>
          <a:bodyPr anchor="t"/>
          <a:lstStyle/>
          <a:p>
            <a:r>
              <a:rPr lang="en-US" dirty="0"/>
              <a:t>However, there are some problems with this approach:</a:t>
            </a:r>
          </a:p>
          <a:p>
            <a:pPr marL="342900" indent="-342900">
              <a:buFontTx/>
              <a:buChar char="-"/>
            </a:pPr>
            <a:r>
              <a:rPr lang="en-US" dirty="0"/>
              <a:t>Tight coupling: The </a:t>
            </a:r>
            <a:r>
              <a:rPr lang="en-US" dirty="0" err="1"/>
              <a:t>BankAccount</a:t>
            </a:r>
            <a:r>
              <a:rPr lang="en-US" dirty="0"/>
              <a:t> must know the exact concrete types of services and their specific update methods.</a:t>
            </a:r>
          </a:p>
          <a:p>
            <a:pPr marL="342900" indent="-342900">
              <a:buFontTx/>
              <a:buChar char="-"/>
            </a:pPr>
            <a:r>
              <a:rPr lang="en-US" dirty="0"/>
              <a:t>Violates the Open-Closed Principle (OCP): If we want to change or add a service, we must modify the code in </a:t>
            </a:r>
            <a:r>
              <a:rPr lang="en-US" dirty="0" err="1"/>
              <a:t>BankAccount</a:t>
            </a:r>
            <a:r>
              <a:rPr lang="en-US" dirty="0"/>
              <a:t>.</a:t>
            </a:r>
          </a:p>
          <a:p>
            <a:pPr marL="342900" indent="-342900">
              <a:buFontTx/>
              <a:buChar char="-"/>
            </a:pPr>
            <a:r>
              <a:rPr lang="en-US" dirty="0"/>
              <a:t>Rigid and hard to scale: Changing and modifying either the service or the </a:t>
            </a:r>
            <a:r>
              <a:rPr lang="en-US" dirty="0" err="1"/>
              <a:t>BankAccount</a:t>
            </a:r>
            <a:r>
              <a:rPr lang="en-US" dirty="0"/>
              <a:t> are much more complex.</a:t>
            </a:r>
          </a:p>
        </p:txBody>
      </p:sp>
    </p:spTree>
    <p:extLst>
      <p:ext uri="{BB962C8B-B14F-4D97-AF65-F5344CB8AC3E}">
        <p14:creationId xmlns:p14="http://schemas.microsoft.com/office/powerpoint/2010/main" val="1736922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B0B59-A054-7182-8CB2-C720083D240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20C5DA-ED72-38DB-6354-4983E35E7B72}"/>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B3E1CCEF-30AB-5F9F-31EB-A456B327442E}"/>
              </a:ext>
            </a:extLst>
          </p:cNvPr>
          <p:cNvSpPr>
            <a:spLocks noGrp="1"/>
          </p:cNvSpPr>
          <p:nvPr>
            <p:ph type="body" idx="1"/>
          </p:nvPr>
        </p:nvSpPr>
        <p:spPr>
          <a:xfrm>
            <a:off x="742950" y="1753098"/>
            <a:ext cx="8420100" cy="2051986"/>
          </a:xfrm>
        </p:spPr>
        <p:txBody>
          <a:bodyPr anchor="t"/>
          <a:lstStyle/>
          <a:p>
            <a:r>
              <a:rPr lang="en-US" dirty="0"/>
              <a:t>We notice that the services have similar parameters, but not exactly the same. If we have a general structure, we don’t need to know what each of them need.</a:t>
            </a:r>
          </a:p>
          <a:p>
            <a:r>
              <a:rPr lang="en-US" dirty="0"/>
              <a:t>Another thing is that the </a:t>
            </a:r>
            <a:r>
              <a:rPr lang="en-US" dirty="0" err="1"/>
              <a:t>BankAccount</a:t>
            </a:r>
            <a:r>
              <a:rPr lang="en-US" dirty="0"/>
              <a:t> don’t care what we need to call as they don’t need the result from invoking the services. Therefore, we only need a list of services to call when depositing.</a:t>
            </a:r>
          </a:p>
        </p:txBody>
      </p:sp>
      <p:sp>
        <p:nvSpPr>
          <p:cNvPr id="6" name="Text Placeholder 2">
            <a:extLst>
              <a:ext uri="{FF2B5EF4-FFF2-40B4-BE49-F238E27FC236}">
                <a16:creationId xmlns:a16="http://schemas.microsoft.com/office/drawing/2014/main" id="{AE67A9EA-8FFE-261C-6A53-F63D9DF0A3BB}"/>
              </a:ext>
            </a:extLst>
          </p:cNvPr>
          <p:cNvSpPr txBox="1">
            <a:spLocks/>
          </p:cNvSpPr>
          <p:nvPr/>
        </p:nvSpPr>
        <p:spPr bwMode="auto">
          <a:xfrm>
            <a:off x="742950" y="4031226"/>
            <a:ext cx="84201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dirty="0"/>
              <a:t>=&gt; Observer pattern</a:t>
            </a:r>
          </a:p>
        </p:txBody>
      </p:sp>
    </p:spTree>
    <p:extLst>
      <p:ext uri="{BB962C8B-B14F-4D97-AF65-F5344CB8AC3E}">
        <p14:creationId xmlns:p14="http://schemas.microsoft.com/office/powerpoint/2010/main" val="285378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45163-B786-FFF3-56E2-5966B5CEA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36526-F778-52D6-4D19-4DEC4F4376BB}"/>
              </a:ext>
            </a:extLst>
          </p:cNvPr>
          <p:cNvSpPr>
            <a:spLocks noGrp="1"/>
          </p:cNvSpPr>
          <p:nvPr>
            <p:ph type="title"/>
          </p:nvPr>
        </p:nvSpPr>
        <p:spPr>
          <a:xfrm>
            <a:off x="742950" y="802688"/>
            <a:ext cx="8816686" cy="909637"/>
          </a:xfrm>
        </p:spPr>
        <p:txBody>
          <a:bodyPr/>
          <a:lstStyle/>
          <a:p>
            <a:r>
              <a:rPr lang="en-US" cap="none" dirty="0"/>
              <a:t>Observer Design Pattern - Intuition</a:t>
            </a:r>
          </a:p>
        </p:txBody>
      </p:sp>
      <p:sp>
        <p:nvSpPr>
          <p:cNvPr id="4" name="Footer Placeholder 3">
            <a:extLst>
              <a:ext uri="{FF2B5EF4-FFF2-40B4-BE49-F238E27FC236}">
                <a16:creationId xmlns:a16="http://schemas.microsoft.com/office/drawing/2014/main" id="{C99285D9-1DFB-3B3E-7FF7-832190C7A603}"/>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C6BB59D6-48DC-12D6-809C-4089EEDB18C6}"/>
              </a:ext>
            </a:extLst>
          </p:cNvPr>
          <p:cNvSpPr>
            <a:spLocks noGrp="1"/>
          </p:cNvSpPr>
          <p:nvPr>
            <p:ph type="body" idx="1"/>
          </p:nvPr>
        </p:nvSpPr>
        <p:spPr>
          <a:xfrm>
            <a:off x="742950" y="1916438"/>
            <a:ext cx="8420100" cy="2455108"/>
          </a:xfrm>
        </p:spPr>
        <p:txBody>
          <a:bodyPr anchor="t"/>
          <a:lstStyle/>
          <a:p>
            <a:r>
              <a:rPr lang="en-US" dirty="0"/>
              <a:t>&lt;empty&gt;</a:t>
            </a:r>
          </a:p>
        </p:txBody>
      </p:sp>
    </p:spTree>
    <p:extLst>
      <p:ext uri="{BB962C8B-B14F-4D97-AF65-F5344CB8AC3E}">
        <p14:creationId xmlns:p14="http://schemas.microsoft.com/office/powerpoint/2010/main" val="2266532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08DE3-E827-6B2A-6C54-5F335E538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EF067-8D38-4158-EF84-F543E6923FD8}"/>
              </a:ext>
            </a:extLst>
          </p:cNvPr>
          <p:cNvSpPr>
            <a:spLocks noGrp="1"/>
          </p:cNvSpPr>
          <p:nvPr>
            <p:ph type="title"/>
          </p:nvPr>
        </p:nvSpPr>
        <p:spPr>
          <a:xfrm>
            <a:off x="742950" y="802688"/>
            <a:ext cx="8816686" cy="909637"/>
          </a:xfrm>
        </p:spPr>
        <p:txBody>
          <a:bodyPr/>
          <a:lstStyle/>
          <a:p>
            <a:r>
              <a:rPr lang="en-US" cap="none" dirty="0"/>
              <a:t>General Class Diagram</a:t>
            </a:r>
          </a:p>
        </p:txBody>
      </p:sp>
      <p:sp>
        <p:nvSpPr>
          <p:cNvPr id="4" name="Footer Placeholder 3">
            <a:extLst>
              <a:ext uri="{FF2B5EF4-FFF2-40B4-BE49-F238E27FC236}">
                <a16:creationId xmlns:a16="http://schemas.microsoft.com/office/drawing/2014/main" id="{5A4B71DF-6B6F-EB2F-33D1-6DDE1CFA043B}"/>
              </a:ext>
            </a:extLst>
          </p:cNvPr>
          <p:cNvSpPr>
            <a:spLocks noGrp="1"/>
          </p:cNvSpPr>
          <p:nvPr>
            <p:ph type="ftr" sz="quarter" idx="10"/>
          </p:nvPr>
        </p:nvSpPr>
        <p:spPr/>
        <p:txBody>
          <a:bodyPr/>
          <a:lstStyle/>
          <a:p>
            <a:pPr>
              <a:defRPr/>
            </a:pPr>
            <a:r>
              <a:rPr lang="en-GB"/>
              <a:t>Copyright © University of Science, VNUHCM - APCS 2023</a:t>
            </a:r>
          </a:p>
        </p:txBody>
      </p:sp>
      <p:pic>
        <p:nvPicPr>
          <p:cNvPr id="6" name="Picture 5">
            <a:extLst>
              <a:ext uri="{FF2B5EF4-FFF2-40B4-BE49-F238E27FC236}">
                <a16:creationId xmlns:a16="http://schemas.microsoft.com/office/drawing/2014/main" id="{41909E9B-8DC4-FD42-DC1B-DAE95C8F7AAE}"/>
              </a:ext>
            </a:extLst>
          </p:cNvPr>
          <p:cNvPicPr>
            <a:picLocks noChangeAspect="1"/>
          </p:cNvPicPr>
          <p:nvPr/>
        </p:nvPicPr>
        <p:blipFill>
          <a:blip r:embed="rId2"/>
          <a:stretch>
            <a:fillRect/>
          </a:stretch>
        </p:blipFill>
        <p:spPr>
          <a:xfrm>
            <a:off x="1958576" y="1824511"/>
            <a:ext cx="5988847" cy="3208977"/>
          </a:xfrm>
          <a:prstGeom prst="rect">
            <a:avLst/>
          </a:prstGeom>
        </p:spPr>
      </p:pic>
      <p:sp>
        <p:nvSpPr>
          <p:cNvPr id="7" name="Text Placeholder 2">
            <a:extLst>
              <a:ext uri="{FF2B5EF4-FFF2-40B4-BE49-F238E27FC236}">
                <a16:creationId xmlns:a16="http://schemas.microsoft.com/office/drawing/2014/main" id="{B38C500A-AF3B-E312-ED70-A9A195E2F0B7}"/>
              </a:ext>
            </a:extLst>
          </p:cNvPr>
          <p:cNvSpPr>
            <a:spLocks noGrp="1"/>
          </p:cNvSpPr>
          <p:nvPr>
            <p:ph type="body" idx="1"/>
          </p:nvPr>
        </p:nvSpPr>
        <p:spPr>
          <a:xfrm>
            <a:off x="742950" y="5522026"/>
            <a:ext cx="8420100" cy="533286"/>
          </a:xfrm>
        </p:spPr>
        <p:txBody>
          <a:bodyPr anchor="t"/>
          <a:lstStyle/>
          <a:p>
            <a:r>
              <a:rPr lang="en-US" dirty="0"/>
              <a:t>&lt;empty&gt;</a:t>
            </a:r>
          </a:p>
        </p:txBody>
      </p:sp>
    </p:spTree>
    <p:extLst>
      <p:ext uri="{BB962C8B-B14F-4D97-AF65-F5344CB8AC3E}">
        <p14:creationId xmlns:p14="http://schemas.microsoft.com/office/powerpoint/2010/main" val="336392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8846-D65E-1BF3-295B-40918BDBDA3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9DDBFE-82D3-C096-5AA1-F47BF9110BF8}"/>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DE62BE6A-6E8D-0053-FAEE-5580DF6A1F53}"/>
              </a:ext>
            </a:extLst>
          </p:cNvPr>
          <p:cNvSpPr>
            <a:spLocks noGrp="1"/>
          </p:cNvSpPr>
          <p:nvPr>
            <p:ph type="body" idx="1"/>
          </p:nvPr>
        </p:nvSpPr>
        <p:spPr>
          <a:xfrm>
            <a:off x="600446" y="5761152"/>
            <a:ext cx="8420100" cy="533286"/>
          </a:xfrm>
        </p:spPr>
        <p:txBody>
          <a:bodyPr anchor="t"/>
          <a:lstStyle/>
          <a:p>
            <a:r>
              <a:rPr lang="en-US" dirty="0"/>
              <a:t>&lt;empty&gt;</a:t>
            </a:r>
          </a:p>
        </p:txBody>
      </p:sp>
      <p:pic>
        <p:nvPicPr>
          <p:cNvPr id="3" name="Picture 2">
            <a:extLst>
              <a:ext uri="{FF2B5EF4-FFF2-40B4-BE49-F238E27FC236}">
                <a16:creationId xmlns:a16="http://schemas.microsoft.com/office/drawing/2014/main" id="{A13BF405-959D-EC74-06DC-65B75530DA22}"/>
              </a:ext>
            </a:extLst>
          </p:cNvPr>
          <p:cNvPicPr>
            <a:picLocks noChangeAspect="1"/>
          </p:cNvPicPr>
          <p:nvPr/>
        </p:nvPicPr>
        <p:blipFill>
          <a:blip r:embed="rId2"/>
          <a:stretch>
            <a:fillRect/>
          </a:stretch>
        </p:blipFill>
        <p:spPr>
          <a:xfrm>
            <a:off x="1200150" y="1004011"/>
            <a:ext cx="7505700" cy="1447800"/>
          </a:xfrm>
          <a:prstGeom prst="rect">
            <a:avLst/>
          </a:prstGeom>
        </p:spPr>
      </p:pic>
      <p:pic>
        <p:nvPicPr>
          <p:cNvPr id="9" name="Picture 8">
            <a:extLst>
              <a:ext uri="{FF2B5EF4-FFF2-40B4-BE49-F238E27FC236}">
                <a16:creationId xmlns:a16="http://schemas.microsoft.com/office/drawing/2014/main" id="{30754A85-3BC9-46DB-6F42-2ABD0EBDF19F}"/>
              </a:ext>
            </a:extLst>
          </p:cNvPr>
          <p:cNvPicPr>
            <a:picLocks noChangeAspect="1"/>
          </p:cNvPicPr>
          <p:nvPr/>
        </p:nvPicPr>
        <p:blipFill>
          <a:blip r:embed="rId3"/>
          <a:stretch>
            <a:fillRect/>
          </a:stretch>
        </p:blipFill>
        <p:spPr>
          <a:xfrm>
            <a:off x="1308100" y="2451811"/>
            <a:ext cx="7289800" cy="3327400"/>
          </a:xfrm>
          <a:prstGeom prst="rect">
            <a:avLst/>
          </a:prstGeom>
        </p:spPr>
      </p:pic>
    </p:spTree>
    <p:extLst>
      <p:ext uri="{BB962C8B-B14F-4D97-AF65-F5344CB8AC3E}">
        <p14:creationId xmlns:p14="http://schemas.microsoft.com/office/powerpoint/2010/main" val="183899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BC8F7-7D44-80C8-0FD4-BFD7B2526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3DC02-FF3B-F073-F65D-4B6A84B333BF}"/>
              </a:ext>
            </a:extLst>
          </p:cNvPr>
          <p:cNvSpPr>
            <a:spLocks noGrp="1"/>
          </p:cNvSpPr>
          <p:nvPr>
            <p:ph type="title"/>
          </p:nvPr>
        </p:nvSpPr>
        <p:spPr>
          <a:xfrm>
            <a:off x="742950" y="802688"/>
            <a:ext cx="8816686" cy="909637"/>
          </a:xfrm>
        </p:spPr>
        <p:txBody>
          <a:bodyPr/>
          <a:lstStyle/>
          <a:p>
            <a:r>
              <a:rPr lang="en-US" cap="none" dirty="0"/>
              <a:t>Bank Account Example</a:t>
            </a:r>
          </a:p>
        </p:txBody>
      </p:sp>
      <p:sp>
        <p:nvSpPr>
          <p:cNvPr id="4" name="Footer Placeholder 3">
            <a:extLst>
              <a:ext uri="{FF2B5EF4-FFF2-40B4-BE49-F238E27FC236}">
                <a16:creationId xmlns:a16="http://schemas.microsoft.com/office/drawing/2014/main" id="{339E199A-85A1-DF88-45C3-B8BABF094122}"/>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59F72893-5943-6B14-5E85-44984C0E61F8}"/>
              </a:ext>
            </a:extLst>
          </p:cNvPr>
          <p:cNvSpPr>
            <a:spLocks noGrp="1"/>
          </p:cNvSpPr>
          <p:nvPr>
            <p:ph type="body" idx="1"/>
          </p:nvPr>
        </p:nvSpPr>
        <p:spPr>
          <a:xfrm>
            <a:off x="742950" y="5665340"/>
            <a:ext cx="8420100" cy="533286"/>
          </a:xfrm>
        </p:spPr>
        <p:txBody>
          <a:bodyPr anchor="t"/>
          <a:lstStyle/>
          <a:p>
            <a:r>
              <a:rPr lang="en-US" dirty="0"/>
              <a:t>&lt;empty&gt;</a:t>
            </a:r>
          </a:p>
        </p:txBody>
      </p:sp>
      <p:pic>
        <p:nvPicPr>
          <p:cNvPr id="5" name="Picture 4">
            <a:extLst>
              <a:ext uri="{FF2B5EF4-FFF2-40B4-BE49-F238E27FC236}">
                <a16:creationId xmlns:a16="http://schemas.microsoft.com/office/drawing/2014/main" id="{9751287F-61F3-A7AE-E38E-4D3272644C8E}"/>
              </a:ext>
            </a:extLst>
          </p:cNvPr>
          <p:cNvPicPr>
            <a:picLocks noChangeAspect="1"/>
          </p:cNvPicPr>
          <p:nvPr/>
        </p:nvPicPr>
        <p:blipFill>
          <a:blip r:embed="rId2"/>
          <a:stretch>
            <a:fillRect/>
          </a:stretch>
        </p:blipFill>
        <p:spPr>
          <a:xfrm>
            <a:off x="2128693" y="1712026"/>
            <a:ext cx="6045200" cy="3810000"/>
          </a:xfrm>
          <a:prstGeom prst="rect">
            <a:avLst/>
          </a:prstGeom>
        </p:spPr>
      </p:pic>
    </p:spTree>
    <p:extLst>
      <p:ext uri="{BB962C8B-B14F-4D97-AF65-F5344CB8AC3E}">
        <p14:creationId xmlns:p14="http://schemas.microsoft.com/office/powerpoint/2010/main" val="4046078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BD414-0607-CBAB-735E-5A3C872ECA1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E97188E-613F-E710-BCC1-9228DB4DD74C}"/>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597400AD-9B2D-78A4-5DB6-79BF44247D15}"/>
              </a:ext>
            </a:extLst>
          </p:cNvPr>
          <p:cNvSpPr>
            <a:spLocks noGrp="1"/>
          </p:cNvSpPr>
          <p:nvPr>
            <p:ph type="body" idx="1"/>
          </p:nvPr>
        </p:nvSpPr>
        <p:spPr>
          <a:xfrm>
            <a:off x="742950" y="5665340"/>
            <a:ext cx="8420100" cy="533286"/>
          </a:xfrm>
        </p:spPr>
        <p:txBody>
          <a:bodyPr anchor="t"/>
          <a:lstStyle/>
          <a:p>
            <a:r>
              <a:rPr lang="en-US" dirty="0"/>
              <a:t>&lt;empty&gt;</a:t>
            </a:r>
          </a:p>
        </p:txBody>
      </p:sp>
      <p:pic>
        <p:nvPicPr>
          <p:cNvPr id="3" name="Picture 2">
            <a:extLst>
              <a:ext uri="{FF2B5EF4-FFF2-40B4-BE49-F238E27FC236}">
                <a16:creationId xmlns:a16="http://schemas.microsoft.com/office/drawing/2014/main" id="{962DCE74-8C91-66F9-DC00-357040112C39}"/>
              </a:ext>
            </a:extLst>
          </p:cNvPr>
          <p:cNvPicPr>
            <a:picLocks noChangeAspect="1"/>
          </p:cNvPicPr>
          <p:nvPr/>
        </p:nvPicPr>
        <p:blipFill>
          <a:blip r:embed="rId2"/>
          <a:stretch>
            <a:fillRect/>
          </a:stretch>
        </p:blipFill>
        <p:spPr>
          <a:xfrm>
            <a:off x="949123" y="997196"/>
            <a:ext cx="8007754" cy="3729183"/>
          </a:xfrm>
          <a:prstGeom prst="rect">
            <a:avLst/>
          </a:prstGeom>
        </p:spPr>
      </p:pic>
    </p:spTree>
    <p:extLst>
      <p:ext uri="{BB962C8B-B14F-4D97-AF65-F5344CB8AC3E}">
        <p14:creationId xmlns:p14="http://schemas.microsoft.com/office/powerpoint/2010/main" val="47484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21FA3-C506-9CED-BB74-A3535DF5C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CE2A7-1AD2-DBBB-C3E1-7A54182A960D}"/>
              </a:ext>
            </a:extLst>
          </p:cNvPr>
          <p:cNvSpPr>
            <a:spLocks noGrp="1"/>
          </p:cNvSpPr>
          <p:nvPr>
            <p:ph type="title"/>
          </p:nvPr>
        </p:nvSpPr>
        <p:spPr>
          <a:xfrm>
            <a:off x="742950" y="802688"/>
            <a:ext cx="8816686" cy="909637"/>
          </a:xfrm>
        </p:spPr>
        <p:txBody>
          <a:bodyPr/>
          <a:lstStyle/>
          <a:p>
            <a:r>
              <a:rPr lang="en-US" cap="none" dirty="0"/>
              <a:t>Observer-Mediator Fusion</a:t>
            </a:r>
          </a:p>
        </p:txBody>
      </p:sp>
      <p:sp>
        <p:nvSpPr>
          <p:cNvPr id="4" name="Footer Placeholder 3">
            <a:extLst>
              <a:ext uri="{FF2B5EF4-FFF2-40B4-BE49-F238E27FC236}">
                <a16:creationId xmlns:a16="http://schemas.microsoft.com/office/drawing/2014/main" id="{20C706F2-7437-5FE2-D399-39B99C9DF94F}"/>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DFF74908-CE68-7337-1593-696D5787DD12}"/>
              </a:ext>
            </a:extLst>
          </p:cNvPr>
          <p:cNvSpPr>
            <a:spLocks noGrp="1"/>
          </p:cNvSpPr>
          <p:nvPr>
            <p:ph type="body" idx="1"/>
          </p:nvPr>
        </p:nvSpPr>
        <p:spPr>
          <a:xfrm>
            <a:off x="742950" y="5665340"/>
            <a:ext cx="8420100" cy="533286"/>
          </a:xfrm>
        </p:spPr>
        <p:txBody>
          <a:bodyPr anchor="t"/>
          <a:lstStyle/>
          <a:p>
            <a:r>
              <a:rPr lang="en-US" dirty="0"/>
              <a:t>&lt;empty&gt;</a:t>
            </a:r>
          </a:p>
        </p:txBody>
      </p:sp>
      <p:pic>
        <p:nvPicPr>
          <p:cNvPr id="3" name="Picture 2">
            <a:extLst>
              <a:ext uri="{FF2B5EF4-FFF2-40B4-BE49-F238E27FC236}">
                <a16:creationId xmlns:a16="http://schemas.microsoft.com/office/drawing/2014/main" id="{CFD33A22-7A86-0F2F-DEC0-2589313C1280}"/>
              </a:ext>
            </a:extLst>
          </p:cNvPr>
          <p:cNvPicPr>
            <a:picLocks noChangeAspect="1"/>
          </p:cNvPicPr>
          <p:nvPr/>
        </p:nvPicPr>
        <p:blipFill>
          <a:blip r:embed="rId2"/>
          <a:stretch>
            <a:fillRect/>
          </a:stretch>
        </p:blipFill>
        <p:spPr>
          <a:xfrm>
            <a:off x="1765300" y="2755382"/>
            <a:ext cx="6375400" cy="1866900"/>
          </a:xfrm>
          <a:prstGeom prst="rect">
            <a:avLst/>
          </a:prstGeom>
        </p:spPr>
      </p:pic>
    </p:spTree>
    <p:extLst>
      <p:ext uri="{BB962C8B-B14F-4D97-AF65-F5344CB8AC3E}">
        <p14:creationId xmlns:p14="http://schemas.microsoft.com/office/powerpoint/2010/main" val="2572402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81018-2C99-422E-92D8-448961F2842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8A8E154-6E07-D3E4-F127-BBF562C1B05A}"/>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69197B5E-DA42-4324-8433-57EF565B714A}"/>
              </a:ext>
            </a:extLst>
          </p:cNvPr>
          <p:cNvSpPr>
            <a:spLocks noGrp="1"/>
          </p:cNvSpPr>
          <p:nvPr>
            <p:ph type="body" idx="1"/>
          </p:nvPr>
        </p:nvSpPr>
        <p:spPr>
          <a:xfrm>
            <a:off x="742950" y="5665340"/>
            <a:ext cx="8420100" cy="533286"/>
          </a:xfrm>
        </p:spPr>
        <p:txBody>
          <a:bodyPr anchor="t"/>
          <a:lstStyle/>
          <a:p>
            <a:r>
              <a:rPr lang="en-US" dirty="0"/>
              <a:t>&lt;empty&gt;</a:t>
            </a:r>
          </a:p>
        </p:txBody>
      </p:sp>
      <p:pic>
        <p:nvPicPr>
          <p:cNvPr id="5" name="Picture 4">
            <a:extLst>
              <a:ext uri="{FF2B5EF4-FFF2-40B4-BE49-F238E27FC236}">
                <a16:creationId xmlns:a16="http://schemas.microsoft.com/office/drawing/2014/main" id="{B55F64B1-6F80-7F66-A1D2-A673AFACFB23}"/>
              </a:ext>
            </a:extLst>
          </p:cNvPr>
          <p:cNvPicPr>
            <a:picLocks noChangeAspect="1"/>
          </p:cNvPicPr>
          <p:nvPr/>
        </p:nvPicPr>
        <p:blipFill>
          <a:blip r:embed="rId2"/>
          <a:stretch>
            <a:fillRect/>
          </a:stretch>
        </p:blipFill>
        <p:spPr>
          <a:xfrm>
            <a:off x="1448661" y="1704315"/>
            <a:ext cx="7008678" cy="3449369"/>
          </a:xfrm>
          <a:prstGeom prst="rect">
            <a:avLst/>
          </a:prstGeom>
        </p:spPr>
      </p:pic>
    </p:spTree>
    <p:extLst>
      <p:ext uri="{BB962C8B-B14F-4D97-AF65-F5344CB8AC3E}">
        <p14:creationId xmlns:p14="http://schemas.microsoft.com/office/powerpoint/2010/main" val="907243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9DED-A352-0E7B-1321-4DEA16EA8E0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4B47F5A-A138-FE66-48E9-1DD3395AE2D3}"/>
              </a:ext>
            </a:extLst>
          </p:cNvPr>
          <p:cNvSpPr>
            <a:spLocks noGrp="1"/>
          </p:cNvSpPr>
          <p:nvPr>
            <p:ph type="ftr" sz="quarter" idx="10"/>
          </p:nvPr>
        </p:nvSpPr>
        <p:spPr/>
        <p:txBody>
          <a:bodyPr/>
          <a:lstStyle/>
          <a:p>
            <a:pPr>
              <a:defRPr/>
            </a:pPr>
            <a:r>
              <a:rPr lang="en-GB"/>
              <a:t>Copyright © University of Science, VNUHCM - APCS 2023</a:t>
            </a:r>
          </a:p>
        </p:txBody>
      </p:sp>
      <p:pic>
        <p:nvPicPr>
          <p:cNvPr id="2" name="Picture 1">
            <a:extLst>
              <a:ext uri="{FF2B5EF4-FFF2-40B4-BE49-F238E27FC236}">
                <a16:creationId xmlns:a16="http://schemas.microsoft.com/office/drawing/2014/main" id="{67DF39B7-7D53-268E-8BEF-1EC8508BDDFD}"/>
              </a:ext>
            </a:extLst>
          </p:cNvPr>
          <p:cNvPicPr>
            <a:picLocks noChangeAspect="1"/>
          </p:cNvPicPr>
          <p:nvPr/>
        </p:nvPicPr>
        <p:blipFill>
          <a:blip r:embed="rId2"/>
          <a:stretch>
            <a:fillRect/>
          </a:stretch>
        </p:blipFill>
        <p:spPr>
          <a:xfrm>
            <a:off x="2306740" y="761682"/>
            <a:ext cx="5292519" cy="5334635"/>
          </a:xfrm>
          <a:prstGeom prst="rect">
            <a:avLst/>
          </a:prstGeom>
        </p:spPr>
      </p:pic>
    </p:spTree>
    <p:extLst>
      <p:ext uri="{BB962C8B-B14F-4D97-AF65-F5344CB8AC3E}">
        <p14:creationId xmlns:p14="http://schemas.microsoft.com/office/powerpoint/2010/main" val="3302933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25F50-9388-4BCC-78BE-7C2953A8B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15462-47DF-566A-4FE7-B400E0B1DDF7}"/>
              </a:ext>
            </a:extLst>
          </p:cNvPr>
          <p:cNvSpPr>
            <a:spLocks noGrp="1"/>
          </p:cNvSpPr>
          <p:nvPr>
            <p:ph type="title"/>
          </p:nvPr>
        </p:nvSpPr>
        <p:spPr>
          <a:xfrm>
            <a:off x="742950" y="802688"/>
            <a:ext cx="8816686" cy="909637"/>
          </a:xfrm>
        </p:spPr>
        <p:txBody>
          <a:bodyPr/>
          <a:lstStyle/>
          <a:p>
            <a:r>
              <a:rPr lang="en-US" cap="none" dirty="0"/>
              <a:t>Implementation &amp; Demo</a:t>
            </a:r>
          </a:p>
        </p:txBody>
      </p:sp>
      <p:sp>
        <p:nvSpPr>
          <p:cNvPr id="4" name="Footer Placeholder 3">
            <a:extLst>
              <a:ext uri="{FF2B5EF4-FFF2-40B4-BE49-F238E27FC236}">
                <a16:creationId xmlns:a16="http://schemas.microsoft.com/office/drawing/2014/main" id="{42CAB464-E2DC-6134-6365-BEC06DB3AE32}"/>
              </a:ext>
            </a:extLst>
          </p:cNvPr>
          <p:cNvSpPr>
            <a:spLocks noGrp="1"/>
          </p:cNvSpPr>
          <p:nvPr>
            <p:ph type="ftr" sz="quarter" idx="10"/>
          </p:nvPr>
        </p:nvSpPr>
        <p:spPr/>
        <p:txBody>
          <a:bodyPr/>
          <a:lstStyle/>
          <a:p>
            <a:pPr>
              <a:defRPr/>
            </a:pPr>
            <a:r>
              <a:rPr lang="en-GB" dirty="0"/>
              <a:t>Copyright © University of Science, VNUHCM - APCS 2023</a:t>
            </a:r>
          </a:p>
        </p:txBody>
      </p:sp>
      <p:sp>
        <p:nvSpPr>
          <p:cNvPr id="7" name="Text Placeholder 2">
            <a:extLst>
              <a:ext uri="{FF2B5EF4-FFF2-40B4-BE49-F238E27FC236}">
                <a16:creationId xmlns:a16="http://schemas.microsoft.com/office/drawing/2014/main" id="{8354908E-BC37-7F46-6E24-F2764F3ABFC2}"/>
              </a:ext>
            </a:extLst>
          </p:cNvPr>
          <p:cNvSpPr>
            <a:spLocks noGrp="1"/>
          </p:cNvSpPr>
          <p:nvPr>
            <p:ph type="body" idx="1"/>
          </p:nvPr>
        </p:nvSpPr>
        <p:spPr>
          <a:xfrm>
            <a:off x="742950" y="5665340"/>
            <a:ext cx="8420100" cy="533286"/>
          </a:xfrm>
        </p:spPr>
        <p:txBody>
          <a:bodyPr anchor="t"/>
          <a:lstStyle/>
          <a:p>
            <a:r>
              <a:rPr lang="en-US" dirty="0"/>
              <a:t>&lt;empty&gt;</a:t>
            </a:r>
          </a:p>
        </p:txBody>
      </p:sp>
      <p:pic>
        <p:nvPicPr>
          <p:cNvPr id="3" name="Picture 2">
            <a:extLst>
              <a:ext uri="{FF2B5EF4-FFF2-40B4-BE49-F238E27FC236}">
                <a16:creationId xmlns:a16="http://schemas.microsoft.com/office/drawing/2014/main" id="{475A2CDE-DB8D-96BC-836A-7B7615F75EEF}"/>
              </a:ext>
            </a:extLst>
          </p:cNvPr>
          <p:cNvPicPr>
            <a:picLocks noChangeAspect="1"/>
          </p:cNvPicPr>
          <p:nvPr/>
        </p:nvPicPr>
        <p:blipFill>
          <a:blip r:embed="rId2"/>
          <a:stretch>
            <a:fillRect/>
          </a:stretch>
        </p:blipFill>
        <p:spPr>
          <a:xfrm>
            <a:off x="719703" y="1594382"/>
            <a:ext cx="8466594" cy="4070958"/>
          </a:xfrm>
          <a:prstGeom prst="rect">
            <a:avLst/>
          </a:prstGeom>
        </p:spPr>
      </p:pic>
    </p:spTree>
    <p:extLst>
      <p:ext uri="{BB962C8B-B14F-4D97-AF65-F5344CB8AC3E}">
        <p14:creationId xmlns:p14="http://schemas.microsoft.com/office/powerpoint/2010/main" val="1254590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154E7-4D44-5C5F-14DD-08AFD4497BC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B53D3A5-67BD-A5A1-4EAE-7BB98D3669B2}"/>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BCAA0BEC-A33B-7CE6-063E-278DB49D27FF}"/>
              </a:ext>
            </a:extLst>
          </p:cNvPr>
          <p:cNvSpPr>
            <a:spLocks noGrp="1"/>
          </p:cNvSpPr>
          <p:nvPr>
            <p:ph type="body" idx="1"/>
          </p:nvPr>
        </p:nvSpPr>
        <p:spPr>
          <a:xfrm>
            <a:off x="742950" y="5665340"/>
            <a:ext cx="8420100" cy="533286"/>
          </a:xfrm>
        </p:spPr>
        <p:txBody>
          <a:bodyPr anchor="t"/>
          <a:lstStyle/>
          <a:p>
            <a:r>
              <a:rPr lang="en-US" dirty="0"/>
              <a:t>&lt;empty&gt;</a:t>
            </a:r>
          </a:p>
        </p:txBody>
      </p:sp>
      <p:pic>
        <p:nvPicPr>
          <p:cNvPr id="9" name="Picture 8">
            <a:extLst>
              <a:ext uri="{FF2B5EF4-FFF2-40B4-BE49-F238E27FC236}">
                <a16:creationId xmlns:a16="http://schemas.microsoft.com/office/drawing/2014/main" id="{A2AF78D8-91DB-748C-0131-6616FE70394F}"/>
              </a:ext>
            </a:extLst>
          </p:cNvPr>
          <p:cNvPicPr>
            <a:picLocks noChangeAspect="1"/>
          </p:cNvPicPr>
          <p:nvPr/>
        </p:nvPicPr>
        <p:blipFill>
          <a:blip r:embed="rId2"/>
          <a:stretch>
            <a:fillRect/>
          </a:stretch>
        </p:blipFill>
        <p:spPr>
          <a:xfrm>
            <a:off x="1325717" y="1067622"/>
            <a:ext cx="7254566" cy="4372085"/>
          </a:xfrm>
          <a:prstGeom prst="rect">
            <a:avLst/>
          </a:prstGeom>
        </p:spPr>
      </p:pic>
    </p:spTree>
    <p:extLst>
      <p:ext uri="{BB962C8B-B14F-4D97-AF65-F5344CB8AC3E}">
        <p14:creationId xmlns:p14="http://schemas.microsoft.com/office/powerpoint/2010/main" val="3919002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56B91-A826-FC22-629A-C38A3789D3E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3A1EFE-AF31-39A5-171E-6ECB26C143EE}"/>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5EBC2E96-51C5-DA0B-FCBF-D18C752CF21E}"/>
              </a:ext>
            </a:extLst>
          </p:cNvPr>
          <p:cNvSpPr>
            <a:spLocks noGrp="1"/>
          </p:cNvSpPr>
          <p:nvPr>
            <p:ph type="body" idx="1"/>
          </p:nvPr>
        </p:nvSpPr>
        <p:spPr>
          <a:xfrm>
            <a:off x="600446" y="5878286"/>
            <a:ext cx="8420100" cy="533286"/>
          </a:xfrm>
        </p:spPr>
        <p:txBody>
          <a:bodyPr anchor="t"/>
          <a:lstStyle/>
          <a:p>
            <a:r>
              <a:rPr lang="en-US" dirty="0"/>
              <a:t>&lt;empty&gt;</a:t>
            </a:r>
          </a:p>
        </p:txBody>
      </p:sp>
      <p:pic>
        <p:nvPicPr>
          <p:cNvPr id="2" name="Picture 1">
            <a:extLst>
              <a:ext uri="{FF2B5EF4-FFF2-40B4-BE49-F238E27FC236}">
                <a16:creationId xmlns:a16="http://schemas.microsoft.com/office/drawing/2014/main" id="{D9E8A293-6EEC-DA73-677A-AB095FD0181D}"/>
              </a:ext>
            </a:extLst>
          </p:cNvPr>
          <p:cNvPicPr>
            <a:picLocks noChangeAspect="1"/>
          </p:cNvPicPr>
          <p:nvPr/>
        </p:nvPicPr>
        <p:blipFill>
          <a:blip r:embed="rId2"/>
          <a:stretch>
            <a:fillRect/>
          </a:stretch>
        </p:blipFill>
        <p:spPr>
          <a:xfrm>
            <a:off x="1192976" y="812334"/>
            <a:ext cx="7520047" cy="5065952"/>
          </a:xfrm>
          <a:prstGeom prst="rect">
            <a:avLst/>
          </a:prstGeom>
        </p:spPr>
      </p:pic>
    </p:spTree>
    <p:extLst>
      <p:ext uri="{BB962C8B-B14F-4D97-AF65-F5344CB8AC3E}">
        <p14:creationId xmlns:p14="http://schemas.microsoft.com/office/powerpoint/2010/main" val="2687030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23BA-695D-7D1C-37C8-88A3CFCCA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06926-CBBE-CF2F-AA61-C5669C48545F}"/>
              </a:ext>
            </a:extLst>
          </p:cNvPr>
          <p:cNvSpPr>
            <a:spLocks noGrp="1"/>
          </p:cNvSpPr>
          <p:nvPr>
            <p:ph type="title"/>
          </p:nvPr>
        </p:nvSpPr>
        <p:spPr>
          <a:xfrm>
            <a:off x="742950" y="802688"/>
            <a:ext cx="8420100" cy="1399738"/>
          </a:xfrm>
        </p:spPr>
        <p:txBody>
          <a:bodyPr/>
          <a:lstStyle/>
          <a:p>
            <a:r>
              <a:rPr lang="en-US" cap="none" dirty="0"/>
              <a:t>Relationship with Interpreter design pattern</a:t>
            </a:r>
          </a:p>
        </p:txBody>
      </p:sp>
      <p:sp>
        <p:nvSpPr>
          <p:cNvPr id="4" name="Footer Placeholder 3">
            <a:extLst>
              <a:ext uri="{FF2B5EF4-FFF2-40B4-BE49-F238E27FC236}">
                <a16:creationId xmlns:a16="http://schemas.microsoft.com/office/drawing/2014/main" id="{F6766942-2154-9D37-0652-AC9E6477A733}"/>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94209340-E929-DFFB-F2C2-ED6F2C1BA8F8}"/>
              </a:ext>
            </a:extLst>
          </p:cNvPr>
          <p:cNvSpPr>
            <a:spLocks noGrp="1"/>
          </p:cNvSpPr>
          <p:nvPr>
            <p:ph type="body" idx="1"/>
          </p:nvPr>
        </p:nvSpPr>
        <p:spPr>
          <a:xfrm>
            <a:off x="742950" y="2202426"/>
            <a:ext cx="4210049" cy="1956619"/>
          </a:xfrm>
        </p:spPr>
        <p:txBody>
          <a:bodyPr anchor="t"/>
          <a:lstStyle/>
          <a:p>
            <a:r>
              <a:rPr lang="en-US" dirty="0"/>
              <a:t>Interpreter design pattern: Given a language, we need to defined a hierarchical representation for the language.</a:t>
            </a:r>
          </a:p>
          <a:p>
            <a:r>
              <a:rPr lang="en-US" dirty="0"/>
              <a:t>Example: Representing (5 + 1) x 10 + 41 - x as an operation tree.</a:t>
            </a:r>
          </a:p>
          <a:p>
            <a:endParaRPr lang="en-US" dirty="0"/>
          </a:p>
        </p:txBody>
      </p:sp>
      <p:pic>
        <p:nvPicPr>
          <p:cNvPr id="5" name="Picture 4">
            <a:extLst>
              <a:ext uri="{FF2B5EF4-FFF2-40B4-BE49-F238E27FC236}">
                <a16:creationId xmlns:a16="http://schemas.microsoft.com/office/drawing/2014/main" id="{0DD96C78-751B-DC81-2FA5-A69489DE9099}"/>
              </a:ext>
            </a:extLst>
          </p:cNvPr>
          <p:cNvPicPr>
            <a:picLocks noChangeAspect="1"/>
          </p:cNvPicPr>
          <p:nvPr/>
        </p:nvPicPr>
        <p:blipFill>
          <a:blip r:embed="rId2"/>
          <a:stretch>
            <a:fillRect/>
          </a:stretch>
        </p:blipFill>
        <p:spPr>
          <a:xfrm>
            <a:off x="4953001" y="2202426"/>
            <a:ext cx="4445662" cy="2916637"/>
          </a:xfrm>
          <a:prstGeom prst="rect">
            <a:avLst/>
          </a:prstGeom>
        </p:spPr>
      </p:pic>
      <p:sp>
        <p:nvSpPr>
          <p:cNvPr id="6" name="Text Placeholder 2">
            <a:extLst>
              <a:ext uri="{FF2B5EF4-FFF2-40B4-BE49-F238E27FC236}">
                <a16:creationId xmlns:a16="http://schemas.microsoft.com/office/drawing/2014/main" id="{7C9E8FCA-4CE8-6DC4-89B1-CA25B9246C94}"/>
              </a:ext>
            </a:extLst>
          </p:cNvPr>
          <p:cNvSpPr txBox="1">
            <a:spLocks/>
          </p:cNvSpPr>
          <p:nvPr/>
        </p:nvSpPr>
        <p:spPr bwMode="auto">
          <a:xfrm>
            <a:off x="4952999" y="5119063"/>
            <a:ext cx="4445662" cy="2619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gn="ctr">
              <a:lnSpc>
                <a:spcPct val="100000"/>
              </a:lnSpc>
            </a:pPr>
            <a:r>
              <a:rPr lang="en-US" sz="1200" kern="0" dirty="0"/>
              <a:t>Source: https://sourcemaking.com/</a:t>
            </a:r>
          </a:p>
          <a:p>
            <a:pPr algn="ctr">
              <a:lnSpc>
                <a:spcPct val="100000"/>
              </a:lnSpc>
            </a:pPr>
            <a:endParaRPr lang="en-US" sz="1200" kern="0" dirty="0"/>
          </a:p>
        </p:txBody>
      </p:sp>
    </p:spTree>
    <p:extLst>
      <p:ext uri="{BB962C8B-B14F-4D97-AF65-F5344CB8AC3E}">
        <p14:creationId xmlns:p14="http://schemas.microsoft.com/office/powerpoint/2010/main" val="3908047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3CBB7-C487-C1A5-2124-A8E74E72B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0F6DE-A1F4-AF00-C3A5-49A4328B07EB}"/>
              </a:ext>
            </a:extLst>
          </p:cNvPr>
          <p:cNvSpPr>
            <a:spLocks noGrp="1"/>
          </p:cNvSpPr>
          <p:nvPr>
            <p:ph type="title"/>
          </p:nvPr>
        </p:nvSpPr>
        <p:spPr>
          <a:xfrm>
            <a:off x="742950" y="802688"/>
            <a:ext cx="8420100" cy="1399738"/>
          </a:xfrm>
        </p:spPr>
        <p:txBody>
          <a:bodyPr/>
          <a:lstStyle/>
          <a:p>
            <a:r>
              <a:rPr lang="en-US" cap="none" dirty="0"/>
              <a:t>Usage with Interpreter</a:t>
            </a:r>
          </a:p>
        </p:txBody>
      </p:sp>
      <p:sp>
        <p:nvSpPr>
          <p:cNvPr id="4" name="Footer Placeholder 3">
            <a:extLst>
              <a:ext uri="{FF2B5EF4-FFF2-40B4-BE49-F238E27FC236}">
                <a16:creationId xmlns:a16="http://schemas.microsoft.com/office/drawing/2014/main" id="{DBE556FD-4732-DA68-C715-23C11308E44C}"/>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1BBEA7B-77EF-861C-2314-5D8DCAC536A0}"/>
              </a:ext>
            </a:extLst>
          </p:cNvPr>
          <p:cNvSpPr>
            <a:spLocks noGrp="1"/>
          </p:cNvSpPr>
          <p:nvPr>
            <p:ph type="body" idx="1"/>
          </p:nvPr>
        </p:nvSpPr>
        <p:spPr>
          <a:xfrm>
            <a:off x="742950" y="2202426"/>
            <a:ext cx="8420100" cy="1052051"/>
          </a:xfrm>
        </p:spPr>
        <p:txBody>
          <a:bodyPr anchor="t"/>
          <a:lstStyle/>
          <a:p>
            <a:r>
              <a:rPr lang="en-US" dirty="0"/>
              <a:t>However, if the terminal expression is a variable, which can be changed by another process, services, … instead of being a constant, then we need to update the result of the operations according to the new value.</a:t>
            </a:r>
          </a:p>
        </p:txBody>
      </p:sp>
      <p:sp>
        <p:nvSpPr>
          <p:cNvPr id="3" name="Text Placeholder 2">
            <a:extLst>
              <a:ext uri="{FF2B5EF4-FFF2-40B4-BE49-F238E27FC236}">
                <a16:creationId xmlns:a16="http://schemas.microsoft.com/office/drawing/2014/main" id="{D2F16AD8-86F0-BA07-5433-BA82D08065C1}"/>
              </a:ext>
            </a:extLst>
          </p:cNvPr>
          <p:cNvSpPr txBox="1">
            <a:spLocks/>
          </p:cNvSpPr>
          <p:nvPr/>
        </p:nvSpPr>
        <p:spPr bwMode="auto">
          <a:xfrm>
            <a:off x="742950" y="3602164"/>
            <a:ext cx="8420100" cy="7463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dirty="0"/>
              <a:t>=&gt; We use observer pattern to observe the changes in the variable and update the tree accordingly.</a:t>
            </a:r>
          </a:p>
        </p:txBody>
      </p:sp>
    </p:spTree>
    <p:extLst>
      <p:ext uri="{BB962C8B-B14F-4D97-AF65-F5344CB8AC3E}">
        <p14:creationId xmlns:p14="http://schemas.microsoft.com/office/powerpoint/2010/main" val="2012501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AED65-414B-8096-5901-EB9B1AD65AB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79F7CFD-2067-C7B3-3039-BC106FC0EEA4}"/>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00084408-9B21-DCA4-12A2-43C252AF7E4A}"/>
              </a:ext>
            </a:extLst>
          </p:cNvPr>
          <p:cNvSpPr>
            <a:spLocks noGrp="1"/>
          </p:cNvSpPr>
          <p:nvPr>
            <p:ph type="body" idx="1"/>
          </p:nvPr>
        </p:nvSpPr>
        <p:spPr>
          <a:xfrm>
            <a:off x="742950" y="2202427"/>
            <a:ext cx="8420100" cy="1061884"/>
          </a:xfrm>
        </p:spPr>
        <p:txBody>
          <a:bodyPr anchor="t"/>
          <a:lstStyle/>
          <a:p>
            <a:r>
              <a:rPr lang="en-US" dirty="0"/>
              <a:t>Example: We have a spreadsheet (like an Excel file). In cell A3, we have a formula “= A1 + A2”. The result of A3 depends on the result of A1 and A2, which can be changed by another formula(s) or by user.</a:t>
            </a:r>
          </a:p>
        </p:txBody>
      </p:sp>
      <p:sp>
        <p:nvSpPr>
          <p:cNvPr id="6" name="Text Placeholder 2">
            <a:extLst>
              <a:ext uri="{FF2B5EF4-FFF2-40B4-BE49-F238E27FC236}">
                <a16:creationId xmlns:a16="http://schemas.microsoft.com/office/drawing/2014/main" id="{C72A18CB-294B-4849-A59E-06122C70C6D5}"/>
              </a:ext>
            </a:extLst>
          </p:cNvPr>
          <p:cNvSpPr txBox="1">
            <a:spLocks/>
          </p:cNvSpPr>
          <p:nvPr/>
        </p:nvSpPr>
        <p:spPr bwMode="auto">
          <a:xfrm>
            <a:off x="742950" y="3593690"/>
            <a:ext cx="8420100" cy="7718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pPr>
              <a:lnSpc>
                <a:spcPct val="100000"/>
              </a:lnSpc>
            </a:pPr>
            <a:r>
              <a:rPr lang="en-US" kern="0" dirty="0"/>
              <a:t>=&gt; We use the interpreter pattern to interpret the formula in A3, and the observer pattern to observe the changes in A1 and A2.</a:t>
            </a:r>
          </a:p>
        </p:txBody>
      </p:sp>
      <p:sp>
        <p:nvSpPr>
          <p:cNvPr id="7" name="Title 1">
            <a:extLst>
              <a:ext uri="{FF2B5EF4-FFF2-40B4-BE49-F238E27FC236}">
                <a16:creationId xmlns:a16="http://schemas.microsoft.com/office/drawing/2014/main" id="{B40115F1-0ACB-4E6A-2BCF-FEEE1E15A979}"/>
              </a:ext>
            </a:extLst>
          </p:cNvPr>
          <p:cNvSpPr txBox="1">
            <a:spLocks/>
          </p:cNvSpPr>
          <p:nvPr/>
        </p:nvSpPr>
        <p:spPr bwMode="auto">
          <a:xfrm>
            <a:off x="742950" y="802688"/>
            <a:ext cx="8420100" cy="13997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000" b="1" cap="all">
                <a:solidFill>
                  <a:srgbClr val="003366"/>
                </a:solidFill>
                <a:latin typeface="+mj-lt"/>
                <a:ea typeface="+mj-ea"/>
                <a:cs typeface="+mj-cs"/>
              </a:defRPr>
            </a:lvl1pPr>
            <a:lvl2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2pPr>
            <a:lvl3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3pPr>
            <a:lvl4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4pPr>
            <a:lvl5pPr algn="r" rtl="0" eaLnBrk="0" fontAlgn="base" hangingPunct="0">
              <a:spcBef>
                <a:spcPct val="0"/>
              </a:spcBef>
              <a:spcAft>
                <a:spcPct val="0"/>
              </a:spcAft>
              <a:defRPr sz="3000">
                <a:solidFill>
                  <a:srgbClr val="003366"/>
                </a:solidFill>
                <a:latin typeface="Arial" charset="0"/>
                <a:ea typeface="ＭＳ Ｐゴシック" charset="-128"/>
                <a:cs typeface="ＭＳ Ｐゴシック" charset="-128"/>
              </a:defRPr>
            </a:lvl5pPr>
            <a:lvl6pPr marL="457200" algn="l" rtl="0" fontAlgn="base">
              <a:spcBef>
                <a:spcPct val="0"/>
              </a:spcBef>
              <a:spcAft>
                <a:spcPct val="0"/>
              </a:spcAft>
              <a:defRPr sz="3000">
                <a:solidFill>
                  <a:srgbClr val="003366"/>
                </a:solidFill>
                <a:latin typeface="Arial" charset="0"/>
                <a:ea typeface="ＭＳ Ｐゴシック" charset="-128"/>
                <a:cs typeface="ＭＳ Ｐゴシック" charset="-128"/>
              </a:defRPr>
            </a:lvl6pPr>
            <a:lvl7pPr marL="914400" algn="l" rtl="0" fontAlgn="base">
              <a:spcBef>
                <a:spcPct val="0"/>
              </a:spcBef>
              <a:spcAft>
                <a:spcPct val="0"/>
              </a:spcAft>
              <a:defRPr sz="3000">
                <a:solidFill>
                  <a:srgbClr val="003366"/>
                </a:solidFill>
                <a:latin typeface="Arial" charset="0"/>
                <a:ea typeface="ＭＳ Ｐゴシック" charset="-128"/>
                <a:cs typeface="ＭＳ Ｐゴシック" charset="-128"/>
              </a:defRPr>
            </a:lvl7pPr>
            <a:lvl8pPr marL="1371600" algn="l" rtl="0" fontAlgn="base">
              <a:spcBef>
                <a:spcPct val="0"/>
              </a:spcBef>
              <a:spcAft>
                <a:spcPct val="0"/>
              </a:spcAft>
              <a:defRPr sz="3000">
                <a:solidFill>
                  <a:srgbClr val="003366"/>
                </a:solidFill>
                <a:latin typeface="Arial" charset="0"/>
                <a:ea typeface="ＭＳ Ｐゴシック" charset="-128"/>
                <a:cs typeface="ＭＳ Ｐゴシック" charset="-128"/>
              </a:defRPr>
            </a:lvl8pPr>
            <a:lvl9pPr marL="1828800" algn="l" rtl="0" fontAlgn="base">
              <a:spcBef>
                <a:spcPct val="0"/>
              </a:spcBef>
              <a:spcAft>
                <a:spcPct val="0"/>
              </a:spcAft>
              <a:defRPr sz="3000">
                <a:solidFill>
                  <a:srgbClr val="003366"/>
                </a:solidFill>
                <a:latin typeface="Arial" charset="0"/>
                <a:ea typeface="ＭＳ Ｐゴシック" charset="-128"/>
                <a:cs typeface="ＭＳ Ｐゴシック" charset="-128"/>
              </a:defRPr>
            </a:lvl9pPr>
          </a:lstStyle>
          <a:p>
            <a:pPr>
              <a:lnSpc>
                <a:spcPct val="100000"/>
              </a:lnSpc>
            </a:pPr>
            <a:r>
              <a:rPr lang="en-US" kern="0" cap="none"/>
              <a:t>Usage with Interpreter</a:t>
            </a:r>
            <a:endParaRPr lang="en-US" kern="0" cap="none" dirty="0"/>
          </a:p>
        </p:txBody>
      </p:sp>
    </p:spTree>
    <p:extLst>
      <p:ext uri="{BB962C8B-B14F-4D97-AF65-F5344CB8AC3E}">
        <p14:creationId xmlns:p14="http://schemas.microsoft.com/office/powerpoint/2010/main" val="2358784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338D5-9A55-3D1B-E134-7BE51F290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75A6C-1566-8669-BBA3-6CACE76AB1F9}"/>
              </a:ext>
            </a:extLst>
          </p:cNvPr>
          <p:cNvSpPr>
            <a:spLocks noGrp="1"/>
          </p:cNvSpPr>
          <p:nvPr>
            <p:ph type="title"/>
          </p:nvPr>
        </p:nvSpPr>
        <p:spPr>
          <a:xfrm>
            <a:off x="742950" y="802688"/>
            <a:ext cx="8816686" cy="909637"/>
          </a:xfrm>
        </p:spPr>
        <p:txBody>
          <a:bodyPr/>
          <a:lstStyle/>
          <a:p>
            <a:r>
              <a:rPr lang="en-US" cap="none" dirty="0"/>
              <a:t>Pros &amp; Cons</a:t>
            </a:r>
          </a:p>
        </p:txBody>
      </p:sp>
      <p:sp>
        <p:nvSpPr>
          <p:cNvPr id="4" name="Footer Placeholder 3">
            <a:extLst>
              <a:ext uri="{FF2B5EF4-FFF2-40B4-BE49-F238E27FC236}">
                <a16:creationId xmlns:a16="http://schemas.microsoft.com/office/drawing/2014/main" id="{C1122FD0-658E-9BD3-5AF7-5923C0414E15}"/>
              </a:ext>
            </a:extLst>
          </p:cNvPr>
          <p:cNvSpPr>
            <a:spLocks noGrp="1"/>
          </p:cNvSpPr>
          <p:nvPr>
            <p:ph type="ftr" sz="quarter" idx="10"/>
          </p:nvPr>
        </p:nvSpPr>
        <p:spPr/>
        <p:txBody>
          <a:bodyPr/>
          <a:lstStyle/>
          <a:p>
            <a:pPr>
              <a:defRPr/>
            </a:pPr>
            <a:r>
              <a:rPr lang="en-GB"/>
              <a:t>Copyright © University of Science, VNUHCM - APCS 2023</a:t>
            </a:r>
          </a:p>
        </p:txBody>
      </p:sp>
      <p:sp>
        <p:nvSpPr>
          <p:cNvPr id="7" name="Text Placeholder 2">
            <a:extLst>
              <a:ext uri="{FF2B5EF4-FFF2-40B4-BE49-F238E27FC236}">
                <a16:creationId xmlns:a16="http://schemas.microsoft.com/office/drawing/2014/main" id="{06B64E49-E0D8-250B-942C-5944309F2FC1}"/>
              </a:ext>
            </a:extLst>
          </p:cNvPr>
          <p:cNvSpPr>
            <a:spLocks noGrp="1"/>
          </p:cNvSpPr>
          <p:nvPr>
            <p:ph type="body" idx="1"/>
          </p:nvPr>
        </p:nvSpPr>
        <p:spPr>
          <a:xfrm>
            <a:off x="742950" y="5665340"/>
            <a:ext cx="8420100" cy="533286"/>
          </a:xfrm>
        </p:spPr>
        <p:txBody>
          <a:bodyPr anchor="t"/>
          <a:lstStyle/>
          <a:p>
            <a:r>
              <a:rPr lang="en-US" dirty="0"/>
              <a:t>&lt;empty&gt;</a:t>
            </a:r>
          </a:p>
        </p:txBody>
      </p:sp>
    </p:spTree>
    <p:extLst>
      <p:ext uri="{BB962C8B-B14F-4D97-AF65-F5344CB8AC3E}">
        <p14:creationId xmlns:p14="http://schemas.microsoft.com/office/powerpoint/2010/main" val="3485366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3F08-647F-57D5-EF6A-AB2793062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293B3-CE94-6A48-FE69-551FA01450D4}"/>
              </a:ext>
            </a:extLst>
          </p:cNvPr>
          <p:cNvSpPr>
            <a:spLocks noGrp="1"/>
          </p:cNvSpPr>
          <p:nvPr>
            <p:ph type="title"/>
          </p:nvPr>
        </p:nvSpPr>
        <p:spPr>
          <a:xfrm>
            <a:off x="4247842" y="3033931"/>
            <a:ext cx="1410315" cy="790138"/>
          </a:xfrm>
        </p:spPr>
        <p:txBody>
          <a:bodyPr/>
          <a:lstStyle/>
          <a:p>
            <a:pPr algn="ctr"/>
            <a:r>
              <a:rPr lang="en-US" cap="none" dirty="0"/>
              <a:t>Quiz</a:t>
            </a:r>
          </a:p>
        </p:txBody>
      </p:sp>
      <p:sp>
        <p:nvSpPr>
          <p:cNvPr id="4" name="Footer Placeholder 3">
            <a:extLst>
              <a:ext uri="{FF2B5EF4-FFF2-40B4-BE49-F238E27FC236}">
                <a16:creationId xmlns:a16="http://schemas.microsoft.com/office/drawing/2014/main" id="{2B6174F4-FA10-CC39-9369-402D566CCB2A}"/>
              </a:ext>
            </a:extLst>
          </p:cNvPr>
          <p:cNvSpPr>
            <a:spLocks noGrp="1"/>
          </p:cNvSpPr>
          <p:nvPr>
            <p:ph type="ftr" sz="quarter" idx="10"/>
          </p:nvPr>
        </p:nvSpPr>
        <p:spPr/>
        <p:txBody>
          <a:bodyPr/>
          <a:lstStyle/>
          <a:p>
            <a:pPr>
              <a:defRPr/>
            </a:pPr>
            <a:r>
              <a:rPr lang="en-GB"/>
              <a:t>Copyright © University of Science, VNUHCM - APCS 2023</a:t>
            </a:r>
          </a:p>
        </p:txBody>
      </p:sp>
    </p:spTree>
    <p:extLst>
      <p:ext uri="{BB962C8B-B14F-4D97-AF65-F5344CB8AC3E}">
        <p14:creationId xmlns:p14="http://schemas.microsoft.com/office/powerpoint/2010/main" val="3496609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EBC56-3841-38B8-0997-9EF1ECF89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04275-2362-5FCB-94F7-5FAD05816756}"/>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3358471E-B4D2-64B8-3A02-6DFBC63FE3AC}"/>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0DB995CD-B08F-53E2-568F-01E23AB948E3}"/>
              </a:ext>
            </a:extLst>
          </p:cNvPr>
          <p:cNvSpPr>
            <a:spLocks noGrp="1"/>
          </p:cNvSpPr>
          <p:nvPr>
            <p:ph type="body" idx="1"/>
          </p:nvPr>
        </p:nvSpPr>
        <p:spPr>
          <a:xfrm>
            <a:off x="742950" y="1664774"/>
            <a:ext cx="8420100" cy="771832"/>
          </a:xfrm>
        </p:spPr>
        <p:txBody>
          <a:bodyPr anchor="t"/>
          <a:lstStyle/>
          <a:p>
            <a:r>
              <a:rPr lang="en-US" dirty="0"/>
              <a:t>Q1: If the Observer pattern were a real-world subscription service, which of the following scenarios best describes it?</a:t>
            </a:r>
          </a:p>
        </p:txBody>
      </p:sp>
      <p:sp>
        <p:nvSpPr>
          <p:cNvPr id="6" name="Text Placeholder 2">
            <a:extLst>
              <a:ext uri="{FF2B5EF4-FFF2-40B4-BE49-F238E27FC236}">
                <a16:creationId xmlns:a16="http://schemas.microsoft.com/office/drawing/2014/main" id="{BE68EBF2-AF62-7B34-B986-6E317B172ACA}"/>
              </a:ext>
            </a:extLst>
          </p:cNvPr>
          <p:cNvSpPr txBox="1">
            <a:spLocks/>
          </p:cNvSpPr>
          <p:nvPr/>
        </p:nvSpPr>
        <p:spPr bwMode="auto">
          <a:xfrm>
            <a:off x="742950" y="2651587"/>
            <a:ext cx="8420100" cy="22645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A client polling a server every 5 seconds to check if there are new emails.</a:t>
            </a:r>
          </a:p>
          <a:p>
            <a:r>
              <a:rPr lang="en-US" dirty="0"/>
              <a:t>B. A newspaper publisher automatically delivering the daily issue to all registered home addresses.</a:t>
            </a:r>
          </a:p>
          <a:p>
            <a:r>
              <a:rPr lang="en-US" dirty="0"/>
              <a:t>C. A customer walking into a physical store every day to check if a shoe is back in stock.</a:t>
            </a:r>
          </a:p>
          <a:p>
            <a:r>
              <a:rPr lang="en-US" dirty="0"/>
              <a:t>D. A mediator forwarding calls between two people who don't know each other.</a:t>
            </a:r>
          </a:p>
        </p:txBody>
      </p:sp>
    </p:spTree>
    <p:extLst>
      <p:ext uri="{BB962C8B-B14F-4D97-AF65-F5344CB8AC3E}">
        <p14:creationId xmlns:p14="http://schemas.microsoft.com/office/powerpoint/2010/main" val="126271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CEA56-FC33-08EC-98A8-A84097405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ECEF4-977D-8B2C-4924-7C354DF0B103}"/>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7A9EBB13-D36D-BADB-C8A3-1F47D7BFBC14}"/>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9A101565-FA1E-A301-8A7F-C0B87D31A9C6}"/>
              </a:ext>
            </a:extLst>
          </p:cNvPr>
          <p:cNvSpPr>
            <a:spLocks noGrp="1"/>
          </p:cNvSpPr>
          <p:nvPr>
            <p:ph type="body" idx="1"/>
          </p:nvPr>
        </p:nvSpPr>
        <p:spPr>
          <a:xfrm>
            <a:off x="742950" y="1664774"/>
            <a:ext cx="8420100" cy="771832"/>
          </a:xfrm>
        </p:spPr>
        <p:txBody>
          <a:bodyPr anchor="t"/>
          <a:lstStyle/>
          <a:p>
            <a:r>
              <a:rPr lang="en-US" dirty="0"/>
              <a:t>Q1: If the Observer pattern were a real-world subscription service, which of the following scenarios best describes it?</a:t>
            </a:r>
          </a:p>
        </p:txBody>
      </p:sp>
      <p:sp>
        <p:nvSpPr>
          <p:cNvPr id="6" name="Text Placeholder 2">
            <a:extLst>
              <a:ext uri="{FF2B5EF4-FFF2-40B4-BE49-F238E27FC236}">
                <a16:creationId xmlns:a16="http://schemas.microsoft.com/office/drawing/2014/main" id="{3DB9F656-E470-7742-5E3B-ED72D360092A}"/>
              </a:ext>
            </a:extLst>
          </p:cNvPr>
          <p:cNvSpPr txBox="1">
            <a:spLocks/>
          </p:cNvSpPr>
          <p:nvPr/>
        </p:nvSpPr>
        <p:spPr bwMode="auto">
          <a:xfrm>
            <a:off x="742950" y="2651587"/>
            <a:ext cx="8420100" cy="22645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A client polling a server every 5 seconds to check if there are new emails.</a:t>
            </a:r>
          </a:p>
          <a:p>
            <a:r>
              <a:rPr lang="en-US" b="1" dirty="0"/>
              <a:t>B. A newspaper publisher automatically delivering the daily issue to all registered home addresses.</a:t>
            </a:r>
          </a:p>
          <a:p>
            <a:r>
              <a:rPr lang="en-US" dirty="0"/>
              <a:t>C. A customer walking into a physical store every day to check if a shoe is back in stock.</a:t>
            </a:r>
          </a:p>
          <a:p>
            <a:r>
              <a:rPr lang="en-US" dirty="0"/>
              <a:t>D. A mediator forwarding calls between two people who don't know each other.</a:t>
            </a:r>
          </a:p>
        </p:txBody>
      </p:sp>
    </p:spTree>
    <p:extLst>
      <p:ext uri="{BB962C8B-B14F-4D97-AF65-F5344CB8AC3E}">
        <p14:creationId xmlns:p14="http://schemas.microsoft.com/office/powerpoint/2010/main" val="3301940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94B0-DF03-61D6-453B-9C93AE7FE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A9CC5-6D37-1CA2-39DE-67F46E1445AE}"/>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5032AAA0-14F5-D789-1647-65567722EEBA}"/>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61FA81D2-D112-9D63-26F1-D4EB8291AEA0}"/>
              </a:ext>
            </a:extLst>
          </p:cNvPr>
          <p:cNvSpPr>
            <a:spLocks noGrp="1"/>
          </p:cNvSpPr>
          <p:nvPr>
            <p:ph type="body" idx="1"/>
          </p:nvPr>
        </p:nvSpPr>
        <p:spPr>
          <a:xfrm>
            <a:off x="742950" y="1664774"/>
            <a:ext cx="8420100" cy="771832"/>
          </a:xfrm>
        </p:spPr>
        <p:txBody>
          <a:bodyPr anchor="t"/>
          <a:lstStyle/>
          <a:p>
            <a:r>
              <a:rPr lang="en-US" dirty="0"/>
              <a:t>Q2: In our naive Bank Account implementation, why did we violate the Open-Closed Principle (OCP)?</a:t>
            </a:r>
          </a:p>
        </p:txBody>
      </p:sp>
      <p:sp>
        <p:nvSpPr>
          <p:cNvPr id="6" name="Text Placeholder 2">
            <a:extLst>
              <a:ext uri="{FF2B5EF4-FFF2-40B4-BE49-F238E27FC236}">
                <a16:creationId xmlns:a16="http://schemas.microsoft.com/office/drawing/2014/main" id="{0BF507F2-66BD-4776-A0AD-843426FE54FF}"/>
              </a:ext>
            </a:extLst>
          </p:cNvPr>
          <p:cNvSpPr txBox="1">
            <a:spLocks/>
          </p:cNvSpPr>
          <p:nvPr/>
        </p:nvSpPr>
        <p:spPr bwMode="auto">
          <a:xfrm>
            <a:off x="742950" y="2651587"/>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Because the </a:t>
            </a:r>
            <a:r>
              <a:rPr lang="en-US" dirty="0" err="1"/>
              <a:t>BankAccount</a:t>
            </a:r>
            <a:r>
              <a:rPr lang="en-US" dirty="0"/>
              <a:t> class was too small to hold the logic.</a:t>
            </a:r>
          </a:p>
          <a:p>
            <a:r>
              <a:rPr lang="en-US" dirty="0"/>
              <a:t>B. Because adding a new service required modifying the existing code of </a:t>
            </a:r>
            <a:r>
              <a:rPr lang="en-US" dirty="0" err="1"/>
              <a:t>BankAccount</a:t>
            </a:r>
            <a:r>
              <a:rPr lang="en-US" dirty="0"/>
              <a:t>.</a:t>
            </a:r>
          </a:p>
          <a:p>
            <a:r>
              <a:rPr lang="en-US" dirty="0"/>
              <a:t>C. Because we used C++ smart pointers instead of raw pointers.</a:t>
            </a:r>
          </a:p>
          <a:p>
            <a:r>
              <a:rPr lang="en-US" dirty="0"/>
              <a:t>D. Because the deposit() function was private.</a:t>
            </a:r>
          </a:p>
        </p:txBody>
      </p:sp>
    </p:spTree>
    <p:extLst>
      <p:ext uri="{BB962C8B-B14F-4D97-AF65-F5344CB8AC3E}">
        <p14:creationId xmlns:p14="http://schemas.microsoft.com/office/powerpoint/2010/main" val="2165480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07A4-F7EB-FA74-BC46-9BA9D58ED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4DCB7-A301-DB31-92C2-19496B5CF88C}"/>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A86FFCB3-CBF1-5C06-F904-948292F6FD81}"/>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E70FDD29-61F0-947A-02D3-414E98F4EF18}"/>
              </a:ext>
            </a:extLst>
          </p:cNvPr>
          <p:cNvSpPr>
            <a:spLocks noGrp="1"/>
          </p:cNvSpPr>
          <p:nvPr>
            <p:ph type="body" idx="1"/>
          </p:nvPr>
        </p:nvSpPr>
        <p:spPr>
          <a:xfrm>
            <a:off x="742950" y="1664774"/>
            <a:ext cx="8420100" cy="771832"/>
          </a:xfrm>
        </p:spPr>
        <p:txBody>
          <a:bodyPr anchor="t"/>
          <a:lstStyle/>
          <a:p>
            <a:r>
              <a:rPr lang="en-US" dirty="0"/>
              <a:t>Q2: In our naive Bank Account implementation, why did we violate the Open-Closed Principle (OCP)?</a:t>
            </a:r>
          </a:p>
        </p:txBody>
      </p:sp>
      <p:sp>
        <p:nvSpPr>
          <p:cNvPr id="6" name="Text Placeholder 2">
            <a:extLst>
              <a:ext uri="{FF2B5EF4-FFF2-40B4-BE49-F238E27FC236}">
                <a16:creationId xmlns:a16="http://schemas.microsoft.com/office/drawing/2014/main" id="{D8D87503-1D6A-99BE-3E8B-21A9BC64D302}"/>
              </a:ext>
            </a:extLst>
          </p:cNvPr>
          <p:cNvSpPr txBox="1">
            <a:spLocks/>
          </p:cNvSpPr>
          <p:nvPr/>
        </p:nvSpPr>
        <p:spPr bwMode="auto">
          <a:xfrm>
            <a:off x="742950" y="2651587"/>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Because the </a:t>
            </a:r>
            <a:r>
              <a:rPr lang="en-US" dirty="0" err="1"/>
              <a:t>BankAccount</a:t>
            </a:r>
            <a:r>
              <a:rPr lang="en-US" dirty="0"/>
              <a:t> class was too small to hold the logic.</a:t>
            </a:r>
          </a:p>
          <a:p>
            <a:r>
              <a:rPr lang="en-US" b="1" dirty="0"/>
              <a:t>B. Because adding a new service required modifying the existing code of </a:t>
            </a:r>
            <a:r>
              <a:rPr lang="en-US" b="1" dirty="0" err="1"/>
              <a:t>BankAccount</a:t>
            </a:r>
            <a:r>
              <a:rPr lang="en-US" b="1" dirty="0"/>
              <a:t>.</a:t>
            </a:r>
          </a:p>
          <a:p>
            <a:r>
              <a:rPr lang="en-US" dirty="0"/>
              <a:t>C. Because we used C++ smart pointers instead of raw pointers.</a:t>
            </a:r>
          </a:p>
          <a:p>
            <a:r>
              <a:rPr lang="en-US" dirty="0"/>
              <a:t>D. Because the deposit() function was private.</a:t>
            </a:r>
          </a:p>
        </p:txBody>
      </p:sp>
    </p:spTree>
    <p:extLst>
      <p:ext uri="{BB962C8B-B14F-4D97-AF65-F5344CB8AC3E}">
        <p14:creationId xmlns:p14="http://schemas.microsoft.com/office/powerpoint/2010/main" val="3581574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B7B53-063D-B9DF-AB2C-4B6DA8178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C2D55-C1F3-4531-4D6F-14709845B03B}"/>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4432A460-8972-E98D-88A5-078D80CEB740}"/>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9A214B9F-3DD6-310E-B40F-A4E19B28E3E2}"/>
              </a:ext>
            </a:extLst>
          </p:cNvPr>
          <p:cNvSpPr>
            <a:spLocks noGrp="1"/>
          </p:cNvSpPr>
          <p:nvPr>
            <p:ph type="body" idx="1"/>
          </p:nvPr>
        </p:nvSpPr>
        <p:spPr>
          <a:xfrm>
            <a:off x="742950" y="1664773"/>
            <a:ext cx="8420100" cy="986813"/>
          </a:xfrm>
        </p:spPr>
        <p:txBody>
          <a:bodyPr anchor="t"/>
          <a:lstStyle/>
          <a:p>
            <a:r>
              <a:rPr lang="en-US" dirty="0"/>
              <a:t>Q3: Imagine a temporary UI window (observer) is deleted in C++ but forgets to call detach() or unsubscribe() on the </a:t>
            </a:r>
            <a:r>
              <a:rPr lang="en-US" dirty="0" err="1"/>
              <a:t>BankAccount</a:t>
            </a:r>
            <a:r>
              <a:rPr lang="en-US" dirty="0"/>
              <a:t>. What is the likely runtime result of the next deposit?</a:t>
            </a:r>
          </a:p>
        </p:txBody>
      </p:sp>
      <p:sp>
        <p:nvSpPr>
          <p:cNvPr id="6" name="Text Placeholder 2">
            <a:extLst>
              <a:ext uri="{FF2B5EF4-FFF2-40B4-BE49-F238E27FC236}">
                <a16:creationId xmlns:a16="http://schemas.microsoft.com/office/drawing/2014/main" id="{B6216B58-A0DC-173C-DF82-CBC4C04E1C30}"/>
              </a:ext>
            </a:extLst>
          </p:cNvPr>
          <p:cNvSpPr txBox="1">
            <a:spLocks/>
          </p:cNvSpPr>
          <p:nvPr/>
        </p:nvSpPr>
        <p:spPr bwMode="auto">
          <a:xfrm>
            <a:off x="742950" y="2987445"/>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The compiler will fail with a syntax error.</a:t>
            </a:r>
          </a:p>
          <a:p>
            <a:r>
              <a:rPr lang="en-US" dirty="0"/>
              <a:t>B. The program will run faster because there's one less service.</a:t>
            </a:r>
          </a:p>
          <a:p>
            <a:r>
              <a:rPr lang="en-US" dirty="0"/>
              <a:t>C. The program will crash or experience undefined behavior (dangling pointer).</a:t>
            </a:r>
          </a:p>
          <a:p>
            <a:r>
              <a:rPr lang="en-US" dirty="0"/>
              <a:t>D. The bank account will automatically recreate the UI window.</a:t>
            </a:r>
          </a:p>
        </p:txBody>
      </p:sp>
    </p:spTree>
    <p:extLst>
      <p:ext uri="{BB962C8B-B14F-4D97-AF65-F5344CB8AC3E}">
        <p14:creationId xmlns:p14="http://schemas.microsoft.com/office/powerpoint/2010/main" val="1932430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17A8-F09B-7CC0-3321-58F469E5A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1C6D3-4946-A09C-9DF5-4C515EB5E413}"/>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FA9D0720-2EF4-FDCF-B236-F7D00801C0E9}"/>
              </a:ext>
            </a:extLst>
          </p:cNvPr>
          <p:cNvSpPr>
            <a:spLocks noGrp="1"/>
          </p:cNvSpPr>
          <p:nvPr>
            <p:ph type="ftr" sz="quarter" idx="10"/>
          </p:nvPr>
        </p:nvSpPr>
        <p:spPr/>
        <p:txBody>
          <a:bodyPr/>
          <a:lstStyle/>
          <a:p>
            <a:pPr>
              <a:defRPr/>
            </a:pPr>
            <a:r>
              <a:rPr lang="en-GB" dirty="0"/>
              <a:t>Copyright © University of Science, VNUHCM - APCS 2023</a:t>
            </a:r>
          </a:p>
        </p:txBody>
      </p:sp>
      <p:sp>
        <p:nvSpPr>
          <p:cNvPr id="11" name="Text Placeholder 2">
            <a:extLst>
              <a:ext uri="{FF2B5EF4-FFF2-40B4-BE49-F238E27FC236}">
                <a16:creationId xmlns:a16="http://schemas.microsoft.com/office/drawing/2014/main" id="{E75744DB-55BC-1B8B-34F8-5CF81AAC0F2D}"/>
              </a:ext>
            </a:extLst>
          </p:cNvPr>
          <p:cNvSpPr>
            <a:spLocks noGrp="1"/>
          </p:cNvSpPr>
          <p:nvPr>
            <p:ph type="body" idx="1"/>
          </p:nvPr>
        </p:nvSpPr>
        <p:spPr>
          <a:xfrm>
            <a:off x="742950" y="1664773"/>
            <a:ext cx="8420100" cy="986813"/>
          </a:xfrm>
        </p:spPr>
        <p:txBody>
          <a:bodyPr anchor="t"/>
          <a:lstStyle/>
          <a:p>
            <a:r>
              <a:rPr lang="en-US" dirty="0"/>
              <a:t>Q3: Imagine a temporary UI window (observer) is deleted in C++ but forgets to call detach() or unsubscribe() on the </a:t>
            </a:r>
            <a:r>
              <a:rPr lang="en-US" dirty="0" err="1"/>
              <a:t>BankAccount</a:t>
            </a:r>
            <a:r>
              <a:rPr lang="en-US" dirty="0"/>
              <a:t>. What is the likely runtime result of the next deposit?</a:t>
            </a:r>
          </a:p>
        </p:txBody>
      </p:sp>
      <p:sp>
        <p:nvSpPr>
          <p:cNvPr id="6" name="Text Placeholder 2">
            <a:extLst>
              <a:ext uri="{FF2B5EF4-FFF2-40B4-BE49-F238E27FC236}">
                <a16:creationId xmlns:a16="http://schemas.microsoft.com/office/drawing/2014/main" id="{B30E7F69-919D-A4F3-409E-5EDAAB1B5F39}"/>
              </a:ext>
            </a:extLst>
          </p:cNvPr>
          <p:cNvSpPr txBox="1">
            <a:spLocks/>
          </p:cNvSpPr>
          <p:nvPr/>
        </p:nvSpPr>
        <p:spPr bwMode="auto">
          <a:xfrm>
            <a:off x="742950" y="2987445"/>
            <a:ext cx="8420100" cy="15861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The compiler will fail with a syntax error.</a:t>
            </a:r>
          </a:p>
          <a:p>
            <a:r>
              <a:rPr lang="en-US" dirty="0"/>
              <a:t>B. The program will run faster because there's one less service.</a:t>
            </a:r>
          </a:p>
          <a:p>
            <a:r>
              <a:rPr lang="en-US" b="1" dirty="0"/>
              <a:t>C. The program will crash or experience undefined behavior (dangling pointer).</a:t>
            </a:r>
          </a:p>
          <a:p>
            <a:r>
              <a:rPr lang="en-US" dirty="0"/>
              <a:t>D. The bank account will automatically recreate the UI window.</a:t>
            </a:r>
          </a:p>
        </p:txBody>
      </p:sp>
    </p:spTree>
    <p:extLst>
      <p:ext uri="{BB962C8B-B14F-4D97-AF65-F5344CB8AC3E}">
        <p14:creationId xmlns:p14="http://schemas.microsoft.com/office/powerpoint/2010/main" val="4032613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AAA6E-A54B-9505-211B-61E810903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D265B-172C-2AE8-0E9A-5160B8E011B7}"/>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8D44593E-E242-16EC-9E24-155BCEDE93DA}"/>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0324DED9-B60D-7C2A-5F74-291F405F8842}"/>
              </a:ext>
            </a:extLst>
          </p:cNvPr>
          <p:cNvSpPr>
            <a:spLocks noGrp="1"/>
          </p:cNvSpPr>
          <p:nvPr>
            <p:ph type="body" idx="1"/>
          </p:nvPr>
        </p:nvSpPr>
        <p:spPr>
          <a:xfrm>
            <a:off x="742950" y="1664773"/>
            <a:ext cx="8420100" cy="986813"/>
          </a:xfrm>
        </p:spPr>
        <p:txBody>
          <a:bodyPr anchor="t"/>
          <a:lstStyle/>
          <a:p>
            <a:r>
              <a:rPr lang="en-US" dirty="0"/>
              <a:t>Q4: If you are building a system where observers must be notified in a </a:t>
            </a:r>
            <a:r>
              <a:rPr lang="en-US" b="1" dirty="0"/>
              <a:t>strict, specific order</a:t>
            </a:r>
            <a:r>
              <a:rPr lang="en-US" dirty="0"/>
              <a:t> (e.g., Security Logger must run </a:t>
            </a:r>
            <a:r>
              <a:rPr lang="en-US" i="1" dirty="0"/>
              <a:t>before</a:t>
            </a:r>
            <a:r>
              <a:rPr lang="en-US" dirty="0"/>
              <a:t> UI Updates), is the standard Observer Pattern a good choice?</a:t>
            </a:r>
          </a:p>
        </p:txBody>
      </p:sp>
      <p:sp>
        <p:nvSpPr>
          <p:cNvPr id="6" name="Text Placeholder 2">
            <a:extLst>
              <a:ext uri="{FF2B5EF4-FFF2-40B4-BE49-F238E27FC236}">
                <a16:creationId xmlns:a16="http://schemas.microsoft.com/office/drawing/2014/main" id="{ACFACA36-82E8-3C0B-EA6D-4BA3995B7A68}"/>
              </a:ext>
            </a:extLst>
          </p:cNvPr>
          <p:cNvSpPr txBox="1">
            <a:spLocks/>
          </p:cNvSpPr>
          <p:nvPr/>
        </p:nvSpPr>
        <p:spPr bwMode="auto">
          <a:xfrm>
            <a:off x="742950" y="2987445"/>
            <a:ext cx="8420100" cy="21499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Yes, because the standard Observer pattern guarantees alphabetical notification order.</a:t>
            </a:r>
          </a:p>
          <a:p>
            <a:r>
              <a:rPr lang="en-US" dirty="0"/>
              <a:t>B. Yes, because observers are always notified in the exact order they subscribed.</a:t>
            </a:r>
          </a:p>
          <a:p>
            <a:r>
              <a:rPr lang="en-US" dirty="0"/>
              <a:t>C. No, because the Observer pattern is only meant for web browsers.</a:t>
            </a:r>
          </a:p>
          <a:p>
            <a:r>
              <a:rPr lang="en-US" dirty="0"/>
              <a:t>D. No, because the standard Observer pattern makes no assumptions about notification order, and enforcing it violates loose coupling.</a:t>
            </a:r>
          </a:p>
          <a:p>
            <a:endParaRPr lang="en-US" dirty="0"/>
          </a:p>
        </p:txBody>
      </p:sp>
    </p:spTree>
    <p:extLst>
      <p:ext uri="{BB962C8B-B14F-4D97-AF65-F5344CB8AC3E}">
        <p14:creationId xmlns:p14="http://schemas.microsoft.com/office/powerpoint/2010/main" val="2308114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7B8E-EF14-2B4C-1D53-F3F269B58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F1FB7-0E3C-25CC-82E9-1856B3C2109C}"/>
              </a:ext>
            </a:extLst>
          </p:cNvPr>
          <p:cNvSpPr>
            <a:spLocks noGrp="1"/>
          </p:cNvSpPr>
          <p:nvPr>
            <p:ph type="title"/>
          </p:nvPr>
        </p:nvSpPr>
        <p:spPr>
          <a:xfrm>
            <a:off x="742950" y="802688"/>
            <a:ext cx="8420100" cy="691815"/>
          </a:xfrm>
        </p:spPr>
        <p:txBody>
          <a:bodyPr/>
          <a:lstStyle/>
          <a:p>
            <a:r>
              <a:rPr lang="en-US" cap="none" dirty="0"/>
              <a:t>Quiz</a:t>
            </a:r>
          </a:p>
        </p:txBody>
      </p:sp>
      <p:sp>
        <p:nvSpPr>
          <p:cNvPr id="4" name="Footer Placeholder 3">
            <a:extLst>
              <a:ext uri="{FF2B5EF4-FFF2-40B4-BE49-F238E27FC236}">
                <a16:creationId xmlns:a16="http://schemas.microsoft.com/office/drawing/2014/main" id="{C2BF488E-877F-40CF-1FF9-E87293D83473}"/>
              </a:ext>
            </a:extLst>
          </p:cNvPr>
          <p:cNvSpPr>
            <a:spLocks noGrp="1"/>
          </p:cNvSpPr>
          <p:nvPr>
            <p:ph type="ftr" sz="quarter" idx="10"/>
          </p:nvPr>
        </p:nvSpPr>
        <p:spPr/>
        <p:txBody>
          <a:bodyPr/>
          <a:lstStyle/>
          <a:p>
            <a:pPr>
              <a:defRPr/>
            </a:pPr>
            <a:r>
              <a:rPr lang="en-GB"/>
              <a:t>Copyright © University of Science, VNUHCM - APCS 2023</a:t>
            </a:r>
          </a:p>
        </p:txBody>
      </p:sp>
      <p:sp>
        <p:nvSpPr>
          <p:cNvPr id="11" name="Text Placeholder 2">
            <a:extLst>
              <a:ext uri="{FF2B5EF4-FFF2-40B4-BE49-F238E27FC236}">
                <a16:creationId xmlns:a16="http://schemas.microsoft.com/office/drawing/2014/main" id="{41D33D97-CC31-6840-2D3D-ECD4DC1A520A}"/>
              </a:ext>
            </a:extLst>
          </p:cNvPr>
          <p:cNvSpPr>
            <a:spLocks noGrp="1"/>
          </p:cNvSpPr>
          <p:nvPr>
            <p:ph type="body" idx="1"/>
          </p:nvPr>
        </p:nvSpPr>
        <p:spPr>
          <a:xfrm>
            <a:off x="742950" y="1664773"/>
            <a:ext cx="8420100" cy="986813"/>
          </a:xfrm>
        </p:spPr>
        <p:txBody>
          <a:bodyPr anchor="t"/>
          <a:lstStyle/>
          <a:p>
            <a:r>
              <a:rPr lang="en-US" dirty="0"/>
              <a:t>Q4: If you are building a system where observers must be notified in a </a:t>
            </a:r>
            <a:r>
              <a:rPr lang="en-US" b="1" dirty="0"/>
              <a:t>strict, specific order</a:t>
            </a:r>
            <a:r>
              <a:rPr lang="en-US" dirty="0"/>
              <a:t> (e.g., Security Logger must run </a:t>
            </a:r>
            <a:r>
              <a:rPr lang="en-US" i="1" dirty="0"/>
              <a:t>before</a:t>
            </a:r>
            <a:r>
              <a:rPr lang="en-US" dirty="0"/>
              <a:t> UI Updates), is the standard Observer Pattern a good choice?</a:t>
            </a:r>
          </a:p>
        </p:txBody>
      </p:sp>
      <p:sp>
        <p:nvSpPr>
          <p:cNvPr id="6" name="Text Placeholder 2">
            <a:extLst>
              <a:ext uri="{FF2B5EF4-FFF2-40B4-BE49-F238E27FC236}">
                <a16:creationId xmlns:a16="http://schemas.microsoft.com/office/drawing/2014/main" id="{127159D5-6FA9-FF5F-0499-49741D354408}"/>
              </a:ext>
            </a:extLst>
          </p:cNvPr>
          <p:cNvSpPr txBox="1">
            <a:spLocks/>
          </p:cNvSpPr>
          <p:nvPr/>
        </p:nvSpPr>
        <p:spPr bwMode="auto">
          <a:xfrm>
            <a:off x="742950" y="2987445"/>
            <a:ext cx="8420100" cy="21499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None/>
              <a:defRPr sz="2000">
                <a:solidFill>
                  <a:schemeClr val="tx1"/>
                </a:solidFill>
                <a:latin typeface="+mn-lt"/>
                <a:ea typeface="+mn-ea"/>
                <a:cs typeface="+mn-cs"/>
              </a:defRPr>
            </a:lvl1pPr>
            <a:lvl2pPr marL="457200" indent="0" algn="l" rtl="0" eaLnBrk="0" fontAlgn="base" hangingPunct="0">
              <a:spcBef>
                <a:spcPct val="20000"/>
              </a:spcBef>
              <a:spcAft>
                <a:spcPct val="0"/>
              </a:spcAft>
              <a:buNone/>
              <a:defRPr sz="1800">
                <a:solidFill>
                  <a:schemeClr val="tx1"/>
                </a:solidFill>
                <a:latin typeface="+mn-lt"/>
                <a:ea typeface="+mn-ea"/>
              </a:defRPr>
            </a:lvl2pPr>
            <a:lvl3pPr marL="914400" indent="0" algn="l" rtl="0" eaLnBrk="0" fontAlgn="base" hangingPunct="0">
              <a:spcBef>
                <a:spcPct val="20000"/>
              </a:spcBef>
              <a:spcAft>
                <a:spcPct val="0"/>
              </a:spcAft>
              <a:buNone/>
              <a:defRPr sz="1600">
                <a:solidFill>
                  <a:schemeClr val="tx1"/>
                </a:solidFill>
                <a:latin typeface="+mn-lt"/>
                <a:ea typeface="+mn-ea"/>
              </a:defRPr>
            </a:lvl3pPr>
            <a:lvl4pPr marL="1371600" indent="0" algn="l" rtl="0" eaLnBrk="0" fontAlgn="base" hangingPunct="0">
              <a:spcBef>
                <a:spcPct val="20000"/>
              </a:spcBef>
              <a:spcAft>
                <a:spcPct val="0"/>
              </a:spcAft>
              <a:buNone/>
              <a:defRPr sz="1400">
                <a:solidFill>
                  <a:schemeClr val="tx1"/>
                </a:solidFill>
                <a:latin typeface="+mn-lt"/>
                <a:ea typeface="+mn-ea"/>
              </a:defRPr>
            </a:lvl4pPr>
            <a:lvl5pPr marL="1828800" indent="0" algn="l" rtl="0" eaLnBrk="0" fontAlgn="base" hangingPunct="0">
              <a:spcBef>
                <a:spcPct val="20000"/>
              </a:spcBef>
              <a:spcAft>
                <a:spcPct val="0"/>
              </a:spcAft>
              <a:buNone/>
              <a:defRPr sz="1400">
                <a:solidFill>
                  <a:schemeClr val="tx1"/>
                </a:solidFill>
                <a:latin typeface="+mn-lt"/>
                <a:ea typeface="+mn-ea"/>
              </a:defRPr>
            </a:lvl5pPr>
            <a:lvl6pPr marL="2286000" indent="0" algn="l" rtl="0" fontAlgn="base">
              <a:spcBef>
                <a:spcPct val="20000"/>
              </a:spcBef>
              <a:spcAft>
                <a:spcPct val="0"/>
              </a:spcAft>
              <a:buNone/>
              <a:defRPr sz="1400">
                <a:solidFill>
                  <a:schemeClr val="tx1"/>
                </a:solidFill>
                <a:latin typeface="+mn-lt"/>
                <a:ea typeface="+mn-ea"/>
              </a:defRPr>
            </a:lvl6pPr>
            <a:lvl7pPr marL="2743200" indent="0" algn="l" rtl="0" fontAlgn="base">
              <a:spcBef>
                <a:spcPct val="20000"/>
              </a:spcBef>
              <a:spcAft>
                <a:spcPct val="0"/>
              </a:spcAft>
              <a:buNone/>
              <a:defRPr sz="1400">
                <a:solidFill>
                  <a:schemeClr val="tx1"/>
                </a:solidFill>
                <a:latin typeface="+mn-lt"/>
                <a:ea typeface="+mn-ea"/>
              </a:defRPr>
            </a:lvl7pPr>
            <a:lvl8pPr marL="3200400" indent="0" algn="l" rtl="0" fontAlgn="base">
              <a:spcBef>
                <a:spcPct val="20000"/>
              </a:spcBef>
              <a:spcAft>
                <a:spcPct val="0"/>
              </a:spcAft>
              <a:buNone/>
              <a:defRPr sz="1400">
                <a:solidFill>
                  <a:schemeClr val="tx1"/>
                </a:solidFill>
                <a:latin typeface="+mn-lt"/>
                <a:ea typeface="+mn-ea"/>
              </a:defRPr>
            </a:lvl8pPr>
            <a:lvl9pPr marL="3657600" indent="0" algn="l" rtl="0" fontAlgn="base">
              <a:spcBef>
                <a:spcPct val="20000"/>
              </a:spcBef>
              <a:spcAft>
                <a:spcPct val="0"/>
              </a:spcAft>
              <a:buNone/>
              <a:defRPr sz="1400">
                <a:solidFill>
                  <a:schemeClr val="tx1"/>
                </a:solidFill>
                <a:latin typeface="+mn-lt"/>
                <a:ea typeface="+mn-ea"/>
              </a:defRPr>
            </a:lvl9pPr>
          </a:lstStyle>
          <a:p>
            <a:r>
              <a:rPr lang="en-US" dirty="0"/>
              <a:t>A. Yes, because the standard Observer pattern guarantees alphabetical notification order.</a:t>
            </a:r>
          </a:p>
          <a:p>
            <a:r>
              <a:rPr lang="en-US" dirty="0"/>
              <a:t>B. Yes, because observers are always notified in the exact order they subscribed.</a:t>
            </a:r>
          </a:p>
          <a:p>
            <a:r>
              <a:rPr lang="en-US" dirty="0"/>
              <a:t>C. No, because the Observer pattern is only meant for web browsers.</a:t>
            </a:r>
          </a:p>
          <a:p>
            <a:r>
              <a:rPr lang="en-US" b="1" dirty="0"/>
              <a:t>D. No, because the standard Observer pattern makes no assumptions about notification order, and enforcing it violates loose coupling.</a:t>
            </a:r>
          </a:p>
          <a:p>
            <a:endParaRPr lang="en-US" dirty="0"/>
          </a:p>
        </p:txBody>
      </p:sp>
    </p:spTree>
    <p:extLst>
      <p:ext uri="{BB962C8B-B14F-4D97-AF65-F5344CB8AC3E}">
        <p14:creationId xmlns:p14="http://schemas.microsoft.com/office/powerpoint/2010/main" val="1175634714"/>
      </p:ext>
    </p:extLst>
  </p:cSld>
  <p:clrMapOvr>
    <a:masterClrMapping/>
  </p:clrMapOvr>
</p:sld>
</file>

<file path=ppt/theme/theme1.xml><?xml version="1.0" encoding="utf-8"?>
<a:theme xmlns:a="http://schemas.openxmlformats.org/drawingml/2006/main" name="JVN2011">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Tx/>
          <a:buSzTx/>
          <a:buFontTx/>
          <a:buNone/>
          <a:tabLst/>
          <a:defRPr kumimoji="0" lang="en-US" sz="1200" b="0" i="0" u="none" strike="noStrike" cap="none" normalizeH="0" baseline="0">
            <a:ln>
              <a:noFill/>
            </a:ln>
            <a:solidFill>
              <a:schemeClr val="bg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Tx/>
          <a:buSzTx/>
          <a:buFontTx/>
          <a:buNone/>
          <a:tabLst/>
          <a:defRPr kumimoji="0" lang="en-US" sz="1200" b="0" i="0" u="none" strike="noStrike" cap="none" normalizeH="0" baseline="0">
            <a:ln>
              <a:noFill/>
            </a:ln>
            <a:solidFill>
              <a:schemeClr val="bg1"/>
            </a:solidFill>
            <a:effectLst/>
            <a:latin typeface="Arial" charset="0"/>
            <a:ea typeface="ＭＳ Ｐゴシック" charset="-128"/>
            <a:cs typeface="ＭＳ Ｐゴシック"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JVN2011.potx</Template>
  <TotalTime>1742</TotalTime>
  <Words>1562</Words>
  <Application>Microsoft Office PowerPoint</Application>
  <PresentationFormat>A4 Paper (210x297 mm)</PresentationFormat>
  <Paragraphs>137</Paragraphs>
  <Slides>30</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JVN2011</vt:lpstr>
      <vt:lpstr>CS202 – Observer pattern</vt:lpstr>
      <vt:lpstr>Agenda</vt:lpstr>
      <vt:lpstr>Real-world problem</vt:lpstr>
      <vt:lpstr>Naïve solution</vt:lpstr>
      <vt:lpstr>Naïve solution - Drawback</vt:lpstr>
      <vt:lpstr>PowerPoint Presentation</vt:lpstr>
      <vt:lpstr>Observer Design Pattern - Intuition</vt:lpstr>
      <vt:lpstr>General Class Diagram</vt:lpstr>
      <vt:lpstr>PowerPoint Presentation</vt:lpstr>
      <vt:lpstr>Bank Account Example</vt:lpstr>
      <vt:lpstr>PowerPoint Presentation</vt:lpstr>
      <vt:lpstr>Observer-Mediator Fusion</vt:lpstr>
      <vt:lpstr>PowerPoint Presentation</vt:lpstr>
      <vt:lpstr>PowerPoint Presentation</vt:lpstr>
      <vt:lpstr>Implementation &amp; Demo</vt:lpstr>
      <vt:lpstr>PowerPoint Presentation</vt:lpstr>
      <vt:lpstr>PowerPoint Presentation</vt:lpstr>
      <vt:lpstr>Relationship with Interpreter design pattern</vt:lpstr>
      <vt:lpstr>Usage with Interpreter</vt:lpstr>
      <vt:lpstr>PowerPoint Presentation</vt:lpstr>
      <vt:lpstr>Pros &amp; Cons</vt:lpstr>
      <vt:lpstr>Quiz</vt:lpstr>
      <vt:lpstr>Quiz</vt:lpstr>
      <vt:lpstr>Quiz</vt:lpstr>
      <vt:lpstr>Quiz</vt:lpstr>
      <vt:lpstr>Quiz</vt:lpstr>
      <vt:lpstr>Quiz</vt:lpstr>
      <vt:lpstr>Quiz</vt:lpstr>
      <vt:lpstr>Quiz</vt:lpstr>
      <vt:lpstr>Quiz</vt:lpstr>
    </vt:vector>
  </TitlesOfParts>
  <Company>Eurocontrol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Research Method: Techniques, Models and Practices Part V: Introduction to Modeling &amp; Simulation</dc:title>
  <dc:creator>Duong</dc:creator>
  <cp:lastModifiedBy>TRẦN GIA HUY</cp:lastModifiedBy>
  <cp:revision>39</cp:revision>
  <cp:lastPrinted>2014-03-26T02:31:46Z</cp:lastPrinted>
  <dcterms:created xsi:type="dcterms:W3CDTF">2011-07-26T02:02:50Z</dcterms:created>
  <dcterms:modified xsi:type="dcterms:W3CDTF">2026-07-20T04:06:24Z</dcterms:modified>
</cp:coreProperties>
</file>